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9fef8911f44606" /><Relationship Type="http://schemas.openxmlformats.org/officeDocument/2006/relationships/extended-properties" Target="/docProps/app.xml" Id="Raa265bcce0d7445d" /><Relationship Type="http://schemas.openxmlformats.org/officeDocument/2006/relationships/officeDocument" Target="/ppt/presentation.xml" Id="R55ed2a1a8a064e73" /></Relationships>
</file>

<file path=ppt/presentation.xml><?xml version="1.0" encoding="utf-8"?>
<p:presentation xmlns:p="http://schemas.openxmlformats.org/presentationml/2006/main">
  <p:sldMasterIdLst>
    <p:sldMasterId xmlns:r="http://schemas.openxmlformats.org/officeDocument/2006/relationships" id="2147483648" r:id="Rb4226f05b1844144"/>
  </p:sldMasterIdLst>
  <p:notesMasterIdLst>
    <p:notesMasterId xmlns:r="http://schemas.openxmlformats.org/officeDocument/2006/relationships" r:id="Rbc0e3c081a9b4021"/>
  </p:notesMasterIdLst>
  <p:sldIdLst>
    <p:sldId xmlns:r="http://schemas.openxmlformats.org/officeDocument/2006/relationships" id="256" r:id="Rc4cc1f3e43424b7d"/>
    <p:sldId xmlns:r="http://schemas.openxmlformats.org/officeDocument/2006/relationships" id="257" r:id="R57cd9dde1ef74a21"/>
    <p:sldId xmlns:r="http://schemas.openxmlformats.org/officeDocument/2006/relationships" id="258" r:id="Rff908626f32d4f81"/>
    <p:sldId xmlns:r="http://schemas.openxmlformats.org/officeDocument/2006/relationships" id="259" r:id="Rad03c37f1ad44d1b"/>
    <p:sldId xmlns:r="http://schemas.openxmlformats.org/officeDocument/2006/relationships" id="260" r:id="R4523dbf40fa34217"/>
    <p:sldId xmlns:r="http://schemas.openxmlformats.org/officeDocument/2006/relationships" id="261" r:id="R92281173ae6e4e3e"/>
    <p:sldId xmlns:r="http://schemas.openxmlformats.org/officeDocument/2006/relationships" id="262" r:id="R6da863f6d9e54b36"/>
    <p:sldId xmlns:r="http://schemas.openxmlformats.org/officeDocument/2006/relationships" id="263" r:id="Re1417ddda1324535"/>
    <p:sldId xmlns:r="http://schemas.openxmlformats.org/officeDocument/2006/relationships" id="264" r:id="Rd03bab0f7d214ae7"/>
    <p:sldId xmlns:r="http://schemas.openxmlformats.org/officeDocument/2006/relationships" id="265" r:id="R8ea84fc8309d4174"/>
    <p:sldId xmlns:r="http://schemas.openxmlformats.org/officeDocument/2006/relationships" id="266" r:id="Rd2199cdb225049c9"/>
    <p:sldId xmlns:r="http://schemas.openxmlformats.org/officeDocument/2006/relationships" id="267" r:id="Rcdbe58797e6949be"/>
    <p:sldId xmlns:r="http://schemas.openxmlformats.org/officeDocument/2006/relationships" id="268" r:id="Rb93b57556d194391"/>
    <p:sldId xmlns:r="http://schemas.openxmlformats.org/officeDocument/2006/relationships" id="269" r:id="R1e60bfc8b2b44a11"/>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2783a7c15c4363" /><Relationship Type="http://schemas.openxmlformats.org/officeDocument/2006/relationships/slideMaster" Target="/ppt/slideMasters/slideMaster1.xml" Id="Rb4226f05b1844144" /><Relationship Type="http://schemas.openxmlformats.org/officeDocument/2006/relationships/notesMaster" Target="/ppt/notesMasters/notesMaster1.xml" Id="Rbc0e3c081a9b4021" /><Relationship Type="http://schemas.openxmlformats.org/officeDocument/2006/relationships/presProps" Target="/ppt/presProps.xml" Id="Rf74ca1350930491c" /><Relationship Type="http://schemas.openxmlformats.org/officeDocument/2006/relationships/tableStyles" Target="/ppt/tableStyles.xml" Id="Raf245debbb8b4ec4" /><Relationship Type="http://schemas.openxmlformats.org/officeDocument/2006/relationships/slide" Target="/ppt/slides/slide1.xml" Id="Rc4cc1f3e43424b7d" /><Relationship Type="http://schemas.openxmlformats.org/officeDocument/2006/relationships/slide" Target="/ppt/slides/slide2.xml" Id="R57cd9dde1ef74a21" /><Relationship Type="http://schemas.openxmlformats.org/officeDocument/2006/relationships/slide" Target="/ppt/slides/slide3.xml" Id="Rff908626f32d4f81" /><Relationship Type="http://schemas.openxmlformats.org/officeDocument/2006/relationships/slide" Target="/ppt/slides/slide4.xml" Id="Rad03c37f1ad44d1b" /><Relationship Type="http://schemas.openxmlformats.org/officeDocument/2006/relationships/slide" Target="/ppt/slides/slide5.xml" Id="R4523dbf40fa34217" /><Relationship Type="http://schemas.openxmlformats.org/officeDocument/2006/relationships/slide" Target="/ppt/slides/slide6.xml" Id="R92281173ae6e4e3e" /><Relationship Type="http://schemas.openxmlformats.org/officeDocument/2006/relationships/slide" Target="/ppt/slides/slide7.xml" Id="R6da863f6d9e54b36" /><Relationship Type="http://schemas.openxmlformats.org/officeDocument/2006/relationships/slide" Target="/ppt/slides/slide8.xml" Id="Re1417ddda1324535" /><Relationship Type="http://schemas.openxmlformats.org/officeDocument/2006/relationships/slide" Target="/ppt/slides/slide9.xml" Id="Rd03bab0f7d214ae7" /><Relationship Type="http://schemas.openxmlformats.org/officeDocument/2006/relationships/slide" Target="/ppt/slides/slide10.xml" Id="R8ea84fc8309d4174" /><Relationship Type="http://schemas.openxmlformats.org/officeDocument/2006/relationships/slide" Target="/ppt/slides/slide11.xml" Id="Rd2199cdb225049c9" /><Relationship Type="http://schemas.openxmlformats.org/officeDocument/2006/relationships/slide" Target="/ppt/slides/slide12.xml" Id="Rcdbe58797e6949be" /><Relationship Type="http://schemas.openxmlformats.org/officeDocument/2006/relationships/slide" Target="/ppt/slides/slide13.xml" Id="Rb93b57556d194391" /><Relationship Type="http://schemas.openxmlformats.org/officeDocument/2006/relationships/slide" Target="/ppt/slides/slide14.xml" Id="R1e60bfc8b2b44a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ead786282f46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fa9cd503ad4c35" /><Relationship Type="http://schemas.openxmlformats.org/officeDocument/2006/relationships/notesMaster" Target="/ppt/notesMasters/notesMaster1.xml" Id="Refacb7071f7940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ed0febe2494fd1" /><Relationship Type="http://schemas.openxmlformats.org/officeDocument/2006/relationships/notesMaster" Target="/ppt/notesMasters/notesMaster1.xml" Id="Rcf50da685d7f4a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785838f81749e7" /><Relationship Type="http://schemas.openxmlformats.org/officeDocument/2006/relationships/notesMaster" Target="/ppt/notesMasters/notesMaster1.xml" Id="Ref28b9f93e2744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df0a33cea14bc9" /><Relationship Type="http://schemas.openxmlformats.org/officeDocument/2006/relationships/notesMaster" Target="/ppt/notesMasters/notesMaster1.xml" Id="R82bfd702ed154a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05fe8d508941e3" /><Relationship Type="http://schemas.openxmlformats.org/officeDocument/2006/relationships/notesMaster" Target="/ppt/notesMasters/notesMaster1.xml" Id="R5c2af7d7d85547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b692fa3a5a4acb" /><Relationship Type="http://schemas.openxmlformats.org/officeDocument/2006/relationships/notesMaster" Target="/ppt/notesMasters/notesMaster1.xml" Id="R86c073abfb9e4d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15e8f80d564f9f" /><Relationship Type="http://schemas.openxmlformats.org/officeDocument/2006/relationships/notesMaster" Target="/ppt/notesMasters/notesMaster1.xml" Id="R54b946e8d87740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38ffd00e514cef" /><Relationship Type="http://schemas.openxmlformats.org/officeDocument/2006/relationships/notesMaster" Target="/ppt/notesMasters/notesMaster1.xml" Id="R3be8b1178acd4f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e9e4e1ea0c447e1" /><Relationship Type="http://schemas.openxmlformats.org/officeDocument/2006/relationships/notesMaster" Target="/ppt/notesMasters/notesMaster1.xml" Id="R9e1890e3e5fb47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164002bc0440ba" /><Relationship Type="http://schemas.openxmlformats.org/officeDocument/2006/relationships/notesMaster" Target="/ppt/notesMasters/notesMaster1.xml" Id="Rd15300a1396749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70d91b152e41cc" /><Relationship Type="http://schemas.openxmlformats.org/officeDocument/2006/relationships/notesMaster" Target="/ppt/notesMasters/notesMaster1.xml" Id="R3f072733926d4a0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7fd94fb5f04120" /><Relationship Type="http://schemas.openxmlformats.org/officeDocument/2006/relationships/notesMaster" Target="/ppt/notesMasters/notesMaster1.xml" Id="R531e29c093d242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96a44762dd4f61" /><Relationship Type="http://schemas.openxmlformats.org/officeDocument/2006/relationships/notesMaster" Target="/ppt/notesMasters/notesMaster1.xml" Id="R9206a8a71d0d40d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6f6c806b60d47b8" /><Relationship Type="http://schemas.openxmlformats.org/officeDocument/2006/relationships/notesMaster" Target="/ppt/notesMasters/notesMaster1.xml" Id="R50cdf0b11df744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Technical script, scenes 1–2</a:t>
            </a:r>
          </a:p>
          <a:p xmlns:a="http://schemas.openxmlformats.org/drawingml/2006/main">
            <a:r>
              <a:t/>
            </a:r>
          </a:p>
          <a:p xmlns:a="http://schemas.openxmlformats.org/drawingml/2006/main">
            <a:r>
              <a:t>What if an AI could benefit from work someone else had already checked, while still knowing when that work does not apply?</a:t>
            </a:r>
          </a:p>
          <a:p xmlns:a="http://schemas.openxmlformats.org/drawingml/2006/main">
            <a:r>
              <a:t/>
            </a:r>
          </a:p>
          <a:p xmlns:a="http://schemas.openxmlformats.org/drawingml/2006/main">
            <a:r>
              <a:t>I'm Thomas Prislac. I'm developing Control Anchor, powered by Triadic Cognitive Systems. This is an invitation to computer-science departments, research software engineers, students and other collaborators to help build and test it.</a:t>
            </a:r>
          </a:p>
          <a:p xmlns:a="http://schemas.openxmlformats.org/drawingml/2006/main">
            <a:r>
              <a:t/>
            </a:r>
          </a:p>
          <a:p xmlns:a="http://schemas.openxmlformats.org/drawingml/2006/main">
            <a:r>
              <a:t>The question is practical. Can we reduce repeated effort while preserving the evidence, permissions and uncertainty that make a result worth using? A similar prompt is not necessarily the same problem. An answer that worked yesterday may be wrong under today's rules.</a:t>
            </a:r>
          </a:p>
          <a:p xmlns:a="http://schemas.openxmlformats.org/drawingml/2006/main">
            <a:r>
              <a:t/>
            </a:r>
          </a:p>
          <a:p xmlns:a="http://schemas.openxmlformats.org/drawingml/2006/main">
            <a:r>
              <a:t>That tension is the center of this project, and there are useful, bounded pieces a research group could take on.</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Technical script, scenes 3 and 5</a:t>
            </a:r>
          </a:p>
          <a:p xmlns:a="http://schemas.openxmlformats.org/drawingml/2006/main">
            <a:r>
              <a:t/>
            </a:r>
          </a:p>
          <a:p xmlns:a="http://schemas.openxmlformats.org/drawingml/2006/main">
            <a:r>
              <a:t>The triadic loop grounds and proposes, checks and challenges, then integrates and explains. Around that loop, each named role has a specific responsibility.</a:t>
            </a:r>
          </a:p>
          <a:p xmlns:a="http://schemas.openxmlformats.org/drawingml/2006/main">
            <a:r>
              <a:t/>
            </a:r>
          </a:p>
          <a:p xmlns:a="http://schemas.openxmlformats.org/drawingml/2006/main">
            <a:r>
              <a:t>Sonya connects the request, effective context and model response. AEGIS checks technical admission and permitted scope. The Universal Control Codex represents the selected rules, their sources and their effective versions.</a:t>
            </a:r>
          </a:p>
          <a:p xmlns:a="http://schemas.openxmlformats.org/drawingml/2006/main">
            <a:r>
              <a:t/>
            </a:r>
          </a:p>
          <a:p xmlns:a="http://schemas.openxmlformats.org/drawingml/2006/main">
            <a:r>
              <a:t>The CoherenceLattice relates claims to evidence, dependencies and competing explanations. An Analyst proposes an interpretation. Sophia and Challenge examine support, contradictions and missing information, keeping mechanical checks distinguishable from model judgment. Atlas explains what changed and what remains unresolved.</a:t>
            </a:r>
          </a:p>
          <a:p xmlns:a="http://schemas.openxmlformats.org/drawingml/2006/main">
            <a:r>
              <a:t/>
            </a:r>
          </a:p>
          <a:p xmlns:a="http://schemas.openxmlformats.org/drawingml/2006/main">
            <a:r>
              <a:t>These are functional roles. One model could perform eligible roles sequentially. Different models or bounded teams are options to evaluate. More agents are not automatically better, and generated text cannot grant itself permission.</a:t>
            </a:r>
          </a:p>
          <a:p xmlns:a="http://schemas.openxmlformats.org/drawingml/2006/main">
            <a:r>
              <a:t>Consider a synthetic purchase review. An invoice is twelve thousand dollars. The applicable approval ceiling is ten thousand. If the rule explicitly prohibits exceeding that ceiling, the comparison establishes an exception. If approval evidence is missing, that requirement is unresolved. Those are different results.</a:t>
            </a:r>
          </a:p>
          <a:p xmlns:a="http://schemas.openxmlformats.org/drawingml/2006/main">
            <a:r>
              <a:t/>
            </a:r>
          </a:p>
          <a:p xmlns:a="http://schemas.openxmlformats.org/drawingml/2006/main">
            <a:r>
              <a:t>A later amendment may resolve the exception, but only if its signer, scope, amount and effective date actually apply. The system should preserve the original assessment and explain the update.</a:t>
            </a:r>
          </a:p>
          <a:p xmlns:a="http://schemas.openxmlformats.org/drawingml/2006/main">
            <a:r>
              <a:t/>
            </a:r>
          </a:p>
          <a:p xmlns:a="http://schemas.openxmlformats.org/drawingml/2006/main">
            <a:r>
              <a:t>Even agreement between a model and a mechanical check can rest on the same incorrect extraction. A citation, a hash or agreement among roles does not establish truth. This is why the research must test consequential mistakes as well as attractive explanations.</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Technical script, scene 3</a:t>
            </a:r>
          </a:p>
          <a:p xmlns:a="http://schemas.openxmlformats.org/drawingml/2006/main">
            <a:r>
              <a:t/>
            </a:r>
          </a:p>
          <a:p xmlns:a="http://schemas.openxmlformats.org/drawingml/2006/main">
            <a:r>
              <a:t>The triadic loop grounds and proposes, checks and challenges, then integrates and explains. Around that loop, each named role has a specific responsibility.</a:t>
            </a:r>
          </a:p>
          <a:p xmlns:a="http://schemas.openxmlformats.org/drawingml/2006/main">
            <a:r>
              <a:t/>
            </a:r>
          </a:p>
          <a:p xmlns:a="http://schemas.openxmlformats.org/drawingml/2006/main">
            <a:r>
              <a:t>Sonya connects the request, effective context and model response. AEGIS checks technical admission and permitted scope. The Universal Control Codex represents the selected rules, their sources and their effective versions.</a:t>
            </a:r>
          </a:p>
          <a:p xmlns:a="http://schemas.openxmlformats.org/drawingml/2006/main">
            <a:r>
              <a:t/>
            </a:r>
          </a:p>
          <a:p xmlns:a="http://schemas.openxmlformats.org/drawingml/2006/main">
            <a:r>
              <a:t>The CoherenceLattice relates claims to evidence, dependencies and competing explanations. An Analyst proposes an interpretation. Sophia and Challenge examine support, contradictions and missing information, keeping mechanical checks distinguishable from model judgment. Atlas explains what changed and what remains unresolved.</a:t>
            </a:r>
          </a:p>
          <a:p xmlns:a="http://schemas.openxmlformats.org/drawingml/2006/main">
            <a:r>
              <a:t/>
            </a:r>
          </a:p>
          <a:p xmlns:a="http://schemas.openxmlformats.org/drawingml/2006/main">
            <a:r>
              <a:t>These are functional roles. One model could perform eligible roles sequentially. Different models or bounded teams are options to evaluate. More agents are not automatically better, and generated text cannot grant itself permission.</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Technical script, scene 4</a:t>
            </a:r>
          </a:p>
          <a:p xmlns:a="http://schemas.openxmlformats.org/drawingml/2006/main">
            <a:r>
              <a:t/>
            </a:r>
          </a:p>
          <a:p xmlns:a="http://schemas.openxmlformats.org/drawingml/2006/main">
            <a:r>
              <a:t>Custody preserves the actual attempts and evidence. The Thought-Exchange Layer connects performed stages and corrections; it is not a transcript of hidden model thoughts. PMR is the proposed governed memory and reuse layer, with retention and sharing separately controlled.</a:t>
            </a:r>
          </a:p>
          <a:p xmlns:a="http://schemas.openxmlformats.org/drawingml/2006/main">
            <a:r>
              <a:t/>
            </a:r>
          </a:p>
          <a:p xmlns:a="http://schemas.openxmlformats.org/drawingml/2006/main">
            <a:r>
              <a:t>The Telemetry Aperture Controller concerns purposeful, bounded observation. MORALware expresses a separately governed protective floor, not a moral score for people. Human review remains attributable, and a simulated reviewer must never be presented as a person.</a:t>
            </a:r>
          </a:p>
          <a:p xmlns:a="http://schemas.openxmlformats.org/drawingml/2006/main">
            <a:r>
              <a:t/>
            </a:r>
          </a:p>
          <a:p xmlns:a="http://schemas.openxmlformats.org/drawingml/2006/main">
            <a:r>
              <a:t>The point is continuity: a correction should explain why an earlier conclusion changed without erasing the earlier record. Optional memory should not quietly become training, publication or permission to share everything.</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Technical script, scene 4</a:t>
            </a:r>
          </a:p>
          <a:p xmlns:a="http://schemas.openxmlformats.org/drawingml/2006/main">
            <a:r>
              <a:t/>
            </a:r>
          </a:p>
          <a:p xmlns:a="http://schemas.openxmlformats.org/drawingml/2006/main">
            <a:r>
              <a:t>Custody preserves the actual attempts and evidence. The Thought-Exchange Layer connects performed stages and corrections; it is not a transcript of hidden model thoughts. PMR is the proposed governed memory and reuse layer, with retention and sharing separately controlled.</a:t>
            </a:r>
          </a:p>
          <a:p xmlns:a="http://schemas.openxmlformats.org/drawingml/2006/main">
            <a:r>
              <a:t/>
            </a:r>
          </a:p>
          <a:p xmlns:a="http://schemas.openxmlformats.org/drawingml/2006/main">
            <a:r>
              <a:t>The Telemetry Aperture Controller concerns purposeful, bounded observation. MORALware expresses a separately governed protective floor, not a moral score for people. Human review remains attributable, and a simulated reviewer must never be presented as a person.</a:t>
            </a:r>
          </a:p>
          <a:p xmlns:a="http://schemas.openxmlformats.org/drawingml/2006/main">
            <a:r>
              <a:t/>
            </a:r>
          </a:p>
          <a:p xmlns:a="http://schemas.openxmlformats.org/drawingml/2006/main">
            <a:r>
              <a:t>The point is continuity: a correction should explain why an earlier conclusion changed without erasing the earlier record. Optional memory should not quietly become training, publication or permission to share everything. AEGIS admission does not imply moral judgment or business approval. No role receives new authority from this diagram.</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Technical script, scene 6</a:t>
            </a:r>
          </a:p>
          <a:p xmlns:a="http://schemas.openxmlformats.org/drawingml/2006/main">
            <a:r>
              <a:t/>
            </a:r>
          </a:p>
          <a:p xmlns:a="http://schemas.openxmlformats.org/drawingml/2006/main">
            <a:r>
              <a:t>The proposed peer network extends this idea across locally controlled systems. A household could share selected resources. An organization could limit exchange to its members. A public community could contribute material explicitly cleared for that audience. These scopes can overlap without granting access to one another.</a:t>
            </a:r>
          </a:p>
          <a:p xmlns:a="http://schemas.openxmlformats.org/drawingml/2006/main">
            <a:r>
              <a:t/>
            </a:r>
          </a:p>
          <a:p xmlns:a="http://schemas.openxmlformats.org/drawingml/2006/main">
            <a:r>
              <a:t>A shared package would carry the reusable work, its assumptions, relevant source and control versions, checks, review origins and known limits. The recipient would decide whether it is permitted and applicable before using it.</a:t>
            </a:r>
          </a:p>
          <a:p xmlns:a="http://schemas.openxmlformats.org/drawingml/2006/main">
            <a:r>
              <a:t/>
            </a:r>
          </a:p>
          <a:p xmlns:a="http://schemas.openxmlformats.org/drawingml/2006/main">
            <a:r>
              <a:t>We do not need a central authority deciding every local task. But peer discovery, identity, revocation and connecting machines across the internet still require engineering. A directory or relay could help devices communicate without becoming the owner of their decisions. Lines show possible permitted exchanges, not a deployed topology or automatic trust. Start with invited peers rather than an all-to-all mesh.</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Technical script, scenes 6 and 8</a:t>
            </a:r>
          </a:p>
          <a:p xmlns:a="http://schemas.openxmlformats.org/drawingml/2006/main">
            <a:r>
              <a:t/>
            </a:r>
          </a:p>
          <a:p xmlns:a="http://schemas.openxmlformats.org/drawingml/2006/main">
            <a:r>
              <a:t>The proposed peer network extends this idea across locally controlled systems. A household could share selected resources. An organization could limit exchange to its members. A public community could contribute material explicitly cleared for that audience. These scopes can overlap without granting access to one another.</a:t>
            </a:r>
          </a:p>
          <a:p xmlns:a="http://schemas.openxmlformats.org/drawingml/2006/main">
            <a:r>
              <a:t/>
            </a:r>
          </a:p>
          <a:p xmlns:a="http://schemas.openxmlformats.org/drawingml/2006/main">
            <a:r>
              <a:t>A shared package would carry the reusable work, its assumptions, relevant source and control versions, checks, review origins and known limits. The recipient would decide whether it is permitted and applicable before using it.</a:t>
            </a:r>
          </a:p>
          <a:p xmlns:a="http://schemas.openxmlformats.org/drawingml/2006/main">
            <a:r>
              <a:t/>
            </a:r>
          </a:p>
          <a:p xmlns:a="http://schemas.openxmlformats.org/drawingml/2006/main">
            <a:r>
              <a:t>We do not need a central authority deciding every local task. But peer discovery, identity, revocation and connecting machines across the internet still require engineering. A directory or relay could help devices communicate without becoming the owner of their decisions.</a:t>
            </a:r>
          </a:p>
          <a:p xmlns:a="http://schemas.openxmlformats.org/drawingml/2006/main">
            <a:r>
              <a:t>An intact package can still contain outdated rules, false claims or instructions that should never run. Peers must treat received content as data to examine, not authority to obey. Even hashes and discovery metadata can disclose private activity.</a:t>
            </a:r>
          </a:p>
          <a:p xmlns:a="http://schemas.openxmlformats.org/drawingml/2006/main">
            <a:r>
              <a:t/>
            </a:r>
          </a:p>
          <a:p xmlns:a="http://schemas.openxmlformats.org/drawingml/2006/main">
            <a:r>
              <a:t>Sharing model compute is a separate capability. It needs its own permissions, resource limits and failure handling. Sending plaintext to a machine for processing does not make it private from that machine. And losing a connection must not automatically resend an operation whose outcome is uncertain.</a:t>
            </a:r>
          </a:p>
          <a:p xmlns:a="http://schemas.openxmlformats.org/drawingml/2006/main">
            <a:r>
              <a:t/>
            </a:r>
          </a:p>
          <a:p xmlns:a="http://schemas.openxmlformats.org/drawingml/2006/main">
            <a:r>
              <a:t>Our first experiment should share deliberately prepared, non-sensitive artifacts. Distributed inference can come later if it offers a demonstrated benefit. Energy and cost savings are hypotheses to measure across the whole workflow, including validation and failed attempts.</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Technical script, scene 7</a:t>
            </a:r>
          </a:p>
          <a:p xmlns:a="http://schemas.openxmlformats.org/drawingml/2006/main">
            <a:r>
              <a:t/>
            </a:r>
          </a:p>
          <a:p xmlns:a="http://schemas.openxmlformats.org/drawingml/2006/main">
            <a:r>
              <a:t>There are different kinds of reuse. An exact result may be reusable when the relevant conditions truly match. A workflow can be adapted to new inputs, producing a new result. A cross-domain analogy can suggest a path to investigate without supplying an answer.</a:t>
            </a:r>
          </a:p>
          <a:p xmlns:a="http://schemas.openxmlformats.org/drawingml/2006/main">
            <a:r>
              <a:t/>
            </a:r>
          </a:p>
          <a:p xmlns:a="http://schemas.openxmlformats.org/drawingml/2006/main">
            <a:r>
              <a:t>The GUFT research and CoherenceLattice explore that broader possibility: navigating useful relations instead of reconstructing every route from scratch. AHA and Pattern Donation propose connections; the optional 432 and Rosetta work contributes interpretive and creative material. These ideas retain their research status.</a:t>
            </a:r>
          </a:p>
          <a:p xmlns:a="http://schemas.openxmlformats.org/drawingml/2006/main">
            <a:r>
              <a:t/>
            </a:r>
          </a:p>
          <a:p xmlns:a="http://schemas.openxmlformats.org/drawingml/2006/main">
            <a:r>
              <a:t>A bridge must say what transfers and what does not. Prior Sophia checks and Atlas-guided retrosynthesis can make a mapping easier to examine. They cannot guarantee success in a new domain. No adequate bridge must remain a valid outcome.</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Technical script, scene 8</a:t>
            </a:r>
          </a:p>
          <a:p xmlns:a="http://schemas.openxmlformats.org/drawingml/2006/main">
            <a:r>
              <a:t/>
            </a:r>
          </a:p>
          <a:p xmlns:a="http://schemas.openxmlformats.org/drawingml/2006/main">
            <a:r>
              <a:t>An intact package can still contain outdated rules, false claims or instructions that should never run. Peers must treat received content as data to examine, not authority to obey. Even hashes and discovery metadata can disclose private activity.</a:t>
            </a:r>
          </a:p>
          <a:p xmlns:a="http://schemas.openxmlformats.org/drawingml/2006/main">
            <a:r>
              <a:t/>
            </a:r>
          </a:p>
          <a:p xmlns:a="http://schemas.openxmlformats.org/drawingml/2006/main">
            <a:r>
              <a:t>Sharing model compute is a separate capability. It needs its own permissions, resource limits and failure handling. Sending plaintext to a machine for processing does not make it private from that machine. And losing a connection must not automatically resend an operation whose outcome is uncertain.</a:t>
            </a:r>
          </a:p>
          <a:p xmlns:a="http://schemas.openxmlformats.org/drawingml/2006/main">
            <a:r>
              <a:t/>
            </a:r>
          </a:p>
          <a:p xmlns:a="http://schemas.openxmlformats.org/drawingml/2006/main">
            <a:r>
              <a:t>Our first experiment should share deliberately prepared, non-sensitive artifacts. Distributed inference can come later if it offers a demonstrated benefit. Energy and cost savings are hypotheses to measure across the whole workflow, including validation and failed attempts. The adverse package is authentic but stale. SHA-256 alone neither authenticates an untrusted reference nor proves truth, redistribution rights or current applicability.</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Technical script, scene 8</a:t>
            </a:r>
          </a:p>
          <a:p xmlns:a="http://schemas.openxmlformats.org/drawingml/2006/main">
            <a:r>
              <a:t/>
            </a:r>
          </a:p>
          <a:p xmlns:a="http://schemas.openxmlformats.org/drawingml/2006/main">
            <a:r>
              <a:t>An intact package can still contain outdated rules, false claims or instructions that should never run. Peers must treat received content as data to examine, not authority to obey. Even hashes and discovery metadata can disclose private activity.</a:t>
            </a:r>
          </a:p>
          <a:p xmlns:a="http://schemas.openxmlformats.org/drawingml/2006/main">
            <a:r>
              <a:t/>
            </a:r>
          </a:p>
          <a:p xmlns:a="http://schemas.openxmlformats.org/drawingml/2006/main">
            <a:r>
              <a:t>Sharing model compute is a separate capability. It needs its own permissions, resource limits and failure handling. Sending plaintext to a machine for processing does not make it private from that machine. And losing a connection must not automatically resend an operation whose outcome is uncertain.</a:t>
            </a:r>
          </a:p>
          <a:p xmlns:a="http://schemas.openxmlformats.org/drawingml/2006/main">
            <a:r>
              <a:t/>
            </a:r>
          </a:p>
          <a:p xmlns:a="http://schemas.openxmlformats.org/drawingml/2006/main">
            <a:r>
              <a:t>Our first experiment should share deliberately prepared, non-sensitive artifacts. Distributed inference can come later if it offers a demonstrated benefit. Energy and cost savings are hypotheses to measure across the whole workflow, including validation and failed attempts. Encryption in transit does not hide plaintext from the peer executing a task. Whole-job offload, layer-split inference and federated training are distinct mechanisms.</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Technical script, scene 7</a:t>
            </a:r>
          </a:p>
          <a:p xmlns:a="http://schemas.openxmlformats.org/drawingml/2006/main">
            <a:r>
              <a:t/>
            </a:r>
          </a:p>
          <a:p xmlns:a="http://schemas.openxmlformats.org/drawingml/2006/main">
            <a:r>
              <a:t>There are different kinds of reuse. An exact result may be reusable when the relevant conditions truly match. A workflow can be adapted to new inputs, producing a new result. A cross-domain analogy can suggest a path to investigate without supplying an answer.</a:t>
            </a:r>
          </a:p>
          <a:p xmlns:a="http://schemas.openxmlformats.org/drawingml/2006/main">
            <a:r>
              <a:t/>
            </a:r>
          </a:p>
          <a:p xmlns:a="http://schemas.openxmlformats.org/drawingml/2006/main">
            <a:r>
              <a:t>The GUFT research and CoherenceLattice explore that broader possibility: navigating useful relations instead of reconstructing every route from scratch. AHA and Pattern Donation propose connections; the optional 432 and Rosetta work contributes interpretive and creative material. These ideas retain their research status.</a:t>
            </a:r>
          </a:p>
          <a:p xmlns:a="http://schemas.openxmlformats.org/drawingml/2006/main">
            <a:r>
              <a:t/>
            </a:r>
          </a:p>
          <a:p xmlns:a="http://schemas.openxmlformats.org/drawingml/2006/main">
            <a:r>
              <a:t>A bridge must say what transfers and what does not. Prior Sophia checks and Atlas-guided retrosynthesis can make a mapping easier to examine. They cannot guarantee success in a new domain. No adequate bridge must remain a valid outcome. The Universal Coherence Model and other staged functions retain their edition-specific research status. This slide claims neither empirical validation of a universal theory nor activation of optional roles.</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Technical script, scene 10</a:t>
            </a:r>
          </a:p>
          <a:p xmlns:a="http://schemas.openxmlformats.org/drawingml/2006/main">
            <a:r>
              <a:t/>
            </a:r>
          </a:p>
          <a:p xmlns:a="http://schemas.openxmlformats.org/drawingml/2006/main">
            <a:r>
              <a:t>A first study could involve two adults reviewing synthetic reimbursement records for a community group. One completes a case. The second receives a related case with changed inputs.</a:t>
            </a:r>
          </a:p>
          <a:p xmlns:a="http://schemas.openxmlformats.org/drawingml/2006/main">
            <a:r>
              <a:t/>
            </a:r>
          </a:p>
          <a:p xmlns:a="http://schemas.openxmlformats.org/drawingml/2006/main">
            <a:r>
              <a:t>Compare a fresh start, ordinary file sharing and reuse with explicit evidence and scope checks. Include a useful package and an authentic package with a policy that no longer applies. Success means helping with the useful work while recognizing when to reject or revise the stale material.</a:t>
            </a:r>
          </a:p>
          <a:p xmlns:a="http://schemas.openxmlformats.org/drawingml/2006/main">
            <a:r>
              <a:t/>
            </a:r>
          </a:p>
          <a:p xmlns:a="http://schemas.openxmlformats.org/drawingml/2006/main">
            <a:r>
              <a:t>Measure consequential errors, review effort, total resource use and recovery. If ordinary sharing is just as good and simpler, that is a valuable finding. This small study would establish feasibility, not a population-level benefit or an energy-saving claim. Use equivalent variants and counterbalance order. Keep model access, sources and budgets comparable. The study is proposed and unrun.</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Development evidence, slide 13.</a:t>
            </a:r>
          </a:p>
          <a:p xmlns:a="http://schemas.openxmlformats.org/drawingml/2006/main">
            <a:r>
              <a:t/>
            </a:r>
          </a:p>
          <a:p xmlns:a="http://schemas.openxmlformats.org/drawingml/2006/main">
            <a:r>
              <a:t>As of 18 October 2026, the private reviewer repository demonstrates an offline captured-output custody, review, repair and export-verification component. Eight focused unittest tests passed on Windows Python 3.12.14, with four directory/ZIP verification checks. The review is scripted and the advisory is injected. No model is called.</a:t>
            </a:r>
          </a:p>
          <a:p xmlns:a="http://schemas.openxmlformats.org/drawingml/2006/main">
            <a:r>
              <a:t/>
            </a:r>
          </a:p>
          <a:p xmlns:a="http://schemas.openxmlformats.org/drawingml/2006/main">
            <a:r>
              <a:t>Claim boundary: Sophia and Atlas are names on logical records in this component demonstration, not separately executing cognitive components. STANDARD produces no semantic findings. The evidence establishes the declared logical-role, custody/hash-chain and export checks only. It does not establish installed startup, live AI/ChatGPT operation, human usefulness or P2P operation. The original application remains a separate evidence track: active original CI184 qualified installation, while startup remains UNKNOWN. Reviewer access is pending; this is private preparation, not a live or public demonstration.</a:t>
            </a:r>
          </a:p>
          <a:p xmlns:a="http://schemas.openxmlformats.org/drawingml/2006/main">
            <a:r>
              <a:t/>
            </a:r>
          </a:p>
          <a:p xmlns:a="http://schemas.openxmlformats.org/drawingml/2006/main">
            <a:r>
              <a:t>Exact reviewer source: https://github.com/pdxvoiceteacher/control-anchor-reviewer-demo/tree/ed5bce3de817b91898f2d63f4b6a8b7952bf1952</a:t>
            </a:r>
          </a:p>
          <a:p xmlns:a="http://schemas.openxmlformats.org/drawingml/2006/main">
            <a:r>
              <a:t>Commit: ed5bce3de817b91898f2d63f4b6a8b7952bf1952</a:t>
            </a:r>
          </a:p>
          <a:p xmlns:a="http://schemas.openxmlformats.org/drawingml/2006/main">
            <a:r>
              <a:t/>
            </a:r>
          </a:p>
          <a:p xmlns:a="http://schemas.openxmlformats.org/drawingml/2006/main">
            <a:r>
              <a:t>The full product architecture and Sophia network vision on the other slides remain design/research goals. This bounded component adds evidence without replacing that vision.</a:t>
            </a:r>
          </a:p>
          <a:p xmlns:a="http://schemas.openxmlformats.org/drawingml/2006/main">
            <a:r>
              <a:t/>
            </a:r>
          </a:p>
          <a:p xmlns:a="http://schemas.openxmlformats.org/drawingml/2006/main">
            <a:r>
              <a:t>Historical context from the earlier edition (not current qualification):</a:t>
            </a:r>
          </a:p>
          <a:p xmlns:a="http://schemas.openxmlformats.org/drawingml/2006/main">
            <a:r>
              <a:t>Script alignment: Technical script, scene 9</a:t>
            </a:r>
          </a:p>
          <a:p xmlns:a="http://schemas.openxmlformats.org/drawingml/2006/main">
            <a:r>
              <a:t/>
            </a:r>
          </a:p>
          <a:p xmlns:a="http://schemas.openxmlformats.org/drawingml/2006/main">
            <a:r>
              <a:t>There is already application code and useful test evidence to build on. The repository reports a combined workflow using controlled providers: configured controls, task completion, correction, fresh analytical work, simulated review, export and reopening without replay.</a:t>
            </a:r>
          </a:p>
          <a:p xmlns:a="http://schemas.openxmlformats.org/drawingml/2006/main">
            <a:r>
              <a:t/>
            </a:r>
          </a:p>
          <a:p xmlns:a="http://schemas.openxmlformats.org/drawingml/2006/main">
            <a:r>
              <a:t>That is meaningful progress, but it does not establish an installed product with live models or an operational peer network. Packaging work also has an incomplete test result preserved in the development record.</a:t>
            </a:r>
          </a:p>
          <a:p xmlns:a="http://schemas.openxmlformats.org/drawingml/2006/main">
            <a:r>
              <a:t/>
            </a:r>
          </a:p>
          <a:p xmlns:a="http://schemas.openxmlformats.org/drawingml/2006/main">
            <a:r>
              <a:t>We are inviting collaborators into a project with concrete mechanisms and unfinished delivery work. The next contribution should close a specific gap, demonstrate a useful result, or show where the proposed approach is unnecessary. This is a script-bound snapshot, not an independently reproduced result. MCP27 belongs to exact product 19400efc3be29cc9025ea833cbb59da27d3aa783. Refresh dated receipt claims before recording.</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https://github.com/pdxvoiceteacher/triadicbrain-open-alpha/blob/57db79984939f052d67fa0473d3982615948ef34/integrations/chatgpt/qualification/evidence/38003358305/README.md</a:t>
            </a:r>
          </a:p>
          <a:p xmlns:a="http://schemas.openxmlformats.org/drawingml/2006/main">
            <a:r>
              <a:t>https://github.com/pdxvoiceteacher/triadicbrain-open-alpha/blob/6209de81358909cbd253dc51048dd3beae98003d/review/windows-source-ci/attempt34-38009425386/README.md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a:p xmlns:a="http://schemas.openxmlformats.org/drawingml/2006/main">
            <a:br/>
            <a:br/>
            <a:r>
              <a:t>Original application status source: https://github.com/pdxvoiceteacher/triadicbrain-open-alpha/blob/37583fd91ff7f0d912256c10fea89ff6896763cf/README.md</a:t>
            </a:r>
            <a:br/>
            <a:r>
              <a:t>Installation run: https://github.com/pdxvoiceteacher/triadicbrain-open-alpha/actions/runs/39161062220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alignment: Technical script, scenes 11–12</a:t>
            </a:r>
          </a:p>
          <a:p xmlns:a="http://schemas.openxmlformats.org/drawingml/2006/main">
            <a:r>
              <a:t/>
            </a:r>
          </a:p>
          <a:p xmlns:a="http://schemas.openxmlformats.org/drawingml/2006/main">
            <a:r>
              <a:t>There are several entry points. Distributed-systems and security researchers could study scoped peer exchange and revocation. AI researchers could compare a single assessor with the triadic loop under matched budgets. Human-computer interaction researchers could test whether people understand the evidence and can correct a mistake. Research software engineers could help complete installation, recovery and reproducible demonstrations.</a:t>
            </a:r>
          </a:p>
          <a:p xmlns:a="http://schemas.openxmlformats.org/drawingml/2006/main">
            <a:r>
              <a:t/>
            </a:r>
          </a:p>
          <a:p xmlns:a="http://schemas.openxmlformats.org/drawingml/2006/main">
            <a:r>
              <a:t>We can build on existing work. RO-Crate addresses portable research metadata. Local-first research examines ownership and collaboration. Petals demonstrates collaborative model inference. None, by itself, proves this proposed combination works.</a:t>
            </a:r>
          </a:p>
          <a:p xmlns:a="http://schemas.openxmlformats.org/drawingml/2006/main">
            <a:r>
              <a:t/>
            </a:r>
          </a:p>
          <a:p xmlns:a="http://schemas.openxmlformats.org/drawingml/2006/main">
            <a:r>
              <a:t>A student project should have a bounded question and adequate supervision. It should not quietly inherit responsibility for finishing an entire production system.</a:t>
            </a:r>
          </a:p>
          <a:p xmlns:a="http://schemas.openxmlformats.org/drawingml/2006/main">
            <a:r>
              <a:t>If you lead a lab, supervise a capstone, build research software or work with a community that repeats useful tasks, I'd like to explore a focused collaboration.</a:t>
            </a:r>
          </a:p>
          <a:p xmlns:a="http://schemas.openxmlformats.org/drawingml/2006/main">
            <a:r>
              <a:t/>
            </a:r>
          </a:p>
          <a:p xmlns:a="http://schemas.openxmlformats.org/drawingml/2006/main">
            <a:r>
              <a:t>Start with one question, one deliverable and a clear account of what would count as success, failure or no improvement. We should agree on supervision, resources, attribution and publication rights before the work begins. A publishable negative result is welcome.</a:t>
            </a:r>
          </a:p>
          <a:p xmlns:a="http://schemas.openxmlformats.org/drawingml/2006/main">
            <a:r>
              <a:t/>
            </a:r>
          </a:p>
          <a:p xmlns:a="http://schemas.openxmlformats.org/drawingml/2006/main">
            <a:r>
              <a:t>The practical ambition is that people can benefit from one another's work without surrendering local control or inheriting someone else's mistakes unnoticed. The repository and white paper show the design and its current limits. Help us turn the next piece into something people can actually use and evaluate. Agree on supervision, scope, access, resources, attribution, publication rights and maintenance before work begins. Relevant primary research: RO-Crate https://doi.org/10.3233/DS-210053 ; local-first https://doi.org/10.1145/3359591.3359737 ; Petals https://aclanthology.org/2023.acl-demo.54/ .</a:t>
            </a:r>
          </a:p>
          <a:p xmlns:a="http://schemas.openxmlformats.org/drawingml/2006/main">
            <a:r>
              <a:t/>
            </a:r>
          </a:p>
          <a:p xmlns:a="http://schemas.openxmlformats.org/drawingml/2006/main">
            <a:r>
              <a:t>Sources:</a:t>
            </a:r>
          </a:p>
          <a:p xmlns:a="http://schemas.openxmlformats.org/drawingml/2006/main">
            <a:r>
              <a:t>https://github.com/pdxvoiceteacher/triadicbrain-open-alpha/blob/0945dc151508afa4d5e774a2a08b873b9a6a972b/docs/whitepaper/control-anchor-unified-white-paper-v0.4.md</a:t>
            </a:r>
          </a:p>
          <a:p xmlns:a="http://schemas.openxmlformats.org/drawingml/2006/main">
            <a:r>
              <a:t/>
            </a:r>
          </a:p>
          <a:p xmlns:a="http://schemas.openxmlformats.org/drawingml/2006/main">
            <a:r>
              <a:t>Design graphics are conceptual and do not depict a deployed network or recorded product screen. Review dated status before recording. AI-assisted slide copy prepared for Thomas Prislac.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2f542de46741b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038578d1d1446b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9868e4e70554f0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bdb78d2ca62430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ea124c0eccc4e5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816234648a547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19545C-F3AB-492D-81AD-9F10DA74F88C}"/>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1F5D7C9-701E-43B1-A9CE-BDAC0D05B51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175E212-5402-4117-84DE-A729F2685751}"/>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6B51A4-9045-4E43-9662-A832B326180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1302B12-D760-4B7F-975A-D17B2880FD5B}"/>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086B462-0F9D-4246-A7B9-DE557731965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717D76-1BD1-4666-A30E-CCED502E8CB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2A4D114-89F4-4B93-ACAB-146DA8032945}"/>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21B09F-25BB-4D37-8434-189E2FF1ED1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9AACB6F-6B56-421A-9903-2805BEA9BD8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9abc98fc454ea0" /><Relationship Type="http://schemas.openxmlformats.org/officeDocument/2006/relationships/slideLayout" Target="/ppt/slideLayouts/slideLayout1.xml" Id="R740de523681f47e8" /><Relationship Type="http://schemas.openxmlformats.org/officeDocument/2006/relationships/slideLayout" Target="/ppt/slideLayouts/slideLayout2.xml" Id="R5619045a8a684112" /><Relationship Type="http://schemas.openxmlformats.org/officeDocument/2006/relationships/slideLayout" Target="/ppt/slideLayouts/slideLayout3.xml" Id="Rb7414888aefb431a" /><Relationship Type="http://schemas.openxmlformats.org/officeDocument/2006/relationships/slideLayout" Target="/ppt/slideLayouts/slideLayout4.xml" Id="Rf44bfa38909a4c15" /><Relationship Type="http://schemas.openxmlformats.org/officeDocument/2006/relationships/slideLayout" Target="/ppt/slideLayouts/slideLayout5.xml" Id="Rcc2ff49bc5894eab" /><Relationship Type="http://schemas.openxmlformats.org/officeDocument/2006/relationships/slideLayout" Target="/ppt/slideLayouts/slideLayout6.xml" Id="Rec06f5a754414c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0de523681f47e8"/>
    <p:sldLayoutId xmlns:r="http://schemas.openxmlformats.org/officeDocument/2006/relationships" id="2147483650" r:id="R5619045a8a684112"/>
    <p:sldLayoutId xmlns:r="http://schemas.openxmlformats.org/officeDocument/2006/relationships" id="2147483651" r:id="Rb7414888aefb431a"/>
    <p:sldLayoutId xmlns:r="http://schemas.openxmlformats.org/officeDocument/2006/relationships" id="2147483652" r:id="Rf44bfa38909a4c15"/>
    <p:sldLayoutId xmlns:r="http://schemas.openxmlformats.org/officeDocument/2006/relationships" id="2147483653" r:id="Rcc2ff49bc5894eab"/>
    <p:sldLayoutId xmlns:r="http://schemas.openxmlformats.org/officeDocument/2006/relationships" id="2147483654" r:id="Rec06f5a754414c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71849f2be1648d3" /><Relationship Type="http://schemas.openxmlformats.org/officeDocument/2006/relationships/notesSlide" Target="/ppt/notesSlides/notesSlide1.xml" Id="R0a59dd782ac144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db0a25132a84e51" /><Relationship Type="http://schemas.openxmlformats.org/officeDocument/2006/relationships/notesSlide" Target="/ppt/notesSlides/notesSlide2.xml" Id="Rf22f8f00cceb4a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730cd82c1ea47dc" /><Relationship Type="http://schemas.openxmlformats.org/officeDocument/2006/relationships/notesSlide" Target="/ppt/notesSlides/notesSlide3.xml" Id="R59487c17fa0b44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408224c5bb24577" /><Relationship Type="http://schemas.openxmlformats.org/officeDocument/2006/relationships/notesSlide" Target="/ppt/notesSlides/notesSlide4.xml" Id="R735c4a0070134f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62eae1aab884f9c" /><Relationship Type="http://schemas.openxmlformats.org/officeDocument/2006/relationships/notesSlide" Target="/ppt/notesSlides/notesSlide5.xml" Id="R7689136886ca47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33ece8e7cbc40d5" /><Relationship Type="http://schemas.openxmlformats.org/officeDocument/2006/relationships/notesSlide" Target="/ppt/notesSlides/notesSlide6.xml" Id="R82f095a200694f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55071e5792b410d" /><Relationship Type="http://schemas.openxmlformats.org/officeDocument/2006/relationships/notesSlide" Target="/ppt/notesSlides/notesSlide7.xml" Id="R3465629da03c42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cdcf040a6df4a4f" /><Relationship Type="http://schemas.openxmlformats.org/officeDocument/2006/relationships/notesSlide" Target="/ppt/notesSlides/notesSlide8.xml" Id="Rfda2fbbf501148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ae499a665fb45c7" /><Relationship Type="http://schemas.openxmlformats.org/officeDocument/2006/relationships/notesSlide" Target="/ppt/notesSlides/notesSlide9.xml" Id="Refa1adec530143a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9f5b60937b34044" /><Relationship Type="http://schemas.openxmlformats.org/officeDocument/2006/relationships/notesSlide" Target="/ppt/notesSlides/notesSlide10.xml" Id="R090fe51eacdd4bd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f692fba520d4c02" /><Relationship Type="http://schemas.openxmlformats.org/officeDocument/2006/relationships/notesSlide" Target="/ppt/notesSlides/notesSlide11.xml" Id="R1dd27b8c77e846b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51c4c755162493d" /><Relationship Type="http://schemas.openxmlformats.org/officeDocument/2006/relationships/notesSlide" Target="/ppt/notesSlides/notesSlide12.xml" Id="R0df88fce0c164d5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eb8d5878be2475d" /><Relationship Type="http://schemas.openxmlformats.org/officeDocument/2006/relationships/notesSlide" Target="/ppt/notesSlides/notesSlide13.xml" Id="R8aadf745e39c4e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9e57ff278894bc6" /><Relationship Type="http://schemas.openxmlformats.org/officeDocument/2006/relationships/notesSlide" Target="/ppt/notesSlides/notesSlide14.xml" Id="Raec0c43aec0046cd" /></Relationships>
</file>

<file path=ppt/slides/slide1.xml><?xml version="1.0" encoding="utf-8"?>
<p:sld xmlns:p="http://schemas.openxmlformats.org/presentationml/2006/main">
  <p:cSld>
    <p:bg>
      <p:bgPr>
        <a:solidFill xmlns:a="http://schemas.openxmlformats.org/drawingml/2006/main">
          <a:srgbClr val="112931"/>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F631EA6-7BDE-42AC-A96D-ADA8B401A485}"/>
              </a:ext>
            </a:extLst>
          </p:cNvPr>
          <p:cNvSpPr>
            <a:spLocks xmlns:a="http://schemas.openxmlformats.org/drawingml/2006/main" noGrp="1"/>
          </p:cNvSpPr>
          <p:nvPr/>
        </p:nvSpPr>
        <p:spPr>
          <a:xfrm xmlns:a="http://schemas.openxmlformats.org/drawingml/2006/main">
            <a:off x="1143000" y="2381250"/>
            <a:ext cx="16002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100" b="1">
                <a:solidFill>
                  <a:srgbClr val="F6F3EA"/>
                </a:solidFill>
                <a:latin typeface="Nimbus Sans"/>
                <a:ea typeface="Nimbus Sans"/>
                <a:cs typeface="Nimbus Sans"/>
              </a:defRPr>
            </a:defPPr>
          </a:lstStyle>
          <a:p xmlns:a="http://schemas.openxmlformats.org/drawingml/2006/main">
            <a:pPr algn="l">
              <a:buNone/>
              <a:defRPr sz="8100" b="1">
                <a:solidFill>
                  <a:srgbClr val="F6F3EA"/>
                </a:solidFill>
                <a:latin typeface="Nimbus Sans"/>
                <a:ea typeface="Nimbus Sans"/>
                <a:cs typeface="Nimbus Sans"/>
              </a:defRPr>
            </a:pPr>
            <a:r>
              <a:rPr sz="8100" b="1">
                <a:solidFill>
                  <a:srgbClr val="F6F3EA"/>
                </a:solidFill>
                <a:latin typeface="Nimbus Sans"/>
                <a:ea typeface="Nimbus Sans"/>
                <a:cs typeface="Nimbus Sans"/>
              </a:rPr>
              <a:t>Triadic Cognitive Systems</a:t>
            </a:r>
          </a:p>
        </p:txBody>
      </p:sp>
      <p:sp>
        <p:nvSpPr>
          <p:cNvPr id="2" name="">
            <a:extLst xmlns:a="http://schemas.openxmlformats.org/drawingml/2006/main">
              <a:ext uri="{FF2B5EF4-FFF2-40B4-BE49-F238E27FC236}">
                <a16:creationId xmlns:a16="http://schemas.microsoft.com/office/drawing/2014/main" id="{D45D64F7-B19B-4DB1-BCF6-D70ED68C74BF}"/>
              </a:ext>
            </a:extLst>
          </p:cNvPr>
          <p:cNvSpPr>
            <a:spLocks xmlns:a="http://schemas.openxmlformats.org/drawingml/2006/main" noGrp="1"/>
          </p:cNvSpPr>
          <p:nvPr/>
        </p:nvSpPr>
        <p:spPr>
          <a:xfrm xmlns:a="http://schemas.openxmlformats.org/drawingml/2006/main">
            <a:off x="1181100" y="4953000"/>
            <a:ext cx="1495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81D9C2"/>
                </a:solidFill>
                <a:latin typeface="Nimbus Sans"/>
                <a:ea typeface="Nimbus Sans"/>
                <a:cs typeface="Nimbus Sans"/>
              </a:defRPr>
            </a:defPPr>
          </a:lstStyle>
          <a:p xmlns:a="http://schemas.openxmlformats.org/drawingml/2006/main">
            <a:pPr algn="l">
              <a:buNone/>
              <a:defRPr sz="3900" b="0">
                <a:solidFill>
                  <a:srgbClr val="81D9C2"/>
                </a:solidFill>
                <a:latin typeface="Nimbus Sans"/>
                <a:ea typeface="Nimbus Sans"/>
                <a:cs typeface="Nimbus Sans"/>
              </a:defRPr>
            </a:pPr>
            <a:r>
              <a:rPr sz="3900" b="0">
                <a:solidFill>
                  <a:srgbClr val="81D9C2"/>
                </a:solidFill>
                <a:latin typeface="Nimbus Sans"/>
                <a:ea typeface="Nimbus Sans"/>
                <a:cs typeface="Nimbus Sans"/>
              </a:rPr>
              <a:t>Local control and governed peer reuse</a:t>
            </a:r>
          </a:p>
        </p:txBody>
      </p:sp>
      <p:sp>
        <p:nvSpPr>
          <p:cNvPr id="3" name="">
            <a:extLst xmlns:a="http://schemas.openxmlformats.org/drawingml/2006/main">
              <a:ext uri="{FF2B5EF4-FFF2-40B4-BE49-F238E27FC236}">
                <a16:creationId xmlns:a16="http://schemas.microsoft.com/office/drawing/2014/main" id="{B2D69F10-C810-4534-9D31-07F25B6B1639}"/>
              </a:ext>
            </a:extLst>
          </p:cNvPr>
          <p:cNvSpPr>
            <a:spLocks xmlns:a="http://schemas.openxmlformats.org/drawingml/2006/main" noGrp="1"/>
          </p:cNvSpPr>
          <p:nvPr/>
        </p:nvSpPr>
        <p:spPr>
          <a:xfrm xmlns:a="http://schemas.openxmlformats.org/drawingml/2006/main">
            <a:off x="1181100" y="7715250"/>
            <a:ext cx="15716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BDD0D0"/>
                </a:solidFill>
                <a:latin typeface="Nimbus Sans"/>
                <a:ea typeface="Nimbus Sans"/>
                <a:cs typeface="Nimbus Sans"/>
              </a:defRPr>
            </a:defPPr>
          </a:lstStyle>
          <a:p xmlns:a="http://schemas.openxmlformats.org/drawingml/2006/main">
            <a:pPr algn="l">
              <a:buNone/>
              <a:defRPr sz="2550" b="0">
                <a:solidFill>
                  <a:srgbClr val="BDD0D0"/>
                </a:solidFill>
                <a:latin typeface="Nimbus Sans"/>
                <a:ea typeface="Nimbus Sans"/>
                <a:cs typeface="Nimbus Sans"/>
              </a:defRPr>
            </a:pPr>
            <a:r>
              <a:rPr sz="2550" b="0">
                <a:solidFill>
                  <a:srgbClr val="BDD0D0"/>
                </a:solidFill>
                <a:latin typeface="Nimbus Sans"/>
                <a:ea typeface="Nimbus Sans"/>
                <a:cs typeface="Nimbus Sans"/>
              </a:rPr>
              <a:t>Thomas Prislac</a:t>
            </a:r>
          </a:p>
          <a:p xmlns:a="http://schemas.openxmlformats.org/drawingml/2006/main">
            <a:pPr algn="l">
              <a:buNone/>
              <a:defRPr sz="2550" b="0">
                <a:solidFill>
                  <a:srgbClr val="BDD0D0"/>
                </a:solidFill>
                <a:latin typeface="Nimbus Sans"/>
                <a:ea typeface="Nimbus Sans"/>
                <a:cs typeface="Nimbus Sans"/>
              </a:defRPr>
            </a:pPr>
            <a:r>
              <a:rPr sz="2550" b="0">
                <a:solidFill>
                  <a:srgbClr val="BDD0D0"/>
                </a:solidFill>
                <a:latin typeface="Nimbus Sans"/>
                <a:ea typeface="Nimbus Sans"/>
                <a:cs typeface="Nimbus Sans"/>
              </a:rPr>
              <a:t>A research and engineering invitation</a:t>
            </a:r>
          </a:p>
        </p:txBody>
      </p:sp>
    </p:spTree>
    <p:extLst>
      <p:ext uri="{BB962C8B-B14F-4D97-AF65-F5344CB8AC3E}">
        <p14:creationId xmlns:p14="http://schemas.microsoft.com/office/powerpoint/2010/main" val="922052637"/>
      </p:ext>
    </p:extLst>
  </p:cSld>
</p:sld>
</file>

<file path=ppt/slides/slide2.xml><?xml version="1.0" encoding="utf-8"?>
<p:sld xmlns:p="http://schemas.openxmlformats.org/presentationml/2006/main">
  <p:cSld>
    <p:bg>
      <p:bgPr>
        <a:solidFill xmlns:a="http://schemas.openxmlformats.org/drawingml/2006/main">
          <a:srgbClr val="112931"/>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9EA107A2-84D3-48A8-BDE4-61AFECEB33D2}"/>
              </a:ext>
            </a:extLst>
          </p:cNvPr>
          <p:cNvCxnSpPr>
            <a:stCxn xmlns:a="http://schemas.openxmlformats.org/drawingml/2006/main" id="9" idx="2"/>
            <a:endCxn xmlns:a="http://schemas.openxmlformats.org/drawingml/2006/main" id="3" idx="2"/>
          </p:cNvCxnSpPr>
          <p:nvPr/>
        </p:nvCxnSpPr>
        <p:spPr>
          <a:xfrm xmlns:a="http://schemas.openxmlformats.org/drawingml/2006/main" flipH="1">
            <a:off x="3476625" y="5524500"/>
            <a:ext cx="11334750" cy="228600"/>
          </a:xfrm>
          <a:prstGeom xmlns:a="http://schemas.openxmlformats.org/drawingml/2006/main" prst="bentConnector4">
            <a:avLst/>
          </a:prstGeom>
          <a:ln xmlns:a="http://schemas.openxmlformats.org/drawingml/2006/main" w="38100">
            <a:solidFill>
              <a:srgbClr val="49696C"/>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97BEB0E9-CC0D-4C44-AF91-BF62D27D804B}"/>
              </a:ext>
            </a:extLst>
          </p:cNvPr>
          <p:cNvCxnSpPr>
            <a:stCxn xmlns:a="http://schemas.openxmlformats.org/drawingml/2006/main" id="6" idx="3"/>
            <a:endCxn xmlns:a="http://schemas.openxmlformats.org/drawingml/2006/main" id="9" idx="1"/>
          </p:cNvCxnSpPr>
          <p:nvPr/>
        </p:nvCxnSpPr>
        <p:spPr>
          <a:xfrm xmlns:a="http://schemas.openxmlformats.org/drawingml/2006/main">
            <a:off x="11477625" y="4572000"/>
            <a:ext cx="1000125" cy="0"/>
          </a:xfrm>
          <a:prstGeom xmlns:a="http://schemas.openxmlformats.org/drawingml/2006/main" prst="straightConnector1">
            <a:avLst/>
          </a:prstGeom>
          <a:ln xmlns:a="http://schemas.openxmlformats.org/drawingml/2006/main" w="38100">
            <a:solidFill>
              <a:srgbClr val="81D9C2"/>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6BE12030-CD36-47AF-9EBB-3FC809F8927D}"/>
              </a:ext>
            </a:extLst>
          </p:cNvPr>
          <p:cNvCxnSpPr>
            <a:stCxn xmlns:a="http://schemas.openxmlformats.org/drawingml/2006/main" id="3" idx="3"/>
            <a:endCxn xmlns:a="http://schemas.openxmlformats.org/drawingml/2006/main" id="6" idx="1"/>
          </p:cNvCxnSpPr>
          <p:nvPr/>
        </p:nvCxnSpPr>
        <p:spPr>
          <a:xfrm xmlns:a="http://schemas.openxmlformats.org/drawingml/2006/main">
            <a:off x="5810250" y="4572000"/>
            <a:ext cx="1000125" cy="0"/>
          </a:xfrm>
          <a:prstGeom xmlns:a="http://schemas.openxmlformats.org/drawingml/2006/main" prst="straightConnector1">
            <a:avLst/>
          </a:prstGeom>
          <a:ln xmlns:a="http://schemas.openxmlformats.org/drawingml/2006/main" w="38100">
            <a:solidFill>
              <a:srgbClr val="81D9C2"/>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7975A31D-E741-4F35-8EDD-313C7F8C46ED}"/>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6F3EA"/>
                </a:solidFill>
                <a:latin typeface="Nimbus Sans"/>
                <a:ea typeface="Nimbus Sans"/>
                <a:cs typeface="Nimbus Sans"/>
              </a:defRPr>
            </a:defPPr>
          </a:lstStyle>
          <a:p xmlns:a="http://schemas.openxmlformats.org/drawingml/2006/main">
            <a:pPr algn="l">
              <a:buNone/>
              <a:defRPr sz="5700" b="1">
                <a:solidFill>
                  <a:srgbClr val="F6F3EA"/>
                </a:solidFill>
                <a:latin typeface="Nimbus Sans"/>
                <a:ea typeface="Nimbus Sans"/>
                <a:cs typeface="Nimbus Sans"/>
              </a:defRPr>
            </a:pPr>
            <a:r>
              <a:rPr sz="5700" b="1">
                <a:solidFill>
                  <a:srgbClr val="F6F3EA"/>
                </a:solidFill>
                <a:latin typeface="Nimbus Sans"/>
                <a:ea typeface="Nimbus Sans"/>
                <a:cs typeface="Nimbus Sans"/>
              </a:rPr>
              <a:t>The triadic reasoning loop</a:t>
            </a:r>
          </a:p>
        </p:txBody>
      </p:sp>
      <p:sp>
        <p:nvSpPr>
          <p:cNvPr id="2" name="">
            <a:extLst xmlns:a="http://schemas.openxmlformats.org/drawingml/2006/main">
              <a:ext uri="{FF2B5EF4-FFF2-40B4-BE49-F238E27FC236}">
                <a16:creationId xmlns:a16="http://schemas.microsoft.com/office/drawing/2014/main" id="{3FBB47C7-23E5-4233-A601-D8AC4A6BDD56}"/>
              </a:ext>
            </a:extLst>
          </p:cNvPr>
          <p:cNvSpPr>
            <a:spLocks xmlns:a="http://schemas.openxmlformats.org/drawingml/2006/main" noGrp="1"/>
          </p:cNvSpPr>
          <p:nvPr/>
        </p:nvSpPr>
        <p:spPr>
          <a:xfrm xmlns:a="http://schemas.openxmlformats.org/drawingml/2006/main">
            <a:off x="1143000" y="2428875"/>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BDD0D0"/>
                </a:solidFill>
                <a:latin typeface="Nimbus Sans"/>
                <a:ea typeface="Nimbus Sans"/>
                <a:cs typeface="Nimbus Sans"/>
              </a:defRPr>
            </a:defPPr>
          </a:lstStyle>
          <a:p xmlns:a="http://schemas.openxmlformats.org/drawingml/2006/main">
            <a:pPr algn="l">
              <a:buNone/>
              <a:defRPr sz="2700" b="0">
                <a:solidFill>
                  <a:srgbClr val="BDD0D0"/>
                </a:solidFill>
                <a:latin typeface="Nimbus Sans"/>
                <a:ea typeface="Nimbus Sans"/>
                <a:cs typeface="Nimbus Sans"/>
              </a:defRPr>
            </a:pPr>
            <a:r>
              <a:rPr sz="2700" b="0">
                <a:solidFill>
                  <a:srgbClr val="BDD0D0"/>
                </a:solidFill>
                <a:latin typeface="Nimbus Sans"/>
                <a:ea typeface="Nimbus Sans"/>
                <a:cs typeface="Nimbus Sans"/>
              </a:rPr>
              <a:t>Functional roles with separately attributable results</a:t>
            </a:r>
          </a:p>
        </p:txBody>
      </p:sp>
      <p:sp>
        <p:nvSpPr>
          <p:cNvPr id="3" name="">
            <a:extLst xmlns:a="http://schemas.openxmlformats.org/drawingml/2006/main">
              <a:ext uri="{FF2B5EF4-FFF2-40B4-BE49-F238E27FC236}">
                <a16:creationId xmlns:a16="http://schemas.microsoft.com/office/drawing/2014/main" id="{C3EEA41F-4493-4FED-AC66-8DD498FA4E8C}"/>
              </a:ext>
            </a:extLst>
          </p:cNvPr>
          <p:cNvSpPr>
            <a:spLocks xmlns:a="http://schemas.openxmlformats.org/drawingml/2006/main" noGrp="1"/>
          </p:cNvSpPr>
          <p:nvPr/>
        </p:nvSpPr>
        <p:spPr>
          <a:xfrm xmlns:a="http://schemas.openxmlformats.org/drawingml/2006/main">
            <a:off x="1143000" y="3619500"/>
            <a:ext cx="4667250" cy="1905000"/>
          </a:xfrm>
          <a:prstGeom xmlns:a="http://schemas.openxmlformats.org/drawingml/2006/main" prst="rect">
            <a:avLst/>
          </a:prstGeom>
          <a:solidFill xmlns:a="http://schemas.openxmlformats.org/drawingml/2006/main">
            <a:srgbClr val="1B3B43"/>
          </a:solidFill>
          <a:ln xmlns:a="http://schemas.openxmlformats.org/drawingml/2006/main" w="19050">
            <a:solidFill>
              <a:srgbClr val="49696C"/>
            </a:solidFill>
            <a:prstDash val="solid"/>
          </a:ln>
        </p:spPr>
      </p:sp>
      <p:sp>
        <p:nvSpPr>
          <p:cNvPr id="4" name="">
            <a:extLst xmlns:a="http://schemas.openxmlformats.org/drawingml/2006/main">
              <a:ext uri="{FF2B5EF4-FFF2-40B4-BE49-F238E27FC236}">
                <a16:creationId xmlns:a16="http://schemas.microsoft.com/office/drawing/2014/main" id="{4448449B-9B0E-4808-99F8-5C6735BF7721}"/>
              </a:ext>
            </a:extLst>
          </p:cNvPr>
          <p:cNvSpPr>
            <a:spLocks xmlns:a="http://schemas.openxmlformats.org/drawingml/2006/main" noGrp="1"/>
          </p:cNvSpPr>
          <p:nvPr/>
        </p:nvSpPr>
        <p:spPr>
          <a:xfrm xmlns:a="http://schemas.openxmlformats.org/drawingml/2006/main">
            <a:off x="1409700" y="3857625"/>
            <a:ext cx="4133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225" b="1">
                <a:solidFill>
                  <a:srgbClr val="81D9C2"/>
                </a:solidFill>
                <a:latin typeface="Nimbus Sans"/>
                <a:ea typeface="Nimbus Sans"/>
                <a:cs typeface="Nimbus Sans"/>
              </a:defRPr>
            </a:defPPr>
          </a:lstStyle>
          <a:p xmlns:a="http://schemas.openxmlformats.org/drawingml/2006/main">
            <a:pPr algn="ctr">
              <a:buNone/>
              <a:defRPr sz="3225" b="1">
                <a:solidFill>
                  <a:srgbClr val="81D9C2"/>
                </a:solidFill>
                <a:latin typeface="Nimbus Sans"/>
                <a:ea typeface="Nimbus Sans"/>
                <a:cs typeface="Nimbus Sans"/>
              </a:defRPr>
            </a:pPr>
            <a:r>
              <a:rPr sz="3225" b="1">
                <a:solidFill>
                  <a:srgbClr val="81D9C2"/>
                </a:solidFill>
                <a:latin typeface="Nimbus Sans"/>
                <a:ea typeface="Nimbus Sans"/>
                <a:cs typeface="Nimbus Sans"/>
              </a:rPr>
              <a:t>Ground and propose</a:t>
            </a:r>
          </a:p>
        </p:txBody>
      </p:sp>
      <p:sp>
        <p:nvSpPr>
          <p:cNvPr id="5" name="">
            <a:extLst xmlns:a="http://schemas.openxmlformats.org/drawingml/2006/main">
              <a:ext uri="{FF2B5EF4-FFF2-40B4-BE49-F238E27FC236}">
                <a16:creationId xmlns:a16="http://schemas.microsoft.com/office/drawing/2014/main" id="{D1E0CB2B-C9E9-4357-B3C2-1C11604B9280}"/>
              </a:ext>
            </a:extLst>
          </p:cNvPr>
          <p:cNvSpPr>
            <a:spLocks xmlns:a="http://schemas.openxmlformats.org/drawingml/2006/main" noGrp="1"/>
          </p:cNvSpPr>
          <p:nvPr/>
        </p:nvSpPr>
        <p:spPr>
          <a:xfrm xmlns:a="http://schemas.openxmlformats.org/drawingml/2006/main">
            <a:off x="1409700" y="4524375"/>
            <a:ext cx="4133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0">
                <a:solidFill>
                  <a:srgbClr val="F6F3EA"/>
                </a:solidFill>
                <a:latin typeface="Nimbus Sans"/>
                <a:ea typeface="Nimbus Sans"/>
                <a:cs typeface="Nimbus Sans"/>
              </a:defRPr>
            </a:defPPr>
          </a:lstStyle>
          <a:p xmlns:a="http://schemas.openxmlformats.org/drawingml/2006/main">
            <a:pPr algn="ctr">
              <a:buNone/>
              <a:defRPr sz="2400" b="0">
                <a:solidFill>
                  <a:srgbClr val="F6F3EA"/>
                </a:solidFill>
                <a:latin typeface="Nimbus Sans"/>
                <a:ea typeface="Nimbus Sans"/>
                <a:cs typeface="Nimbus Sans"/>
              </a:defRPr>
            </a:pPr>
            <a:r>
              <a:rPr sz="2400" b="0">
                <a:solidFill>
                  <a:srgbClr val="F6F3EA"/>
                </a:solidFill>
                <a:latin typeface="Nimbus Sans"/>
                <a:ea typeface="Nimbus Sans"/>
                <a:cs typeface="Nimbus Sans"/>
              </a:rPr>
              <a:t>Evidence relations and Analyst candidates</a:t>
            </a:r>
          </a:p>
        </p:txBody>
      </p:sp>
      <p:sp>
        <p:nvSpPr>
          <p:cNvPr id="6" name="">
            <a:extLst xmlns:a="http://schemas.openxmlformats.org/drawingml/2006/main">
              <a:ext uri="{FF2B5EF4-FFF2-40B4-BE49-F238E27FC236}">
                <a16:creationId xmlns:a16="http://schemas.microsoft.com/office/drawing/2014/main" id="{E94EC348-58EF-4DC2-BC0E-551D24833DB3}"/>
              </a:ext>
            </a:extLst>
          </p:cNvPr>
          <p:cNvSpPr>
            <a:spLocks xmlns:a="http://schemas.openxmlformats.org/drawingml/2006/main" noGrp="1"/>
          </p:cNvSpPr>
          <p:nvPr/>
        </p:nvSpPr>
        <p:spPr>
          <a:xfrm xmlns:a="http://schemas.openxmlformats.org/drawingml/2006/main">
            <a:off x="6810375" y="3619500"/>
            <a:ext cx="4667250" cy="1905000"/>
          </a:xfrm>
          <a:prstGeom xmlns:a="http://schemas.openxmlformats.org/drawingml/2006/main" prst="rect">
            <a:avLst/>
          </a:prstGeom>
          <a:solidFill xmlns:a="http://schemas.openxmlformats.org/drawingml/2006/main">
            <a:srgbClr val="1B3B43"/>
          </a:solidFill>
          <a:ln xmlns:a="http://schemas.openxmlformats.org/drawingml/2006/main" w="19050">
            <a:solidFill>
              <a:srgbClr val="49696C"/>
            </a:solidFill>
            <a:prstDash val="solid"/>
          </a:ln>
        </p:spPr>
      </p:sp>
      <p:sp>
        <p:nvSpPr>
          <p:cNvPr id="7" name="">
            <a:extLst xmlns:a="http://schemas.openxmlformats.org/drawingml/2006/main">
              <a:ext uri="{FF2B5EF4-FFF2-40B4-BE49-F238E27FC236}">
                <a16:creationId xmlns:a16="http://schemas.microsoft.com/office/drawing/2014/main" id="{CDA966DA-3860-49E6-9F70-718147D81006}"/>
              </a:ext>
            </a:extLst>
          </p:cNvPr>
          <p:cNvSpPr>
            <a:spLocks xmlns:a="http://schemas.openxmlformats.org/drawingml/2006/main" noGrp="1"/>
          </p:cNvSpPr>
          <p:nvPr/>
        </p:nvSpPr>
        <p:spPr>
          <a:xfrm xmlns:a="http://schemas.openxmlformats.org/drawingml/2006/main">
            <a:off x="7077075" y="3857625"/>
            <a:ext cx="4133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225" b="1">
                <a:solidFill>
                  <a:srgbClr val="81D9C2"/>
                </a:solidFill>
                <a:latin typeface="Nimbus Sans"/>
                <a:ea typeface="Nimbus Sans"/>
                <a:cs typeface="Nimbus Sans"/>
              </a:defRPr>
            </a:defPPr>
          </a:lstStyle>
          <a:p xmlns:a="http://schemas.openxmlformats.org/drawingml/2006/main">
            <a:pPr algn="ctr">
              <a:buNone/>
              <a:defRPr sz="3225" b="1">
                <a:solidFill>
                  <a:srgbClr val="81D9C2"/>
                </a:solidFill>
                <a:latin typeface="Nimbus Sans"/>
                <a:ea typeface="Nimbus Sans"/>
                <a:cs typeface="Nimbus Sans"/>
              </a:defRPr>
            </a:pPr>
            <a:r>
              <a:rPr sz="3225" b="1">
                <a:solidFill>
                  <a:srgbClr val="81D9C2"/>
                </a:solidFill>
                <a:latin typeface="Nimbus Sans"/>
                <a:ea typeface="Nimbus Sans"/>
                <a:cs typeface="Nimbus Sans"/>
              </a:rPr>
              <a:t>Check and challenge</a:t>
            </a:r>
          </a:p>
        </p:txBody>
      </p:sp>
      <p:sp>
        <p:nvSpPr>
          <p:cNvPr id="8" name="">
            <a:extLst xmlns:a="http://schemas.openxmlformats.org/drawingml/2006/main">
              <a:ext uri="{FF2B5EF4-FFF2-40B4-BE49-F238E27FC236}">
                <a16:creationId xmlns:a16="http://schemas.microsoft.com/office/drawing/2014/main" id="{1C2EE924-7861-4786-82F4-EB748FC65013}"/>
              </a:ext>
            </a:extLst>
          </p:cNvPr>
          <p:cNvSpPr>
            <a:spLocks xmlns:a="http://schemas.openxmlformats.org/drawingml/2006/main" noGrp="1"/>
          </p:cNvSpPr>
          <p:nvPr/>
        </p:nvSpPr>
        <p:spPr>
          <a:xfrm xmlns:a="http://schemas.openxmlformats.org/drawingml/2006/main">
            <a:off x="7077075" y="4524375"/>
            <a:ext cx="4133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0">
                <a:solidFill>
                  <a:srgbClr val="F6F3EA"/>
                </a:solidFill>
                <a:latin typeface="Nimbus Sans"/>
                <a:ea typeface="Nimbus Sans"/>
                <a:cs typeface="Nimbus Sans"/>
              </a:defRPr>
            </a:defPPr>
          </a:lstStyle>
          <a:p xmlns:a="http://schemas.openxmlformats.org/drawingml/2006/main">
            <a:pPr algn="ctr">
              <a:buNone/>
              <a:defRPr sz="2400" b="0">
                <a:solidFill>
                  <a:srgbClr val="F6F3EA"/>
                </a:solidFill>
                <a:latin typeface="Nimbus Sans"/>
                <a:ea typeface="Nimbus Sans"/>
                <a:cs typeface="Nimbus Sans"/>
              </a:defRPr>
            </a:pPr>
            <a:r>
              <a:rPr sz="2400" b="0">
                <a:solidFill>
                  <a:srgbClr val="F6F3EA"/>
                </a:solidFill>
                <a:latin typeface="Nimbus Sans"/>
                <a:ea typeface="Nimbus Sans"/>
                <a:cs typeface="Nimbus Sans"/>
              </a:rPr>
              <a:t>Sophia checks and separate AI criticism</a:t>
            </a:r>
          </a:p>
        </p:txBody>
      </p:sp>
      <p:sp>
        <p:nvSpPr>
          <p:cNvPr id="9" name="">
            <a:extLst xmlns:a="http://schemas.openxmlformats.org/drawingml/2006/main">
              <a:ext uri="{FF2B5EF4-FFF2-40B4-BE49-F238E27FC236}">
                <a16:creationId xmlns:a16="http://schemas.microsoft.com/office/drawing/2014/main" id="{9278B910-D668-4E82-85F6-06840CED548D}"/>
              </a:ext>
            </a:extLst>
          </p:cNvPr>
          <p:cNvSpPr>
            <a:spLocks xmlns:a="http://schemas.openxmlformats.org/drawingml/2006/main" noGrp="1"/>
          </p:cNvSpPr>
          <p:nvPr/>
        </p:nvSpPr>
        <p:spPr>
          <a:xfrm xmlns:a="http://schemas.openxmlformats.org/drawingml/2006/main">
            <a:off x="12477750" y="3619500"/>
            <a:ext cx="4667250" cy="1905000"/>
          </a:xfrm>
          <a:prstGeom xmlns:a="http://schemas.openxmlformats.org/drawingml/2006/main" prst="rect">
            <a:avLst/>
          </a:prstGeom>
          <a:solidFill xmlns:a="http://schemas.openxmlformats.org/drawingml/2006/main">
            <a:srgbClr val="1B3B43"/>
          </a:solidFill>
          <a:ln xmlns:a="http://schemas.openxmlformats.org/drawingml/2006/main" w="19050">
            <a:solidFill>
              <a:srgbClr val="49696C"/>
            </a:solidFill>
            <a:prstDash val="solid"/>
          </a:ln>
        </p:spPr>
      </p:sp>
      <p:sp>
        <p:nvSpPr>
          <p:cNvPr id="10" name="">
            <a:extLst xmlns:a="http://schemas.openxmlformats.org/drawingml/2006/main">
              <a:ext uri="{FF2B5EF4-FFF2-40B4-BE49-F238E27FC236}">
                <a16:creationId xmlns:a16="http://schemas.microsoft.com/office/drawing/2014/main" id="{7EF3B3A4-CE08-4B0A-8D05-8A442658A427}"/>
              </a:ext>
            </a:extLst>
          </p:cNvPr>
          <p:cNvSpPr>
            <a:spLocks xmlns:a="http://schemas.openxmlformats.org/drawingml/2006/main" noGrp="1"/>
          </p:cNvSpPr>
          <p:nvPr/>
        </p:nvSpPr>
        <p:spPr>
          <a:xfrm xmlns:a="http://schemas.openxmlformats.org/drawingml/2006/main">
            <a:off x="12744450" y="3857625"/>
            <a:ext cx="4133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225" b="1">
                <a:solidFill>
                  <a:srgbClr val="81D9C2"/>
                </a:solidFill>
                <a:latin typeface="Nimbus Sans"/>
                <a:ea typeface="Nimbus Sans"/>
                <a:cs typeface="Nimbus Sans"/>
              </a:defRPr>
            </a:defPPr>
          </a:lstStyle>
          <a:p xmlns:a="http://schemas.openxmlformats.org/drawingml/2006/main">
            <a:pPr algn="ctr">
              <a:buNone/>
              <a:defRPr sz="3225" b="1">
                <a:solidFill>
                  <a:srgbClr val="81D9C2"/>
                </a:solidFill>
                <a:latin typeface="Nimbus Sans"/>
                <a:ea typeface="Nimbus Sans"/>
                <a:cs typeface="Nimbus Sans"/>
              </a:defRPr>
            </a:pPr>
            <a:r>
              <a:rPr sz="3225" b="1">
                <a:solidFill>
                  <a:srgbClr val="81D9C2"/>
                </a:solidFill>
                <a:latin typeface="Nimbus Sans"/>
                <a:ea typeface="Nimbus Sans"/>
                <a:cs typeface="Nimbus Sans"/>
              </a:rPr>
              <a:t>Integrate and explain</a:t>
            </a:r>
          </a:p>
        </p:txBody>
      </p:sp>
      <p:sp>
        <p:nvSpPr>
          <p:cNvPr id="11" name="">
            <a:extLst xmlns:a="http://schemas.openxmlformats.org/drawingml/2006/main">
              <a:ext uri="{FF2B5EF4-FFF2-40B4-BE49-F238E27FC236}">
                <a16:creationId xmlns:a16="http://schemas.microsoft.com/office/drawing/2014/main" id="{F7C00FC7-0050-4BEA-8393-6B864AFDE173}"/>
              </a:ext>
            </a:extLst>
          </p:cNvPr>
          <p:cNvSpPr>
            <a:spLocks xmlns:a="http://schemas.openxmlformats.org/drawingml/2006/main" noGrp="1"/>
          </p:cNvSpPr>
          <p:nvPr/>
        </p:nvSpPr>
        <p:spPr>
          <a:xfrm xmlns:a="http://schemas.openxmlformats.org/drawingml/2006/main">
            <a:off x="12744450" y="4524375"/>
            <a:ext cx="4133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0">
                <a:solidFill>
                  <a:srgbClr val="F6F3EA"/>
                </a:solidFill>
                <a:latin typeface="Nimbus Sans"/>
                <a:ea typeface="Nimbus Sans"/>
                <a:cs typeface="Nimbus Sans"/>
              </a:defRPr>
            </a:defPPr>
          </a:lstStyle>
          <a:p xmlns:a="http://schemas.openxmlformats.org/drawingml/2006/main">
            <a:pPr algn="ctr">
              <a:buNone/>
              <a:defRPr sz="2400" b="0">
                <a:solidFill>
                  <a:srgbClr val="F6F3EA"/>
                </a:solidFill>
                <a:latin typeface="Nimbus Sans"/>
                <a:ea typeface="Nimbus Sans"/>
                <a:cs typeface="Nimbus Sans"/>
              </a:defRPr>
            </a:pPr>
            <a:r>
              <a:rPr sz="2400" b="0">
                <a:solidFill>
                  <a:srgbClr val="F6F3EA"/>
                </a:solidFill>
                <a:latin typeface="Nimbus Sans"/>
                <a:ea typeface="Nimbus Sans"/>
                <a:cs typeface="Nimbus Sans"/>
              </a:rPr>
              <a:t>Atlas posture, dissent and repair questions</a:t>
            </a:r>
          </a:p>
        </p:txBody>
      </p:sp>
      <p:sp>
        <p:nvSpPr>
          <p:cNvPr id="15" name="">
            <a:extLst xmlns:a="http://schemas.openxmlformats.org/drawingml/2006/main">
              <a:ext uri="{FF2B5EF4-FFF2-40B4-BE49-F238E27FC236}">
                <a16:creationId xmlns:a16="http://schemas.microsoft.com/office/drawing/2014/main" id="{C9D6C128-B32F-4F20-8ED2-5E266AAAB4AF}"/>
              </a:ext>
            </a:extLst>
          </p:cNvPr>
          <p:cNvSpPr>
            <a:spLocks xmlns:a="http://schemas.openxmlformats.org/drawingml/2006/main" noGrp="1"/>
          </p:cNvSpPr>
          <p:nvPr/>
        </p:nvSpPr>
        <p:spPr>
          <a:xfrm xmlns:a="http://schemas.openxmlformats.org/drawingml/2006/main">
            <a:off x="1143000" y="7667625"/>
            <a:ext cx="1600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81D9C2"/>
                </a:solidFill>
                <a:latin typeface="Nimbus Sans"/>
                <a:ea typeface="Nimbus Sans"/>
                <a:cs typeface="Nimbus Sans"/>
              </a:defRPr>
            </a:defPPr>
          </a:lstStyle>
          <a:p xmlns:a="http://schemas.openxmlformats.org/drawingml/2006/main">
            <a:pPr algn="l">
              <a:buNone/>
              <a:defRPr sz="3450" b="1">
                <a:solidFill>
                  <a:srgbClr val="81D9C2"/>
                </a:solidFill>
                <a:latin typeface="Nimbus Sans"/>
                <a:ea typeface="Nimbus Sans"/>
                <a:cs typeface="Nimbus Sans"/>
              </a:defRPr>
            </a:pPr>
            <a:r>
              <a:rPr sz="3450" b="1">
                <a:solidFill>
                  <a:srgbClr val="81D9C2"/>
                </a:solidFill>
                <a:latin typeface="Nimbus Sans"/>
                <a:ea typeface="Nimbus Sans"/>
                <a:cs typeface="Nimbus Sans"/>
              </a:rPr>
              <a:t>A supported answer may end the loop.</a:t>
            </a:r>
          </a:p>
        </p:txBody>
      </p:sp>
      <p:sp>
        <p:nvSpPr>
          <p:cNvPr id="16" name="">
            <a:extLst xmlns:a="http://schemas.openxmlformats.org/drawingml/2006/main">
              <a:ext uri="{FF2B5EF4-FFF2-40B4-BE49-F238E27FC236}">
                <a16:creationId xmlns:a16="http://schemas.microsoft.com/office/drawing/2014/main" id="{951AE6E6-B9DD-4FEA-BC7D-F2E752E2F047}"/>
              </a:ext>
            </a:extLst>
          </p:cNvPr>
          <p:cNvSpPr>
            <a:spLocks xmlns:a="http://schemas.openxmlformats.org/drawingml/2006/main" noGrp="1"/>
          </p:cNvSpPr>
          <p:nvPr/>
        </p:nvSpPr>
        <p:spPr>
          <a:xfrm xmlns:a="http://schemas.openxmlformats.org/drawingml/2006/main">
            <a:off x="1143000" y="9048750"/>
            <a:ext cx="1581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BDD0D0"/>
                </a:solidFill>
                <a:latin typeface="Nimbus Sans"/>
                <a:ea typeface="Nimbus Sans"/>
                <a:cs typeface="Nimbus Sans"/>
              </a:defRPr>
            </a:defPPr>
          </a:lstStyle>
          <a:p xmlns:a="http://schemas.openxmlformats.org/drawingml/2006/main">
            <a:pPr algn="l">
              <a:buNone/>
              <a:defRPr sz="2175" b="0">
                <a:solidFill>
                  <a:srgbClr val="BDD0D0"/>
                </a:solidFill>
                <a:latin typeface="Nimbus Sans"/>
                <a:ea typeface="Nimbus Sans"/>
                <a:cs typeface="Nimbus Sans"/>
              </a:defRPr>
            </a:pPr>
            <a:r>
              <a:rPr sz="2175" b="0">
                <a:solidFill>
                  <a:srgbClr val="BDD0D0"/>
                </a:solidFill>
                <a:latin typeface="Nimbus Sans"/>
                <a:ea typeface="Nimbus Sans"/>
                <a:cs typeface="Nimbus Sans"/>
              </a:rPr>
              <a:t>Models can agree because they share an incorrect input or rule. Agreement alone cannot establish truth.</a:t>
            </a:r>
          </a:p>
        </p:txBody>
      </p:sp>
    </p:spTree>
    <p:extLst>
      <p:ext uri="{BB962C8B-B14F-4D97-AF65-F5344CB8AC3E}">
        <p14:creationId xmlns:p14="http://schemas.microsoft.com/office/powerpoint/2010/main" val="251592729"/>
      </p:ext>
    </p:extLst>
  </p:cSld>
</p:sld>
</file>

<file path=ppt/slides/slide3.xml><?xml version="1.0" encoding="utf-8"?>
<p:sld xmlns:p="http://schemas.openxmlformats.org/presentationml/2006/main">
  <p:cSld>
    <p:bg>
      <p:bgPr>
        <a:solidFill xmlns:a="http://schemas.openxmlformats.org/drawingml/2006/main">
          <a:srgbClr val="11293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5032BA3-E3E1-479B-A99E-307085CBD5B8}"/>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6F3EA"/>
                </a:solidFill>
                <a:latin typeface="Nimbus Sans"/>
                <a:ea typeface="Nimbus Sans"/>
                <a:cs typeface="Nimbus Sans"/>
              </a:defRPr>
            </a:defPPr>
          </a:lstStyle>
          <a:p xmlns:a="http://schemas.openxmlformats.org/drawingml/2006/main">
            <a:pPr algn="l">
              <a:buNone/>
              <a:defRPr sz="5700" b="1">
                <a:solidFill>
                  <a:srgbClr val="F6F3EA"/>
                </a:solidFill>
                <a:latin typeface="Nimbus Sans"/>
                <a:ea typeface="Nimbus Sans"/>
                <a:cs typeface="Nimbus Sans"/>
              </a:defRPr>
            </a:pPr>
            <a:r>
              <a:rPr sz="5700" b="1">
                <a:solidFill>
                  <a:srgbClr val="F6F3EA"/>
                </a:solidFill>
                <a:latin typeface="Nimbus Sans"/>
                <a:ea typeface="Nimbus Sans"/>
                <a:cs typeface="Nimbus Sans"/>
              </a:rPr>
              <a:t>Ingress and evidence boundaries</a:t>
            </a:r>
          </a:p>
        </p:txBody>
      </p:sp>
      <p:sp>
        <p:nvSpPr>
          <p:cNvPr id="2" name="">
            <a:extLst xmlns:a="http://schemas.openxmlformats.org/drawingml/2006/main">
              <a:ext uri="{FF2B5EF4-FFF2-40B4-BE49-F238E27FC236}">
                <a16:creationId xmlns:a16="http://schemas.microsoft.com/office/drawing/2014/main" id="{290C9805-AB36-4A54-9479-25459EC24819}"/>
              </a:ext>
            </a:extLst>
          </p:cNvPr>
          <p:cNvSpPr>
            <a:spLocks xmlns:a="http://schemas.openxmlformats.org/drawingml/2006/main" noGrp="1"/>
          </p:cNvSpPr>
          <p:nvPr/>
        </p:nvSpPr>
        <p:spPr>
          <a:xfrm xmlns:a="http://schemas.openxmlformats.org/drawingml/2006/main">
            <a:off x="1143000" y="3095625"/>
            <a:ext cx="3810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81D9C2"/>
                </a:solidFill>
                <a:latin typeface="Nimbus Sans"/>
                <a:ea typeface="Nimbus Sans"/>
                <a:cs typeface="Nimbus Sans"/>
              </a:defRPr>
            </a:defPPr>
          </a:lstStyle>
          <a:p xmlns:a="http://schemas.openxmlformats.org/drawingml/2006/main">
            <a:pPr algn="l">
              <a:buNone/>
              <a:defRPr sz="3150" b="1">
                <a:solidFill>
                  <a:srgbClr val="81D9C2"/>
                </a:solidFill>
                <a:latin typeface="Nimbus Sans"/>
                <a:ea typeface="Nimbus Sans"/>
                <a:cs typeface="Nimbus Sans"/>
              </a:defRPr>
            </a:pPr>
            <a:r>
              <a:rPr sz="3150" b="1">
                <a:solidFill>
                  <a:srgbClr val="81D9C2"/>
                </a:solidFill>
                <a:latin typeface="Nimbus Sans"/>
                <a:ea typeface="Nimbus Sans"/>
                <a:cs typeface="Nimbus Sans"/>
              </a:rPr>
              <a:t>Sonya</a:t>
            </a:r>
          </a:p>
        </p:txBody>
      </p:sp>
      <p:sp>
        <p:nvSpPr>
          <p:cNvPr id="3" name="">
            <a:extLst xmlns:a="http://schemas.openxmlformats.org/drawingml/2006/main">
              <a:ext uri="{FF2B5EF4-FFF2-40B4-BE49-F238E27FC236}">
                <a16:creationId xmlns:a16="http://schemas.microsoft.com/office/drawing/2014/main" id="{470BF693-57C5-473E-A422-EC55A7C46923}"/>
              </a:ext>
            </a:extLst>
          </p:cNvPr>
          <p:cNvSpPr>
            <a:spLocks xmlns:a="http://schemas.openxmlformats.org/drawingml/2006/main" noGrp="1"/>
          </p:cNvSpPr>
          <p:nvPr/>
        </p:nvSpPr>
        <p:spPr>
          <a:xfrm xmlns:a="http://schemas.openxmlformats.org/drawingml/2006/main">
            <a:off x="5238750" y="3095625"/>
            <a:ext cx="11906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F6F3EA"/>
                </a:solidFill>
                <a:latin typeface="Nimbus Sans"/>
                <a:ea typeface="Nimbus Sans"/>
                <a:cs typeface="Nimbus Sans"/>
              </a:defRPr>
            </a:defPPr>
          </a:lstStyle>
          <a:p xmlns:a="http://schemas.openxmlformats.org/drawingml/2006/main">
            <a:pPr algn="l">
              <a:buNone/>
              <a:defRPr sz="3150" b="0">
                <a:solidFill>
                  <a:srgbClr val="F6F3EA"/>
                </a:solidFill>
                <a:latin typeface="Nimbus Sans"/>
                <a:ea typeface="Nimbus Sans"/>
                <a:cs typeface="Nimbus Sans"/>
              </a:defRPr>
            </a:pPr>
            <a:r>
              <a:rPr sz="3150" b="0">
                <a:solidFill>
                  <a:srgbClr val="F6F3EA"/>
                </a:solidFill>
                <a:latin typeface="Nimbus Sans"/>
                <a:ea typeface="Nimbus Sans"/>
                <a:cs typeface="Nimbus Sans"/>
              </a:rPr>
              <a:t>Bind the request, effective context and provider reply.</a:t>
            </a:r>
          </a:p>
        </p:txBody>
      </p:sp>
      <p:sp>
        <p:nvSpPr>
          <p:cNvPr id="4" name="">
            <a:extLst xmlns:a="http://schemas.openxmlformats.org/drawingml/2006/main">
              <a:ext uri="{FF2B5EF4-FFF2-40B4-BE49-F238E27FC236}">
                <a16:creationId xmlns:a16="http://schemas.microsoft.com/office/drawing/2014/main" id="{2E12872C-3004-483B-B85A-8DCEF07FC4ED}"/>
              </a:ext>
            </a:extLst>
          </p:cNvPr>
          <p:cNvSpPr>
            <a:spLocks xmlns:a="http://schemas.openxmlformats.org/drawingml/2006/main" noGrp="1"/>
          </p:cNvSpPr>
          <p:nvPr/>
        </p:nvSpPr>
        <p:spPr>
          <a:xfrm xmlns:a="http://schemas.openxmlformats.org/drawingml/2006/main">
            <a:off x="1143000" y="4210050"/>
            <a:ext cx="16002000" cy="0"/>
          </a:xfrm>
          <a:prstGeom xmlns:a="http://schemas.openxmlformats.org/drawingml/2006/main" prst="line">
            <a:avLst/>
          </a:prstGeom>
          <a:noFill xmlns:a="http://schemas.openxmlformats.org/drawingml/2006/main"/>
          <a:ln xmlns:a="http://schemas.openxmlformats.org/drawingml/2006/main" w="19050">
            <a:solidFill>
              <a:srgbClr val="49696C"/>
            </a:solidFill>
            <a:prstDash val="solid"/>
          </a:ln>
        </p:spPr>
      </p:sp>
      <p:sp>
        <p:nvSpPr>
          <p:cNvPr id="5" name="">
            <a:extLst xmlns:a="http://schemas.openxmlformats.org/drawingml/2006/main">
              <a:ext uri="{FF2B5EF4-FFF2-40B4-BE49-F238E27FC236}">
                <a16:creationId xmlns:a16="http://schemas.microsoft.com/office/drawing/2014/main" id="{E5144250-C15D-499A-9F36-63A82B88FA06}"/>
              </a:ext>
            </a:extLst>
          </p:cNvPr>
          <p:cNvSpPr>
            <a:spLocks xmlns:a="http://schemas.openxmlformats.org/drawingml/2006/main" noGrp="1"/>
          </p:cNvSpPr>
          <p:nvPr/>
        </p:nvSpPr>
        <p:spPr>
          <a:xfrm xmlns:a="http://schemas.openxmlformats.org/drawingml/2006/main">
            <a:off x="1143000" y="4448175"/>
            <a:ext cx="3810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81D9C2"/>
                </a:solidFill>
                <a:latin typeface="Nimbus Sans"/>
                <a:ea typeface="Nimbus Sans"/>
                <a:cs typeface="Nimbus Sans"/>
              </a:defRPr>
            </a:defPPr>
          </a:lstStyle>
          <a:p xmlns:a="http://schemas.openxmlformats.org/drawingml/2006/main">
            <a:pPr algn="l">
              <a:buNone/>
              <a:defRPr sz="3150" b="1">
                <a:solidFill>
                  <a:srgbClr val="81D9C2"/>
                </a:solidFill>
                <a:latin typeface="Nimbus Sans"/>
                <a:ea typeface="Nimbus Sans"/>
                <a:cs typeface="Nimbus Sans"/>
              </a:defRPr>
            </a:pPr>
            <a:r>
              <a:rPr sz="3150" b="1">
                <a:solidFill>
                  <a:srgbClr val="81D9C2"/>
                </a:solidFill>
                <a:latin typeface="Nimbus Sans"/>
                <a:ea typeface="Nimbus Sans"/>
                <a:cs typeface="Nimbus Sans"/>
              </a:rPr>
              <a:t>AEGIS</a:t>
            </a:r>
          </a:p>
        </p:txBody>
      </p:sp>
      <p:sp>
        <p:nvSpPr>
          <p:cNvPr id="6" name="">
            <a:extLst xmlns:a="http://schemas.openxmlformats.org/drawingml/2006/main">
              <a:ext uri="{FF2B5EF4-FFF2-40B4-BE49-F238E27FC236}">
                <a16:creationId xmlns:a16="http://schemas.microsoft.com/office/drawing/2014/main" id="{03B11983-D2A5-40C9-A67C-AC993C8D6CB8}"/>
              </a:ext>
            </a:extLst>
          </p:cNvPr>
          <p:cNvSpPr>
            <a:spLocks xmlns:a="http://schemas.openxmlformats.org/drawingml/2006/main" noGrp="1"/>
          </p:cNvSpPr>
          <p:nvPr/>
        </p:nvSpPr>
        <p:spPr>
          <a:xfrm xmlns:a="http://schemas.openxmlformats.org/drawingml/2006/main">
            <a:off x="5238750" y="4448175"/>
            <a:ext cx="11906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F6F3EA"/>
                </a:solidFill>
                <a:latin typeface="Nimbus Sans"/>
                <a:ea typeface="Nimbus Sans"/>
                <a:cs typeface="Nimbus Sans"/>
              </a:defRPr>
            </a:defPPr>
          </a:lstStyle>
          <a:p xmlns:a="http://schemas.openxmlformats.org/drawingml/2006/main">
            <a:pPr algn="l">
              <a:buNone/>
              <a:defRPr sz="3150" b="0">
                <a:solidFill>
                  <a:srgbClr val="F6F3EA"/>
                </a:solidFill>
                <a:latin typeface="Nimbus Sans"/>
                <a:ea typeface="Nimbus Sans"/>
                <a:cs typeface="Nimbus Sans"/>
              </a:defRPr>
            </a:pPr>
            <a:r>
              <a:rPr sz="3150" b="0">
                <a:solidFill>
                  <a:srgbClr val="F6F3EA"/>
                </a:solidFill>
                <a:latin typeface="Nimbus Sans"/>
                <a:ea typeface="Nimbus Sans"/>
                <a:cs typeface="Nimbus Sans"/>
              </a:rPr>
              <a:t>Check identity, permitted scope and technical capability.</a:t>
            </a:r>
          </a:p>
        </p:txBody>
      </p:sp>
      <p:sp>
        <p:nvSpPr>
          <p:cNvPr id="7" name="">
            <a:extLst xmlns:a="http://schemas.openxmlformats.org/drawingml/2006/main">
              <a:ext uri="{FF2B5EF4-FFF2-40B4-BE49-F238E27FC236}">
                <a16:creationId xmlns:a16="http://schemas.microsoft.com/office/drawing/2014/main" id="{E2A55A10-EB0F-4A00-8AA1-ADA6E7C23400}"/>
              </a:ext>
            </a:extLst>
          </p:cNvPr>
          <p:cNvSpPr>
            <a:spLocks xmlns:a="http://schemas.openxmlformats.org/drawingml/2006/main" noGrp="1"/>
          </p:cNvSpPr>
          <p:nvPr/>
        </p:nvSpPr>
        <p:spPr>
          <a:xfrm xmlns:a="http://schemas.openxmlformats.org/drawingml/2006/main">
            <a:off x="1143000" y="5562600"/>
            <a:ext cx="16002000" cy="0"/>
          </a:xfrm>
          <a:prstGeom xmlns:a="http://schemas.openxmlformats.org/drawingml/2006/main" prst="line">
            <a:avLst/>
          </a:prstGeom>
          <a:noFill xmlns:a="http://schemas.openxmlformats.org/drawingml/2006/main"/>
          <a:ln xmlns:a="http://schemas.openxmlformats.org/drawingml/2006/main" w="19050">
            <a:solidFill>
              <a:srgbClr val="49696C"/>
            </a:solidFill>
            <a:prstDash val="solid"/>
          </a:ln>
        </p:spPr>
      </p:sp>
      <p:sp>
        <p:nvSpPr>
          <p:cNvPr id="8" name="">
            <a:extLst xmlns:a="http://schemas.openxmlformats.org/drawingml/2006/main">
              <a:ext uri="{FF2B5EF4-FFF2-40B4-BE49-F238E27FC236}">
                <a16:creationId xmlns:a16="http://schemas.microsoft.com/office/drawing/2014/main" id="{CFB7E8E5-CF9D-4C8B-98B3-FB6102276C41}"/>
              </a:ext>
            </a:extLst>
          </p:cNvPr>
          <p:cNvSpPr>
            <a:spLocks xmlns:a="http://schemas.openxmlformats.org/drawingml/2006/main" noGrp="1"/>
          </p:cNvSpPr>
          <p:nvPr/>
        </p:nvSpPr>
        <p:spPr>
          <a:xfrm xmlns:a="http://schemas.openxmlformats.org/drawingml/2006/main">
            <a:off x="1143000" y="5800725"/>
            <a:ext cx="3810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81D9C2"/>
                </a:solidFill>
                <a:latin typeface="Nimbus Sans"/>
                <a:ea typeface="Nimbus Sans"/>
                <a:cs typeface="Nimbus Sans"/>
              </a:defRPr>
            </a:defPPr>
          </a:lstStyle>
          <a:p xmlns:a="http://schemas.openxmlformats.org/drawingml/2006/main">
            <a:pPr algn="l">
              <a:buNone/>
              <a:defRPr sz="3150" b="1">
                <a:solidFill>
                  <a:srgbClr val="81D9C2"/>
                </a:solidFill>
                <a:latin typeface="Nimbus Sans"/>
                <a:ea typeface="Nimbus Sans"/>
                <a:cs typeface="Nimbus Sans"/>
              </a:defRPr>
            </a:pPr>
            <a:r>
              <a:rPr sz="3150" b="1">
                <a:solidFill>
                  <a:srgbClr val="81D9C2"/>
                </a:solidFill>
                <a:latin typeface="Nimbus Sans"/>
                <a:ea typeface="Nimbus Sans"/>
                <a:cs typeface="Nimbus Sans"/>
              </a:rPr>
              <a:t>UCC</a:t>
            </a:r>
          </a:p>
        </p:txBody>
      </p:sp>
      <p:sp>
        <p:nvSpPr>
          <p:cNvPr id="9" name="">
            <a:extLst xmlns:a="http://schemas.openxmlformats.org/drawingml/2006/main">
              <a:ext uri="{FF2B5EF4-FFF2-40B4-BE49-F238E27FC236}">
                <a16:creationId xmlns:a16="http://schemas.microsoft.com/office/drawing/2014/main" id="{83A5CCDC-5DCB-4449-9E98-975E39F7B561}"/>
              </a:ext>
            </a:extLst>
          </p:cNvPr>
          <p:cNvSpPr>
            <a:spLocks xmlns:a="http://schemas.openxmlformats.org/drawingml/2006/main" noGrp="1"/>
          </p:cNvSpPr>
          <p:nvPr/>
        </p:nvSpPr>
        <p:spPr>
          <a:xfrm xmlns:a="http://schemas.openxmlformats.org/drawingml/2006/main">
            <a:off x="5238750" y="5800725"/>
            <a:ext cx="11906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F6F3EA"/>
                </a:solidFill>
                <a:latin typeface="Nimbus Sans"/>
                <a:ea typeface="Nimbus Sans"/>
                <a:cs typeface="Nimbus Sans"/>
              </a:defRPr>
            </a:defPPr>
          </a:lstStyle>
          <a:p xmlns:a="http://schemas.openxmlformats.org/drawingml/2006/main">
            <a:pPr algn="l">
              <a:buNone/>
              <a:defRPr sz="3150" b="0">
                <a:solidFill>
                  <a:srgbClr val="F6F3EA"/>
                </a:solidFill>
                <a:latin typeface="Nimbus Sans"/>
                <a:ea typeface="Nimbus Sans"/>
                <a:cs typeface="Nimbus Sans"/>
              </a:defRPr>
            </a:pPr>
            <a:r>
              <a:rPr sz="3150" b="0">
                <a:solidFill>
                  <a:srgbClr val="F6F3EA"/>
                </a:solidFill>
                <a:latin typeface="Nimbus Sans"/>
                <a:ea typeface="Nimbus Sans"/>
                <a:cs typeface="Nimbus Sans"/>
              </a:rPr>
              <a:t>Retain the selected rules, sources and effective versions.</a:t>
            </a:r>
          </a:p>
        </p:txBody>
      </p:sp>
      <p:sp>
        <p:nvSpPr>
          <p:cNvPr id="10" name="">
            <a:extLst xmlns:a="http://schemas.openxmlformats.org/drawingml/2006/main">
              <a:ext uri="{FF2B5EF4-FFF2-40B4-BE49-F238E27FC236}">
                <a16:creationId xmlns:a16="http://schemas.microsoft.com/office/drawing/2014/main" id="{481A7D83-0EB8-42EE-8BB7-BD411B8FDABA}"/>
              </a:ext>
            </a:extLst>
          </p:cNvPr>
          <p:cNvSpPr>
            <a:spLocks xmlns:a="http://schemas.openxmlformats.org/drawingml/2006/main" noGrp="1"/>
          </p:cNvSpPr>
          <p:nvPr/>
        </p:nvSpPr>
        <p:spPr>
          <a:xfrm xmlns:a="http://schemas.openxmlformats.org/drawingml/2006/main">
            <a:off x="1143000" y="6915150"/>
            <a:ext cx="16002000" cy="0"/>
          </a:xfrm>
          <a:prstGeom xmlns:a="http://schemas.openxmlformats.org/drawingml/2006/main" prst="line">
            <a:avLst/>
          </a:prstGeom>
          <a:noFill xmlns:a="http://schemas.openxmlformats.org/drawingml/2006/main"/>
          <a:ln xmlns:a="http://schemas.openxmlformats.org/drawingml/2006/main" w="19050">
            <a:solidFill>
              <a:srgbClr val="49696C"/>
            </a:solidFill>
            <a:prstDash val="solid"/>
          </a:ln>
        </p:spPr>
      </p:sp>
      <p:sp>
        <p:nvSpPr>
          <p:cNvPr id="11" name="">
            <a:extLst xmlns:a="http://schemas.openxmlformats.org/drawingml/2006/main">
              <a:ext uri="{FF2B5EF4-FFF2-40B4-BE49-F238E27FC236}">
                <a16:creationId xmlns:a16="http://schemas.microsoft.com/office/drawing/2014/main" id="{A9D828F0-D1AC-4013-AC8B-62728E8F462E}"/>
              </a:ext>
            </a:extLst>
          </p:cNvPr>
          <p:cNvSpPr>
            <a:spLocks xmlns:a="http://schemas.openxmlformats.org/drawingml/2006/main" noGrp="1"/>
          </p:cNvSpPr>
          <p:nvPr/>
        </p:nvSpPr>
        <p:spPr>
          <a:xfrm xmlns:a="http://schemas.openxmlformats.org/drawingml/2006/main">
            <a:off x="1143000" y="7153275"/>
            <a:ext cx="3810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81D9C2"/>
                </a:solidFill>
                <a:latin typeface="Nimbus Sans"/>
                <a:ea typeface="Nimbus Sans"/>
                <a:cs typeface="Nimbus Sans"/>
              </a:defRPr>
            </a:defPPr>
          </a:lstStyle>
          <a:p xmlns:a="http://schemas.openxmlformats.org/drawingml/2006/main">
            <a:pPr algn="l">
              <a:buNone/>
              <a:defRPr sz="3150" b="1">
                <a:solidFill>
                  <a:srgbClr val="81D9C2"/>
                </a:solidFill>
                <a:latin typeface="Nimbus Sans"/>
                <a:ea typeface="Nimbus Sans"/>
                <a:cs typeface="Nimbus Sans"/>
              </a:defRPr>
            </a:pPr>
            <a:r>
              <a:rPr sz="3150" b="1">
                <a:solidFill>
                  <a:srgbClr val="81D9C2"/>
                </a:solidFill>
                <a:latin typeface="Nimbus Sans"/>
                <a:ea typeface="Nimbus Sans"/>
                <a:cs typeface="Nimbus Sans"/>
              </a:rPr>
              <a:t>CoherenceLattice</a:t>
            </a:r>
          </a:p>
        </p:txBody>
      </p:sp>
      <p:sp>
        <p:nvSpPr>
          <p:cNvPr id="12" name="">
            <a:extLst xmlns:a="http://schemas.openxmlformats.org/drawingml/2006/main">
              <a:ext uri="{FF2B5EF4-FFF2-40B4-BE49-F238E27FC236}">
                <a16:creationId xmlns:a16="http://schemas.microsoft.com/office/drawing/2014/main" id="{9918D375-0D34-494E-AF00-FF6D483A555E}"/>
              </a:ext>
            </a:extLst>
          </p:cNvPr>
          <p:cNvSpPr>
            <a:spLocks xmlns:a="http://schemas.openxmlformats.org/drawingml/2006/main" noGrp="1"/>
          </p:cNvSpPr>
          <p:nvPr/>
        </p:nvSpPr>
        <p:spPr>
          <a:xfrm xmlns:a="http://schemas.openxmlformats.org/drawingml/2006/main">
            <a:off x="5238750" y="7153275"/>
            <a:ext cx="11906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F6F3EA"/>
                </a:solidFill>
                <a:latin typeface="Nimbus Sans"/>
                <a:ea typeface="Nimbus Sans"/>
                <a:cs typeface="Nimbus Sans"/>
              </a:defRPr>
            </a:defPPr>
          </a:lstStyle>
          <a:p xmlns:a="http://schemas.openxmlformats.org/drawingml/2006/main">
            <a:pPr algn="l">
              <a:buNone/>
              <a:defRPr sz="3150" b="0">
                <a:solidFill>
                  <a:srgbClr val="F6F3EA"/>
                </a:solidFill>
                <a:latin typeface="Nimbus Sans"/>
                <a:ea typeface="Nimbus Sans"/>
                <a:cs typeface="Nimbus Sans"/>
              </a:defRPr>
            </a:pPr>
            <a:r>
              <a:rPr sz="3150" b="0">
                <a:solidFill>
                  <a:srgbClr val="F6F3EA"/>
                </a:solidFill>
                <a:latin typeface="Nimbus Sans"/>
                <a:ea typeface="Nimbus Sans"/>
                <a:cs typeface="Nimbus Sans"/>
              </a:rPr>
              <a:t>Relate evidence, claims, alternatives and dependencies.</a:t>
            </a:r>
          </a:p>
        </p:txBody>
      </p:sp>
      <p:sp>
        <p:nvSpPr>
          <p:cNvPr id="13" name="">
            <a:extLst xmlns:a="http://schemas.openxmlformats.org/drawingml/2006/main">
              <a:ext uri="{FF2B5EF4-FFF2-40B4-BE49-F238E27FC236}">
                <a16:creationId xmlns:a16="http://schemas.microsoft.com/office/drawing/2014/main" id="{1571FDEC-86C9-4838-9191-59255C1ABA0F}"/>
              </a:ext>
            </a:extLst>
          </p:cNvPr>
          <p:cNvSpPr>
            <a:spLocks xmlns:a="http://schemas.openxmlformats.org/drawingml/2006/main" noGrp="1"/>
          </p:cNvSpPr>
          <p:nvPr/>
        </p:nvSpPr>
        <p:spPr>
          <a:xfrm xmlns:a="http://schemas.openxmlformats.org/drawingml/2006/main">
            <a:off x="1143000" y="9048750"/>
            <a:ext cx="1581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BDD0D0"/>
                </a:solidFill>
                <a:latin typeface="Nimbus Sans"/>
                <a:ea typeface="Nimbus Sans"/>
                <a:cs typeface="Nimbus Sans"/>
              </a:defRPr>
            </a:defPPr>
          </a:lstStyle>
          <a:p xmlns:a="http://schemas.openxmlformats.org/drawingml/2006/main">
            <a:pPr algn="l">
              <a:buNone/>
              <a:defRPr sz="2175" b="0">
                <a:solidFill>
                  <a:srgbClr val="BDD0D0"/>
                </a:solidFill>
                <a:latin typeface="Nimbus Sans"/>
                <a:ea typeface="Nimbus Sans"/>
                <a:cs typeface="Nimbus Sans"/>
              </a:defRPr>
            </a:pPr>
            <a:r>
              <a:rPr sz="2175" b="0">
                <a:solidFill>
                  <a:srgbClr val="BDD0D0"/>
                </a:solidFill>
                <a:latin typeface="Nimbus Sans"/>
                <a:ea typeface="Nimbus Sans"/>
                <a:cs typeface="Nimbus Sans"/>
              </a:rPr>
              <a:t>Generated content cannot activate its own rules or grant itself access.</a:t>
            </a:r>
          </a:p>
        </p:txBody>
      </p:sp>
    </p:spTree>
    <p:extLst>
      <p:ext uri="{BB962C8B-B14F-4D97-AF65-F5344CB8AC3E}">
        <p14:creationId xmlns:p14="http://schemas.microsoft.com/office/powerpoint/2010/main" val="1825639080"/>
      </p:ext>
    </p:extLst>
  </p:cSld>
</p:sld>
</file>

<file path=ppt/slides/slide4.xml><?xml version="1.0" encoding="utf-8"?>
<p:sld xmlns:p="http://schemas.openxmlformats.org/presentationml/2006/main">
  <p:cSld>
    <p:bg>
      <p:bgPr>
        <a:solidFill xmlns:a="http://schemas.openxmlformats.org/drawingml/2006/main">
          <a:srgbClr val="11293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F23569C-5E2B-4B30-B642-CFD7435E1B63}"/>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6F3EA"/>
                </a:solidFill>
                <a:latin typeface="Nimbus Sans"/>
                <a:ea typeface="Nimbus Sans"/>
                <a:cs typeface="Nimbus Sans"/>
              </a:defRPr>
            </a:defPPr>
          </a:lstStyle>
          <a:p xmlns:a="http://schemas.openxmlformats.org/drawingml/2006/main">
            <a:pPr algn="l">
              <a:buNone/>
              <a:defRPr sz="5700" b="1">
                <a:solidFill>
                  <a:srgbClr val="F6F3EA"/>
                </a:solidFill>
                <a:latin typeface="Nimbus Sans"/>
                <a:ea typeface="Nimbus Sans"/>
                <a:cs typeface="Nimbus Sans"/>
              </a:defRPr>
            </a:pPr>
            <a:r>
              <a:rPr sz="5700" b="1">
                <a:solidFill>
                  <a:srgbClr val="F6F3EA"/>
                </a:solidFill>
                <a:latin typeface="Nimbus Sans"/>
                <a:ea typeface="Nimbus Sans"/>
                <a:cs typeface="Nimbus Sans"/>
              </a:rPr>
              <a:t>Continuity and memory</a:t>
            </a:r>
          </a:p>
        </p:txBody>
      </p:sp>
      <p:sp>
        <p:nvSpPr>
          <p:cNvPr id="2" name="">
            <a:extLst xmlns:a="http://schemas.openxmlformats.org/drawingml/2006/main">
              <a:ext uri="{FF2B5EF4-FFF2-40B4-BE49-F238E27FC236}">
                <a16:creationId xmlns:a16="http://schemas.microsoft.com/office/drawing/2014/main" id="{CC38BF7C-917B-4B3F-BE03-2B6C2042F382}"/>
              </a:ext>
            </a:extLst>
          </p:cNvPr>
          <p:cNvSpPr>
            <a:spLocks xmlns:a="http://schemas.openxmlformats.org/drawingml/2006/main" noGrp="1"/>
          </p:cNvSpPr>
          <p:nvPr/>
        </p:nvSpPr>
        <p:spPr>
          <a:xfrm xmlns:a="http://schemas.openxmlformats.org/drawingml/2006/main">
            <a:off x="1143000" y="3095625"/>
            <a:ext cx="3810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81D9C2"/>
                </a:solidFill>
                <a:latin typeface="Nimbus Sans"/>
                <a:ea typeface="Nimbus Sans"/>
                <a:cs typeface="Nimbus Sans"/>
              </a:defRPr>
            </a:defPPr>
          </a:lstStyle>
          <a:p xmlns:a="http://schemas.openxmlformats.org/drawingml/2006/main">
            <a:pPr algn="l">
              <a:buNone/>
              <a:defRPr sz="3300" b="1">
                <a:solidFill>
                  <a:srgbClr val="81D9C2"/>
                </a:solidFill>
                <a:latin typeface="Nimbus Sans"/>
                <a:ea typeface="Nimbus Sans"/>
                <a:cs typeface="Nimbus Sans"/>
              </a:defRPr>
            </a:pPr>
            <a:r>
              <a:rPr sz="3300" b="1">
                <a:solidFill>
                  <a:srgbClr val="81D9C2"/>
                </a:solidFill>
                <a:latin typeface="Nimbus Sans"/>
                <a:ea typeface="Nimbus Sans"/>
                <a:cs typeface="Nimbus Sans"/>
              </a:rPr>
              <a:t>Custody</a:t>
            </a:r>
          </a:p>
        </p:txBody>
      </p:sp>
      <p:sp>
        <p:nvSpPr>
          <p:cNvPr id="3" name="">
            <a:extLst xmlns:a="http://schemas.openxmlformats.org/drawingml/2006/main">
              <a:ext uri="{FF2B5EF4-FFF2-40B4-BE49-F238E27FC236}">
                <a16:creationId xmlns:a16="http://schemas.microsoft.com/office/drawing/2014/main" id="{5A6B320A-077F-4278-85FA-7775007B84BC}"/>
              </a:ext>
            </a:extLst>
          </p:cNvPr>
          <p:cNvSpPr>
            <a:spLocks xmlns:a="http://schemas.openxmlformats.org/drawingml/2006/main" noGrp="1"/>
          </p:cNvSpPr>
          <p:nvPr/>
        </p:nvSpPr>
        <p:spPr>
          <a:xfrm xmlns:a="http://schemas.openxmlformats.org/drawingml/2006/main">
            <a:off x="5238750" y="3095625"/>
            <a:ext cx="11906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F6F3EA"/>
                </a:solidFill>
                <a:latin typeface="Nimbus Sans"/>
                <a:ea typeface="Nimbus Sans"/>
                <a:cs typeface="Nimbus Sans"/>
              </a:defRPr>
            </a:defPPr>
          </a:lstStyle>
          <a:p xmlns:a="http://schemas.openxmlformats.org/drawingml/2006/main">
            <a:pPr algn="l">
              <a:buNone/>
              <a:defRPr sz="3300" b="0">
                <a:solidFill>
                  <a:srgbClr val="F6F3EA"/>
                </a:solidFill>
                <a:latin typeface="Nimbus Sans"/>
                <a:ea typeface="Nimbus Sans"/>
                <a:cs typeface="Nimbus Sans"/>
              </a:defRPr>
            </a:pPr>
            <a:r>
              <a:rPr sz="3300" b="0">
                <a:solidFill>
                  <a:srgbClr val="F6F3EA"/>
                </a:solidFill>
                <a:latin typeface="Nimbus Sans"/>
                <a:ea typeface="Nimbus Sans"/>
                <a:cs typeface="Nimbus Sans"/>
              </a:rPr>
              <a:t>Preserve actual attempts, events and evidence.</a:t>
            </a:r>
          </a:p>
        </p:txBody>
      </p:sp>
      <p:sp>
        <p:nvSpPr>
          <p:cNvPr id="4" name="">
            <a:extLst xmlns:a="http://schemas.openxmlformats.org/drawingml/2006/main">
              <a:ext uri="{FF2B5EF4-FFF2-40B4-BE49-F238E27FC236}">
                <a16:creationId xmlns:a16="http://schemas.microsoft.com/office/drawing/2014/main" id="{4447D71F-E420-41C8-AE57-725BE828ED4C}"/>
              </a:ext>
            </a:extLst>
          </p:cNvPr>
          <p:cNvSpPr>
            <a:spLocks xmlns:a="http://schemas.openxmlformats.org/drawingml/2006/main" noGrp="1"/>
          </p:cNvSpPr>
          <p:nvPr/>
        </p:nvSpPr>
        <p:spPr>
          <a:xfrm xmlns:a="http://schemas.openxmlformats.org/drawingml/2006/main">
            <a:off x="1143000" y="4210050"/>
            <a:ext cx="16002000" cy="0"/>
          </a:xfrm>
          <a:prstGeom xmlns:a="http://schemas.openxmlformats.org/drawingml/2006/main" prst="line">
            <a:avLst/>
          </a:prstGeom>
          <a:noFill xmlns:a="http://schemas.openxmlformats.org/drawingml/2006/main"/>
          <a:ln xmlns:a="http://schemas.openxmlformats.org/drawingml/2006/main" w="19050">
            <a:solidFill>
              <a:srgbClr val="49696C"/>
            </a:solidFill>
            <a:prstDash val="solid"/>
          </a:ln>
        </p:spPr>
      </p:sp>
      <p:sp>
        <p:nvSpPr>
          <p:cNvPr id="5" name="">
            <a:extLst xmlns:a="http://schemas.openxmlformats.org/drawingml/2006/main">
              <a:ext uri="{FF2B5EF4-FFF2-40B4-BE49-F238E27FC236}">
                <a16:creationId xmlns:a16="http://schemas.microsoft.com/office/drawing/2014/main" id="{A42C3523-596A-4AA3-B9B4-E63E0695DE4B}"/>
              </a:ext>
            </a:extLst>
          </p:cNvPr>
          <p:cNvSpPr>
            <a:spLocks xmlns:a="http://schemas.openxmlformats.org/drawingml/2006/main" noGrp="1"/>
          </p:cNvSpPr>
          <p:nvPr/>
        </p:nvSpPr>
        <p:spPr>
          <a:xfrm xmlns:a="http://schemas.openxmlformats.org/drawingml/2006/main">
            <a:off x="1143000" y="4448175"/>
            <a:ext cx="3810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81D9C2"/>
                </a:solidFill>
                <a:latin typeface="Nimbus Sans"/>
                <a:ea typeface="Nimbus Sans"/>
                <a:cs typeface="Nimbus Sans"/>
              </a:defRPr>
            </a:defPPr>
          </a:lstStyle>
          <a:p xmlns:a="http://schemas.openxmlformats.org/drawingml/2006/main">
            <a:pPr algn="l">
              <a:buNone/>
              <a:defRPr sz="3300" b="1">
                <a:solidFill>
                  <a:srgbClr val="81D9C2"/>
                </a:solidFill>
                <a:latin typeface="Nimbus Sans"/>
                <a:ea typeface="Nimbus Sans"/>
                <a:cs typeface="Nimbus Sans"/>
              </a:defRPr>
            </a:pPr>
            <a:r>
              <a:rPr sz="3300" b="1">
                <a:solidFill>
                  <a:srgbClr val="81D9C2"/>
                </a:solidFill>
                <a:latin typeface="Nimbus Sans"/>
                <a:ea typeface="Nimbus Sans"/>
                <a:cs typeface="Nimbus Sans"/>
              </a:rPr>
              <a:t>TEL</a:t>
            </a:r>
          </a:p>
        </p:txBody>
      </p:sp>
      <p:sp>
        <p:nvSpPr>
          <p:cNvPr id="6" name="">
            <a:extLst xmlns:a="http://schemas.openxmlformats.org/drawingml/2006/main">
              <a:ext uri="{FF2B5EF4-FFF2-40B4-BE49-F238E27FC236}">
                <a16:creationId xmlns:a16="http://schemas.microsoft.com/office/drawing/2014/main" id="{F73A3153-F18E-442A-9CA1-37AD3DF5EBA8}"/>
              </a:ext>
            </a:extLst>
          </p:cNvPr>
          <p:cNvSpPr>
            <a:spLocks xmlns:a="http://schemas.openxmlformats.org/drawingml/2006/main" noGrp="1"/>
          </p:cNvSpPr>
          <p:nvPr/>
        </p:nvSpPr>
        <p:spPr>
          <a:xfrm xmlns:a="http://schemas.openxmlformats.org/drawingml/2006/main">
            <a:off x="5238750" y="4448175"/>
            <a:ext cx="11906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F6F3EA"/>
                </a:solidFill>
                <a:latin typeface="Nimbus Sans"/>
                <a:ea typeface="Nimbus Sans"/>
                <a:cs typeface="Nimbus Sans"/>
              </a:defRPr>
            </a:defPPr>
          </a:lstStyle>
          <a:p xmlns:a="http://schemas.openxmlformats.org/drawingml/2006/main">
            <a:pPr algn="l">
              <a:buNone/>
              <a:defRPr sz="3300" b="0">
                <a:solidFill>
                  <a:srgbClr val="F6F3EA"/>
                </a:solidFill>
                <a:latin typeface="Nimbus Sans"/>
                <a:ea typeface="Nimbus Sans"/>
                <a:cs typeface="Nimbus Sans"/>
              </a:defRPr>
            </a:pPr>
            <a:r>
              <a:rPr sz="3300" b="0">
                <a:solidFill>
                  <a:srgbClr val="F6F3EA"/>
                </a:solidFill>
                <a:latin typeface="Nimbus Sans"/>
                <a:ea typeface="Nimbus Sans"/>
                <a:cs typeface="Nimbus Sans"/>
              </a:rPr>
              <a:t>Connect performed stages and corrections for inspection.</a:t>
            </a:r>
          </a:p>
        </p:txBody>
      </p:sp>
      <p:sp>
        <p:nvSpPr>
          <p:cNvPr id="7" name="">
            <a:extLst xmlns:a="http://schemas.openxmlformats.org/drawingml/2006/main">
              <a:ext uri="{FF2B5EF4-FFF2-40B4-BE49-F238E27FC236}">
                <a16:creationId xmlns:a16="http://schemas.microsoft.com/office/drawing/2014/main" id="{E4A15B9B-E6F0-4B62-A06A-AFA06FF2FC2E}"/>
              </a:ext>
            </a:extLst>
          </p:cNvPr>
          <p:cNvSpPr>
            <a:spLocks xmlns:a="http://schemas.openxmlformats.org/drawingml/2006/main" noGrp="1"/>
          </p:cNvSpPr>
          <p:nvPr/>
        </p:nvSpPr>
        <p:spPr>
          <a:xfrm xmlns:a="http://schemas.openxmlformats.org/drawingml/2006/main">
            <a:off x="1143000" y="5562600"/>
            <a:ext cx="16002000" cy="0"/>
          </a:xfrm>
          <a:prstGeom xmlns:a="http://schemas.openxmlformats.org/drawingml/2006/main" prst="line">
            <a:avLst/>
          </a:prstGeom>
          <a:noFill xmlns:a="http://schemas.openxmlformats.org/drawingml/2006/main"/>
          <a:ln xmlns:a="http://schemas.openxmlformats.org/drawingml/2006/main" w="19050">
            <a:solidFill>
              <a:srgbClr val="49696C"/>
            </a:solidFill>
            <a:prstDash val="solid"/>
          </a:ln>
        </p:spPr>
      </p:sp>
      <p:sp>
        <p:nvSpPr>
          <p:cNvPr id="8" name="">
            <a:extLst xmlns:a="http://schemas.openxmlformats.org/drawingml/2006/main">
              <a:ext uri="{FF2B5EF4-FFF2-40B4-BE49-F238E27FC236}">
                <a16:creationId xmlns:a16="http://schemas.microsoft.com/office/drawing/2014/main" id="{68F83909-2575-46C8-B78C-B307AF726ED0}"/>
              </a:ext>
            </a:extLst>
          </p:cNvPr>
          <p:cNvSpPr>
            <a:spLocks xmlns:a="http://schemas.openxmlformats.org/drawingml/2006/main" noGrp="1"/>
          </p:cNvSpPr>
          <p:nvPr/>
        </p:nvSpPr>
        <p:spPr>
          <a:xfrm xmlns:a="http://schemas.openxmlformats.org/drawingml/2006/main">
            <a:off x="1143000" y="5800725"/>
            <a:ext cx="3810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81D9C2"/>
                </a:solidFill>
                <a:latin typeface="Nimbus Sans"/>
                <a:ea typeface="Nimbus Sans"/>
                <a:cs typeface="Nimbus Sans"/>
              </a:defRPr>
            </a:defPPr>
          </a:lstStyle>
          <a:p xmlns:a="http://schemas.openxmlformats.org/drawingml/2006/main">
            <a:pPr algn="l">
              <a:buNone/>
              <a:defRPr sz="3300" b="1">
                <a:solidFill>
                  <a:srgbClr val="81D9C2"/>
                </a:solidFill>
                <a:latin typeface="Nimbus Sans"/>
                <a:ea typeface="Nimbus Sans"/>
                <a:cs typeface="Nimbus Sans"/>
              </a:defRPr>
            </a:pPr>
            <a:r>
              <a:rPr sz="3300" b="1">
                <a:solidFill>
                  <a:srgbClr val="81D9C2"/>
                </a:solidFill>
                <a:latin typeface="Nimbus Sans"/>
                <a:ea typeface="Nimbus Sans"/>
                <a:cs typeface="Nimbus Sans"/>
              </a:rPr>
              <a:t>PMR</a:t>
            </a:r>
          </a:p>
        </p:txBody>
      </p:sp>
      <p:sp>
        <p:nvSpPr>
          <p:cNvPr id="9" name="">
            <a:extLst xmlns:a="http://schemas.openxmlformats.org/drawingml/2006/main">
              <a:ext uri="{FF2B5EF4-FFF2-40B4-BE49-F238E27FC236}">
                <a16:creationId xmlns:a16="http://schemas.microsoft.com/office/drawing/2014/main" id="{5A4764A8-43BA-4F61-866C-CC95F52A6397}"/>
              </a:ext>
            </a:extLst>
          </p:cNvPr>
          <p:cNvSpPr>
            <a:spLocks xmlns:a="http://schemas.openxmlformats.org/drawingml/2006/main" noGrp="1"/>
          </p:cNvSpPr>
          <p:nvPr/>
        </p:nvSpPr>
        <p:spPr>
          <a:xfrm xmlns:a="http://schemas.openxmlformats.org/drawingml/2006/main">
            <a:off x="5238750" y="5800725"/>
            <a:ext cx="11906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F6F3EA"/>
                </a:solidFill>
                <a:latin typeface="Nimbus Sans"/>
                <a:ea typeface="Nimbus Sans"/>
                <a:cs typeface="Nimbus Sans"/>
              </a:defRPr>
            </a:defPPr>
          </a:lstStyle>
          <a:p xmlns:a="http://schemas.openxmlformats.org/drawingml/2006/main">
            <a:pPr algn="l">
              <a:buNone/>
              <a:defRPr sz="3300" b="0">
                <a:solidFill>
                  <a:srgbClr val="F6F3EA"/>
                </a:solidFill>
                <a:latin typeface="Nimbus Sans"/>
                <a:ea typeface="Nimbus Sans"/>
                <a:cs typeface="Nimbus Sans"/>
              </a:defRPr>
            </a:pPr>
            <a:r>
              <a:rPr sz="3300" b="0">
                <a:solidFill>
                  <a:srgbClr val="F6F3EA"/>
                </a:solidFill>
                <a:latin typeface="Nimbus Sans"/>
                <a:ea typeface="Nimbus Sans"/>
                <a:cs typeface="Nimbus Sans"/>
              </a:rPr>
              <a:t>Retain material for separately permitted future reuse.</a:t>
            </a:r>
          </a:p>
        </p:txBody>
      </p:sp>
      <p:sp>
        <p:nvSpPr>
          <p:cNvPr id="10" name="">
            <a:extLst xmlns:a="http://schemas.openxmlformats.org/drawingml/2006/main">
              <a:ext uri="{FF2B5EF4-FFF2-40B4-BE49-F238E27FC236}">
                <a16:creationId xmlns:a16="http://schemas.microsoft.com/office/drawing/2014/main" id="{964E1B1D-26EF-470C-B080-43A2B5EED655}"/>
              </a:ext>
            </a:extLst>
          </p:cNvPr>
          <p:cNvSpPr>
            <a:spLocks xmlns:a="http://schemas.openxmlformats.org/drawingml/2006/main" noGrp="1"/>
          </p:cNvSpPr>
          <p:nvPr/>
        </p:nvSpPr>
        <p:spPr>
          <a:xfrm xmlns:a="http://schemas.openxmlformats.org/drawingml/2006/main">
            <a:off x="1143000" y="6915150"/>
            <a:ext cx="16002000" cy="0"/>
          </a:xfrm>
          <a:prstGeom xmlns:a="http://schemas.openxmlformats.org/drawingml/2006/main" prst="line">
            <a:avLst/>
          </a:prstGeom>
          <a:noFill xmlns:a="http://schemas.openxmlformats.org/drawingml/2006/main"/>
          <a:ln xmlns:a="http://schemas.openxmlformats.org/drawingml/2006/main" w="19050">
            <a:solidFill>
              <a:srgbClr val="49696C"/>
            </a:solidFill>
            <a:prstDash val="solid"/>
          </a:ln>
        </p:spPr>
      </p:sp>
      <p:sp>
        <p:nvSpPr>
          <p:cNvPr id="11" name="">
            <a:extLst xmlns:a="http://schemas.openxmlformats.org/drawingml/2006/main">
              <a:ext uri="{FF2B5EF4-FFF2-40B4-BE49-F238E27FC236}">
                <a16:creationId xmlns:a16="http://schemas.microsoft.com/office/drawing/2014/main" id="{97941E27-48E9-482A-9A50-780D25E18AB4}"/>
              </a:ext>
            </a:extLst>
          </p:cNvPr>
          <p:cNvSpPr>
            <a:spLocks xmlns:a="http://schemas.openxmlformats.org/drawingml/2006/main" noGrp="1"/>
          </p:cNvSpPr>
          <p:nvPr/>
        </p:nvSpPr>
        <p:spPr>
          <a:xfrm xmlns:a="http://schemas.openxmlformats.org/drawingml/2006/main">
            <a:off x="1143000" y="7153275"/>
            <a:ext cx="3810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81D9C2"/>
                </a:solidFill>
                <a:latin typeface="Nimbus Sans"/>
                <a:ea typeface="Nimbus Sans"/>
                <a:cs typeface="Nimbus Sans"/>
              </a:defRPr>
            </a:defPPr>
          </a:lstStyle>
          <a:p xmlns:a="http://schemas.openxmlformats.org/drawingml/2006/main">
            <a:pPr algn="l">
              <a:buNone/>
              <a:defRPr sz="3300" b="1">
                <a:solidFill>
                  <a:srgbClr val="81D9C2"/>
                </a:solidFill>
                <a:latin typeface="Nimbus Sans"/>
                <a:ea typeface="Nimbus Sans"/>
                <a:cs typeface="Nimbus Sans"/>
              </a:defRPr>
            </a:pPr>
            <a:r>
              <a:rPr sz="3300" b="1">
                <a:solidFill>
                  <a:srgbClr val="81D9C2"/>
                </a:solidFill>
                <a:latin typeface="Nimbus Sans"/>
                <a:ea typeface="Nimbus Sans"/>
                <a:cs typeface="Nimbus Sans"/>
              </a:rPr>
              <a:t>Atlas</a:t>
            </a:r>
          </a:p>
        </p:txBody>
      </p:sp>
      <p:sp>
        <p:nvSpPr>
          <p:cNvPr id="12" name="">
            <a:extLst xmlns:a="http://schemas.openxmlformats.org/drawingml/2006/main">
              <a:ext uri="{FF2B5EF4-FFF2-40B4-BE49-F238E27FC236}">
                <a16:creationId xmlns:a16="http://schemas.microsoft.com/office/drawing/2014/main" id="{188AAA50-ED52-4BB3-A554-11322212A5CA}"/>
              </a:ext>
            </a:extLst>
          </p:cNvPr>
          <p:cNvSpPr>
            <a:spLocks xmlns:a="http://schemas.openxmlformats.org/drawingml/2006/main" noGrp="1"/>
          </p:cNvSpPr>
          <p:nvPr/>
        </p:nvSpPr>
        <p:spPr>
          <a:xfrm xmlns:a="http://schemas.openxmlformats.org/drawingml/2006/main">
            <a:off x="5238750" y="7153275"/>
            <a:ext cx="11906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F6F3EA"/>
                </a:solidFill>
                <a:latin typeface="Nimbus Sans"/>
                <a:ea typeface="Nimbus Sans"/>
                <a:cs typeface="Nimbus Sans"/>
              </a:defRPr>
            </a:defPPr>
          </a:lstStyle>
          <a:p xmlns:a="http://schemas.openxmlformats.org/drawingml/2006/main">
            <a:pPr algn="l">
              <a:buNone/>
              <a:defRPr sz="3300" b="0">
                <a:solidFill>
                  <a:srgbClr val="F6F3EA"/>
                </a:solidFill>
                <a:latin typeface="Nimbus Sans"/>
                <a:ea typeface="Nimbus Sans"/>
                <a:cs typeface="Nimbus Sans"/>
              </a:defRPr>
            </a:pPr>
            <a:r>
              <a:rPr sz="3300" b="0">
                <a:solidFill>
                  <a:srgbClr val="F6F3EA"/>
                </a:solidFill>
                <a:latin typeface="Nimbus Sans"/>
                <a:ea typeface="Nimbus Sans"/>
                <a:cs typeface="Nimbus Sans"/>
              </a:rPr>
              <a:t>Explain how new evidence changes an earlier position.</a:t>
            </a:r>
          </a:p>
        </p:txBody>
      </p:sp>
      <p:sp>
        <p:nvSpPr>
          <p:cNvPr id="13" name="">
            <a:extLst xmlns:a="http://schemas.openxmlformats.org/drawingml/2006/main">
              <a:ext uri="{FF2B5EF4-FFF2-40B4-BE49-F238E27FC236}">
                <a16:creationId xmlns:a16="http://schemas.microsoft.com/office/drawing/2014/main" id="{3F5DF81C-7C84-4C6A-BE69-3B4410812043}"/>
              </a:ext>
            </a:extLst>
          </p:cNvPr>
          <p:cNvSpPr>
            <a:spLocks xmlns:a="http://schemas.openxmlformats.org/drawingml/2006/main" noGrp="1"/>
          </p:cNvSpPr>
          <p:nvPr/>
        </p:nvSpPr>
        <p:spPr>
          <a:xfrm xmlns:a="http://schemas.openxmlformats.org/drawingml/2006/main">
            <a:off x="1143000" y="9048750"/>
            <a:ext cx="1581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BDD0D0"/>
                </a:solidFill>
                <a:latin typeface="Nimbus Sans"/>
                <a:ea typeface="Nimbus Sans"/>
                <a:cs typeface="Nimbus Sans"/>
              </a:defRPr>
            </a:defPPr>
          </a:lstStyle>
          <a:p xmlns:a="http://schemas.openxmlformats.org/drawingml/2006/main">
            <a:pPr algn="l">
              <a:buNone/>
              <a:defRPr sz="2175" b="0">
                <a:solidFill>
                  <a:srgbClr val="BDD0D0"/>
                </a:solidFill>
                <a:latin typeface="Nimbus Sans"/>
                <a:ea typeface="Nimbus Sans"/>
                <a:cs typeface="Nimbus Sans"/>
              </a:defRPr>
            </a:pPr>
            <a:r>
              <a:rPr sz="2175" b="0">
                <a:solidFill>
                  <a:srgbClr val="BDD0D0"/>
                </a:solidFill>
                <a:latin typeface="Nimbus Sans"/>
                <a:ea typeface="Nimbus Sans"/>
                <a:cs typeface="Nimbus Sans"/>
              </a:rPr>
              <a:t>A retained record can faithfully preserve an incorrect claim.</a:t>
            </a:r>
          </a:p>
        </p:txBody>
      </p:sp>
    </p:spTree>
    <p:extLst>
      <p:ext uri="{BB962C8B-B14F-4D97-AF65-F5344CB8AC3E}">
        <p14:creationId xmlns:p14="http://schemas.microsoft.com/office/powerpoint/2010/main" val="2079814450"/>
      </p:ext>
    </p:extLst>
  </p:cSld>
</p:sld>
</file>

<file path=ppt/slides/slide5.xml><?xml version="1.0" encoding="utf-8"?>
<p:sld xmlns:p="http://schemas.openxmlformats.org/presentationml/2006/main">
  <p:cSld>
    <p:bg>
      <p:bgPr>
        <a:solidFill xmlns:a="http://schemas.openxmlformats.org/drawingml/2006/main">
          <a:srgbClr val="11293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DAB39B9-EE78-42D0-AB22-634AB6CE25FD}"/>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6F3EA"/>
                </a:solidFill>
                <a:latin typeface="Nimbus Sans"/>
                <a:ea typeface="Nimbus Sans"/>
                <a:cs typeface="Nimbus Sans"/>
              </a:defRPr>
            </a:defPPr>
          </a:lstStyle>
          <a:p xmlns:a="http://schemas.openxmlformats.org/drawingml/2006/main">
            <a:pPr algn="l">
              <a:buNone/>
              <a:defRPr sz="5700" b="1">
                <a:solidFill>
                  <a:srgbClr val="F6F3EA"/>
                </a:solidFill>
                <a:latin typeface="Nimbus Sans"/>
                <a:ea typeface="Nimbus Sans"/>
                <a:cs typeface="Nimbus Sans"/>
              </a:defRPr>
            </a:pPr>
            <a:r>
              <a:rPr sz="5700" b="1">
                <a:solidFill>
                  <a:srgbClr val="F6F3EA"/>
                </a:solidFill>
                <a:latin typeface="Nimbus Sans"/>
                <a:ea typeface="Nimbus Sans"/>
                <a:cs typeface="Nimbus Sans"/>
              </a:rPr>
              <a:t>Protective limits and human authority</a:t>
            </a:r>
          </a:p>
        </p:txBody>
      </p:sp>
      <p:sp>
        <p:nvSpPr>
          <p:cNvPr id="2" name="">
            <a:extLst xmlns:a="http://schemas.openxmlformats.org/drawingml/2006/main">
              <a:ext uri="{FF2B5EF4-FFF2-40B4-BE49-F238E27FC236}">
                <a16:creationId xmlns:a16="http://schemas.microsoft.com/office/drawing/2014/main" id="{448E7F7D-8DAD-469B-9E59-EE50949EEA97}"/>
              </a:ext>
            </a:extLst>
          </p:cNvPr>
          <p:cNvSpPr>
            <a:spLocks xmlns:a="http://schemas.openxmlformats.org/drawingml/2006/main" noGrp="1"/>
          </p:cNvSpPr>
          <p:nvPr/>
        </p:nvSpPr>
        <p:spPr>
          <a:xfrm xmlns:a="http://schemas.openxmlformats.org/drawingml/2006/main">
            <a:off x="1143000" y="3286125"/>
            <a:ext cx="3810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81D9C2"/>
                </a:solidFill>
                <a:latin typeface="Nimbus Sans"/>
                <a:ea typeface="Nimbus Sans"/>
                <a:cs typeface="Nimbus Sans"/>
              </a:defRPr>
            </a:defPPr>
          </a:lstStyle>
          <a:p xmlns:a="http://schemas.openxmlformats.org/drawingml/2006/main">
            <a:pPr algn="l">
              <a:buNone/>
              <a:defRPr sz="3300" b="1">
                <a:solidFill>
                  <a:srgbClr val="81D9C2"/>
                </a:solidFill>
                <a:latin typeface="Nimbus Sans"/>
                <a:ea typeface="Nimbus Sans"/>
                <a:cs typeface="Nimbus Sans"/>
              </a:defRPr>
            </a:pPr>
            <a:r>
              <a:rPr sz="3300" b="1">
                <a:solidFill>
                  <a:srgbClr val="81D9C2"/>
                </a:solidFill>
                <a:latin typeface="Nimbus Sans"/>
                <a:ea typeface="Nimbus Sans"/>
                <a:cs typeface="Nimbus Sans"/>
              </a:rPr>
              <a:t>TAC</a:t>
            </a:r>
          </a:p>
        </p:txBody>
      </p:sp>
      <p:sp>
        <p:nvSpPr>
          <p:cNvPr id="3" name="">
            <a:extLst xmlns:a="http://schemas.openxmlformats.org/drawingml/2006/main">
              <a:ext uri="{FF2B5EF4-FFF2-40B4-BE49-F238E27FC236}">
                <a16:creationId xmlns:a16="http://schemas.microsoft.com/office/drawing/2014/main" id="{F1F6AC7E-FB8F-4EF9-B53A-466A4A2948F7}"/>
              </a:ext>
            </a:extLst>
          </p:cNvPr>
          <p:cNvSpPr>
            <a:spLocks xmlns:a="http://schemas.openxmlformats.org/drawingml/2006/main" noGrp="1"/>
          </p:cNvSpPr>
          <p:nvPr/>
        </p:nvSpPr>
        <p:spPr>
          <a:xfrm xmlns:a="http://schemas.openxmlformats.org/drawingml/2006/main">
            <a:off x="5238750" y="3286125"/>
            <a:ext cx="119062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F6F3EA"/>
                </a:solidFill>
                <a:latin typeface="Nimbus Sans"/>
                <a:ea typeface="Nimbus Sans"/>
                <a:cs typeface="Nimbus Sans"/>
              </a:defRPr>
            </a:defPPr>
          </a:lstStyle>
          <a:p xmlns:a="http://schemas.openxmlformats.org/drawingml/2006/main">
            <a:pPr algn="l">
              <a:buNone/>
              <a:defRPr sz="3300" b="0">
                <a:solidFill>
                  <a:srgbClr val="F6F3EA"/>
                </a:solidFill>
                <a:latin typeface="Nimbus Sans"/>
                <a:ea typeface="Nimbus Sans"/>
                <a:cs typeface="Nimbus Sans"/>
              </a:defRPr>
            </a:pPr>
            <a:r>
              <a:rPr sz="3300" b="0">
                <a:solidFill>
                  <a:srgbClr val="F6F3EA"/>
                </a:solidFill>
                <a:latin typeface="Nimbus Sans"/>
                <a:ea typeface="Nimbus Sans"/>
                <a:cs typeface="Nimbus Sans"/>
              </a:rPr>
              <a:t>Bound optional observation while retaining required evidence.</a:t>
            </a:r>
          </a:p>
        </p:txBody>
      </p:sp>
      <p:sp>
        <p:nvSpPr>
          <p:cNvPr id="4" name="">
            <a:extLst xmlns:a="http://schemas.openxmlformats.org/drawingml/2006/main">
              <a:ext uri="{FF2B5EF4-FFF2-40B4-BE49-F238E27FC236}">
                <a16:creationId xmlns:a16="http://schemas.microsoft.com/office/drawing/2014/main" id="{F5371C9F-BA6E-4879-9E96-18C10C69E706}"/>
              </a:ext>
            </a:extLst>
          </p:cNvPr>
          <p:cNvSpPr>
            <a:spLocks xmlns:a="http://schemas.openxmlformats.org/drawingml/2006/main" noGrp="1"/>
          </p:cNvSpPr>
          <p:nvPr/>
        </p:nvSpPr>
        <p:spPr>
          <a:xfrm xmlns:a="http://schemas.openxmlformats.org/drawingml/2006/main">
            <a:off x="1143000" y="4629150"/>
            <a:ext cx="16002000" cy="0"/>
          </a:xfrm>
          <a:prstGeom xmlns:a="http://schemas.openxmlformats.org/drawingml/2006/main" prst="line">
            <a:avLst/>
          </a:prstGeom>
          <a:noFill xmlns:a="http://schemas.openxmlformats.org/drawingml/2006/main"/>
          <a:ln xmlns:a="http://schemas.openxmlformats.org/drawingml/2006/main" w="19050">
            <a:solidFill>
              <a:srgbClr val="49696C"/>
            </a:solidFill>
            <a:prstDash val="solid"/>
          </a:ln>
        </p:spPr>
      </p:sp>
      <p:sp>
        <p:nvSpPr>
          <p:cNvPr id="5" name="">
            <a:extLst xmlns:a="http://schemas.openxmlformats.org/drawingml/2006/main">
              <a:ext uri="{FF2B5EF4-FFF2-40B4-BE49-F238E27FC236}">
                <a16:creationId xmlns:a16="http://schemas.microsoft.com/office/drawing/2014/main" id="{4F423A57-4CC7-479E-824E-6841DB50EA60}"/>
              </a:ext>
            </a:extLst>
          </p:cNvPr>
          <p:cNvSpPr>
            <a:spLocks xmlns:a="http://schemas.openxmlformats.org/drawingml/2006/main" noGrp="1"/>
          </p:cNvSpPr>
          <p:nvPr/>
        </p:nvSpPr>
        <p:spPr>
          <a:xfrm xmlns:a="http://schemas.openxmlformats.org/drawingml/2006/main">
            <a:off x="1143000" y="4867275"/>
            <a:ext cx="3810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81D9C2"/>
                </a:solidFill>
                <a:latin typeface="Nimbus Sans"/>
                <a:ea typeface="Nimbus Sans"/>
                <a:cs typeface="Nimbus Sans"/>
              </a:defRPr>
            </a:defPPr>
          </a:lstStyle>
          <a:p xmlns:a="http://schemas.openxmlformats.org/drawingml/2006/main">
            <a:pPr algn="l">
              <a:buNone/>
              <a:defRPr sz="3300" b="1">
                <a:solidFill>
                  <a:srgbClr val="81D9C2"/>
                </a:solidFill>
                <a:latin typeface="Nimbus Sans"/>
                <a:ea typeface="Nimbus Sans"/>
                <a:cs typeface="Nimbus Sans"/>
              </a:defRPr>
            </a:pPr>
            <a:r>
              <a:rPr sz="3300" b="1">
                <a:solidFill>
                  <a:srgbClr val="81D9C2"/>
                </a:solidFill>
                <a:latin typeface="Nimbus Sans"/>
                <a:ea typeface="Nimbus Sans"/>
                <a:cs typeface="Nimbus Sans"/>
              </a:rPr>
              <a:t>MORALware</a:t>
            </a:r>
          </a:p>
        </p:txBody>
      </p:sp>
      <p:sp>
        <p:nvSpPr>
          <p:cNvPr id="6" name="">
            <a:extLst xmlns:a="http://schemas.openxmlformats.org/drawingml/2006/main">
              <a:ext uri="{FF2B5EF4-FFF2-40B4-BE49-F238E27FC236}">
                <a16:creationId xmlns:a16="http://schemas.microsoft.com/office/drawing/2014/main" id="{C22B8A7C-0FDF-473B-9766-BA1BCE04D2CC}"/>
              </a:ext>
            </a:extLst>
          </p:cNvPr>
          <p:cNvSpPr>
            <a:spLocks xmlns:a="http://schemas.openxmlformats.org/drawingml/2006/main" noGrp="1"/>
          </p:cNvSpPr>
          <p:nvPr/>
        </p:nvSpPr>
        <p:spPr>
          <a:xfrm xmlns:a="http://schemas.openxmlformats.org/drawingml/2006/main">
            <a:off x="5238750" y="4867275"/>
            <a:ext cx="119062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F6F3EA"/>
                </a:solidFill>
                <a:latin typeface="Nimbus Sans"/>
                <a:ea typeface="Nimbus Sans"/>
                <a:cs typeface="Nimbus Sans"/>
              </a:defRPr>
            </a:defPPr>
          </a:lstStyle>
          <a:p xmlns:a="http://schemas.openxmlformats.org/drawingml/2006/main">
            <a:pPr algn="l">
              <a:buNone/>
              <a:defRPr sz="3300" b="0">
                <a:solidFill>
                  <a:srgbClr val="F6F3EA"/>
                </a:solidFill>
                <a:latin typeface="Nimbus Sans"/>
                <a:ea typeface="Nimbus Sans"/>
                <a:cs typeface="Nimbus Sans"/>
              </a:defRPr>
            </a:pPr>
            <a:r>
              <a:rPr sz="3300" b="0">
                <a:solidFill>
                  <a:srgbClr val="F6F3EA"/>
                </a:solidFill>
                <a:latin typeface="Nimbus Sans"/>
                <a:ea typeface="Nimbus Sans"/>
                <a:cs typeface="Nimbus Sans"/>
              </a:rPr>
              <a:t>Apply the separately governed protective floor.</a:t>
            </a:r>
          </a:p>
        </p:txBody>
      </p:sp>
      <p:sp>
        <p:nvSpPr>
          <p:cNvPr id="7" name="">
            <a:extLst xmlns:a="http://schemas.openxmlformats.org/drawingml/2006/main">
              <a:ext uri="{FF2B5EF4-FFF2-40B4-BE49-F238E27FC236}">
                <a16:creationId xmlns:a16="http://schemas.microsoft.com/office/drawing/2014/main" id="{FEE1F6C2-E3B7-4578-9569-2DDA8BC7782D}"/>
              </a:ext>
            </a:extLst>
          </p:cNvPr>
          <p:cNvSpPr>
            <a:spLocks xmlns:a="http://schemas.openxmlformats.org/drawingml/2006/main" noGrp="1"/>
          </p:cNvSpPr>
          <p:nvPr/>
        </p:nvSpPr>
        <p:spPr>
          <a:xfrm xmlns:a="http://schemas.openxmlformats.org/drawingml/2006/main">
            <a:off x="1143000" y="6210300"/>
            <a:ext cx="16002000" cy="0"/>
          </a:xfrm>
          <a:prstGeom xmlns:a="http://schemas.openxmlformats.org/drawingml/2006/main" prst="line">
            <a:avLst/>
          </a:prstGeom>
          <a:noFill xmlns:a="http://schemas.openxmlformats.org/drawingml/2006/main"/>
          <a:ln xmlns:a="http://schemas.openxmlformats.org/drawingml/2006/main" w="19050">
            <a:solidFill>
              <a:srgbClr val="49696C"/>
            </a:solidFill>
            <a:prstDash val="solid"/>
          </a:ln>
        </p:spPr>
      </p:sp>
      <p:sp>
        <p:nvSpPr>
          <p:cNvPr id="8" name="">
            <a:extLst xmlns:a="http://schemas.openxmlformats.org/drawingml/2006/main">
              <a:ext uri="{FF2B5EF4-FFF2-40B4-BE49-F238E27FC236}">
                <a16:creationId xmlns:a16="http://schemas.microsoft.com/office/drawing/2014/main" id="{212EED17-3557-4CA9-8445-DDF745412C39}"/>
              </a:ext>
            </a:extLst>
          </p:cNvPr>
          <p:cNvSpPr>
            <a:spLocks xmlns:a="http://schemas.openxmlformats.org/drawingml/2006/main" noGrp="1"/>
          </p:cNvSpPr>
          <p:nvPr/>
        </p:nvSpPr>
        <p:spPr>
          <a:xfrm xmlns:a="http://schemas.openxmlformats.org/drawingml/2006/main">
            <a:off x="1143000" y="6448425"/>
            <a:ext cx="3810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81D9C2"/>
                </a:solidFill>
                <a:latin typeface="Nimbus Sans"/>
                <a:ea typeface="Nimbus Sans"/>
                <a:cs typeface="Nimbus Sans"/>
              </a:defRPr>
            </a:defPPr>
          </a:lstStyle>
          <a:p xmlns:a="http://schemas.openxmlformats.org/drawingml/2006/main">
            <a:pPr algn="l">
              <a:buNone/>
              <a:defRPr sz="3300" b="1">
                <a:solidFill>
                  <a:srgbClr val="81D9C2"/>
                </a:solidFill>
                <a:latin typeface="Nimbus Sans"/>
                <a:ea typeface="Nimbus Sans"/>
                <a:cs typeface="Nimbus Sans"/>
              </a:defRPr>
            </a:pPr>
            <a:r>
              <a:rPr sz="3300" b="1">
                <a:solidFill>
                  <a:srgbClr val="81D9C2"/>
                </a:solidFill>
                <a:latin typeface="Nimbus Sans"/>
                <a:ea typeface="Nimbus Sans"/>
                <a:cs typeface="Nimbus Sans"/>
              </a:rPr>
              <a:t>Human review</a:t>
            </a:r>
          </a:p>
        </p:txBody>
      </p:sp>
      <p:sp>
        <p:nvSpPr>
          <p:cNvPr id="9" name="">
            <a:extLst xmlns:a="http://schemas.openxmlformats.org/drawingml/2006/main">
              <a:ext uri="{FF2B5EF4-FFF2-40B4-BE49-F238E27FC236}">
                <a16:creationId xmlns:a16="http://schemas.microsoft.com/office/drawing/2014/main" id="{67F85051-A086-4AFD-88CC-7C0EB9188766}"/>
              </a:ext>
            </a:extLst>
          </p:cNvPr>
          <p:cNvSpPr>
            <a:spLocks xmlns:a="http://schemas.openxmlformats.org/drawingml/2006/main" noGrp="1"/>
          </p:cNvSpPr>
          <p:nvPr/>
        </p:nvSpPr>
        <p:spPr>
          <a:xfrm xmlns:a="http://schemas.openxmlformats.org/drawingml/2006/main">
            <a:off x="5238750" y="6448425"/>
            <a:ext cx="119062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F6F3EA"/>
                </a:solidFill>
                <a:latin typeface="Nimbus Sans"/>
                <a:ea typeface="Nimbus Sans"/>
                <a:cs typeface="Nimbus Sans"/>
              </a:defRPr>
            </a:defPPr>
          </a:lstStyle>
          <a:p xmlns:a="http://schemas.openxmlformats.org/drawingml/2006/main">
            <a:pPr algn="l">
              <a:buNone/>
              <a:defRPr sz="3300" b="0">
                <a:solidFill>
                  <a:srgbClr val="F6F3EA"/>
                </a:solidFill>
                <a:latin typeface="Nimbus Sans"/>
                <a:ea typeface="Nimbus Sans"/>
                <a:cs typeface="Nimbus Sans"/>
              </a:defRPr>
            </a:pPr>
            <a:r>
              <a:rPr sz="3300" b="0">
                <a:solidFill>
                  <a:srgbClr val="F6F3EA"/>
                </a:solidFill>
                <a:latin typeface="Nimbus Sans"/>
                <a:ea typeface="Nimbus Sans"/>
                <a:cs typeface="Nimbus Sans"/>
              </a:rPr>
              <a:t>Attribute adoption, dispute, deferral and correction.</a:t>
            </a:r>
          </a:p>
        </p:txBody>
      </p:sp>
      <p:sp>
        <p:nvSpPr>
          <p:cNvPr id="10" name="">
            <a:extLst xmlns:a="http://schemas.openxmlformats.org/drawingml/2006/main">
              <a:ext uri="{FF2B5EF4-FFF2-40B4-BE49-F238E27FC236}">
                <a16:creationId xmlns:a16="http://schemas.microsoft.com/office/drawing/2014/main" id="{CF8E233B-E3A0-429C-A786-7C4E89C48D5F}"/>
              </a:ext>
            </a:extLst>
          </p:cNvPr>
          <p:cNvSpPr>
            <a:spLocks xmlns:a="http://schemas.openxmlformats.org/drawingml/2006/main" noGrp="1"/>
          </p:cNvSpPr>
          <p:nvPr/>
        </p:nvSpPr>
        <p:spPr>
          <a:xfrm xmlns:a="http://schemas.openxmlformats.org/drawingml/2006/main">
            <a:off x="1143000" y="9048750"/>
            <a:ext cx="1581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BDD0D0"/>
                </a:solidFill>
                <a:latin typeface="Nimbus Sans"/>
                <a:ea typeface="Nimbus Sans"/>
                <a:cs typeface="Nimbus Sans"/>
              </a:defRPr>
            </a:defPPr>
          </a:lstStyle>
          <a:p xmlns:a="http://schemas.openxmlformats.org/drawingml/2006/main">
            <a:pPr algn="l">
              <a:buNone/>
              <a:defRPr sz="2175" b="0">
                <a:solidFill>
                  <a:srgbClr val="BDD0D0"/>
                </a:solidFill>
                <a:latin typeface="Nimbus Sans"/>
                <a:ea typeface="Nimbus Sans"/>
                <a:cs typeface="Nimbus Sans"/>
              </a:defRPr>
            </a:pPr>
            <a:r>
              <a:rPr sz="2175" b="0">
                <a:solidFill>
                  <a:srgbClr val="BDD0D0"/>
                </a:solidFill>
                <a:latin typeface="Nimbus Sans"/>
                <a:ea typeface="Nimbus Sans"/>
                <a:cs typeface="Nimbus Sans"/>
              </a:rPr>
              <a:t>Simulated review remains distinct from human review and acceptance.</a:t>
            </a:r>
          </a:p>
        </p:txBody>
      </p:sp>
    </p:spTree>
    <p:extLst>
      <p:ext uri="{BB962C8B-B14F-4D97-AF65-F5344CB8AC3E}">
        <p14:creationId xmlns:p14="http://schemas.microsoft.com/office/powerpoint/2010/main" val="1148399526"/>
      </p:ext>
    </p:extLst>
  </p:cSld>
</p:sld>
</file>

<file path=ppt/slides/slide6.xml><?xml version="1.0" encoding="utf-8"?>
<p:sld xmlns:p="http://schemas.openxmlformats.org/presentationml/2006/main">
  <p:cSld>
    <p:bg>
      <p:bgPr>
        <a:solidFill xmlns:a="http://schemas.openxmlformats.org/drawingml/2006/main">
          <a:srgbClr val="112931"/>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4BF1CF2C-CBDF-4BED-918C-0A8B6F845EC7}"/>
              </a:ext>
            </a:extLst>
          </p:cNvPr>
          <p:cNvCxnSpPr>
            <a:stCxn xmlns:a="http://schemas.openxmlformats.org/drawingml/2006/main" id="6" idx="2"/>
            <a:endCxn xmlns:a="http://schemas.openxmlformats.org/drawingml/2006/main" id="9" idx="3"/>
          </p:cNvCxnSpPr>
          <p:nvPr/>
        </p:nvCxnSpPr>
        <p:spPr>
          <a:xfrm xmlns:a="http://schemas.openxmlformats.org/drawingml/2006/main" flipH="1">
            <a:off x="12334875" y="5191125"/>
            <a:ext cx="1619250" cy="2309813"/>
          </a:xfrm>
          <a:prstGeom xmlns:a="http://schemas.openxmlformats.org/drawingml/2006/main" prst="bentConnector5">
            <a:avLst>
              <a:gd name="adj1" fmla="val 0"/>
              <a:gd name="adj2" fmla="val 9897"/>
              <a:gd name="adj3" fmla="val 85882"/>
            </a:avLst>
          </a:prstGeom>
          <a:ln xmlns:a="http://schemas.openxmlformats.org/drawingml/2006/main" w="38100">
            <a:solidFill>
              <a:srgbClr val="81D9C2"/>
            </a:solidFill>
            <a:prstDash val="solid"/>
            <a:headEnd type="triangle" w="med" len="med"/>
            <a:tailEnd type="triangle" w="med" len="med"/>
          </a:ln>
        </p:spPr>
      </p:cxnSp>
      <p:cxnSp>
        <p:nvCxnSpPr>
          <p:cNvPr id="13" name="">
            <a:extLst xmlns:a="http://schemas.openxmlformats.org/drawingml/2006/main">
              <a:ext uri="{FF2B5EF4-FFF2-40B4-BE49-F238E27FC236}">
                <a16:creationId xmlns:a16="http://schemas.microsoft.com/office/drawing/2014/main" id="{8D954142-BAA9-4D2B-B783-1105A98B41CA}"/>
              </a:ext>
            </a:extLst>
          </p:cNvPr>
          <p:cNvCxnSpPr>
            <a:stCxn xmlns:a="http://schemas.openxmlformats.org/drawingml/2006/main" id="3" idx="2"/>
            <a:endCxn xmlns:a="http://schemas.openxmlformats.org/drawingml/2006/main" id="9" idx="1"/>
          </p:cNvCxnSpPr>
          <p:nvPr/>
        </p:nvCxnSpPr>
        <p:spPr>
          <a:xfrm xmlns:a="http://schemas.openxmlformats.org/drawingml/2006/main">
            <a:off x="4333875" y="5191125"/>
            <a:ext cx="1619250" cy="2309813"/>
          </a:xfrm>
          <a:prstGeom xmlns:a="http://schemas.openxmlformats.org/drawingml/2006/main" prst="bentConnector5">
            <a:avLst>
              <a:gd name="adj1" fmla="val 0"/>
              <a:gd name="adj2" fmla="val 9897"/>
              <a:gd name="adj3" fmla="val 85882"/>
            </a:avLst>
          </a:prstGeom>
          <a:ln xmlns:a="http://schemas.openxmlformats.org/drawingml/2006/main" w="38100">
            <a:solidFill>
              <a:srgbClr val="81D9C2"/>
            </a:solidFill>
            <a:prstDash val="solid"/>
            <a:headEnd type="triangle" w="med" len="med"/>
            <a:tailEnd type="triangle" w="med" len="med"/>
          </a:ln>
        </p:spPr>
      </p:cxnSp>
      <p:cxnSp>
        <p:nvCxnSpPr>
          <p:cNvPr id="12" name="">
            <a:extLst xmlns:a="http://schemas.openxmlformats.org/drawingml/2006/main">
              <a:ext uri="{FF2B5EF4-FFF2-40B4-BE49-F238E27FC236}">
                <a16:creationId xmlns:a16="http://schemas.microsoft.com/office/drawing/2014/main" id="{2404E58E-168F-467C-B917-786673B0BF3B}"/>
              </a:ext>
            </a:extLst>
          </p:cNvPr>
          <p:cNvCxnSpPr>
            <a:stCxn xmlns:a="http://schemas.openxmlformats.org/drawingml/2006/main" id="3" idx="3"/>
            <a:endCxn xmlns:a="http://schemas.openxmlformats.org/drawingml/2006/main" id="6" idx="1"/>
          </p:cNvCxnSpPr>
          <p:nvPr/>
        </p:nvCxnSpPr>
        <p:spPr>
          <a:xfrm xmlns:a="http://schemas.openxmlformats.org/drawingml/2006/main">
            <a:off x="7524750" y="4357688"/>
            <a:ext cx="3238500" cy="0"/>
          </a:xfrm>
          <a:prstGeom xmlns:a="http://schemas.openxmlformats.org/drawingml/2006/main" prst="straightConnector1">
            <a:avLst/>
          </a:prstGeom>
          <a:ln xmlns:a="http://schemas.openxmlformats.org/drawingml/2006/main" w="38100">
            <a:solidFill>
              <a:srgbClr val="81D9C2"/>
            </a:solidFill>
            <a:prstDash val="solid"/>
            <a:headEnd type="triangle" w="med" len="med"/>
            <a:tailEnd type="triangle" w="med" len="med"/>
          </a:ln>
        </p:spPr>
      </p:cxnSp>
      <p:sp>
        <p:nvSpPr>
          <p:cNvPr id="16" name="">
            <a:extLst xmlns:a="http://schemas.openxmlformats.org/drawingml/2006/main">
              <a:ext uri="{FF2B5EF4-FFF2-40B4-BE49-F238E27FC236}">
                <a16:creationId xmlns:a16="http://schemas.microsoft.com/office/drawing/2014/main" id="{B8F89DA8-2E24-4CBB-9ECE-0DE6C87BB7A4}"/>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6F3EA"/>
                </a:solidFill>
                <a:latin typeface="Nimbus Sans"/>
                <a:ea typeface="Nimbus Sans"/>
                <a:cs typeface="Nimbus Sans"/>
              </a:defRPr>
            </a:defPPr>
          </a:lstStyle>
          <a:p xmlns:a="http://schemas.openxmlformats.org/drawingml/2006/main">
            <a:pPr algn="l">
              <a:buNone/>
              <a:defRPr sz="5700" b="1">
                <a:solidFill>
                  <a:srgbClr val="F6F3EA"/>
                </a:solidFill>
                <a:latin typeface="Nimbus Sans"/>
                <a:ea typeface="Nimbus Sans"/>
                <a:cs typeface="Nimbus Sans"/>
              </a:defRPr>
            </a:pPr>
            <a:r>
              <a:rPr sz="5700" b="1">
                <a:solidFill>
                  <a:srgbClr val="F6F3EA"/>
                </a:solidFill>
                <a:latin typeface="Nimbus Sans"/>
                <a:ea typeface="Nimbus Sans"/>
                <a:cs typeface="Nimbus Sans"/>
              </a:rPr>
              <a:t>Locally controlled peers</a:t>
            </a:r>
          </a:p>
        </p:txBody>
      </p:sp>
      <p:sp>
        <p:nvSpPr>
          <p:cNvPr id="2" name="">
            <a:extLst xmlns:a="http://schemas.openxmlformats.org/drawingml/2006/main">
              <a:ext uri="{FF2B5EF4-FFF2-40B4-BE49-F238E27FC236}">
                <a16:creationId xmlns:a16="http://schemas.microsoft.com/office/drawing/2014/main" id="{BAC241A2-A617-4F6F-B3D9-D2F91C61B87D}"/>
              </a:ext>
            </a:extLst>
          </p:cNvPr>
          <p:cNvSpPr>
            <a:spLocks xmlns:a="http://schemas.openxmlformats.org/drawingml/2006/main" noGrp="1"/>
          </p:cNvSpPr>
          <p:nvPr/>
        </p:nvSpPr>
        <p:spPr>
          <a:xfrm xmlns:a="http://schemas.openxmlformats.org/drawingml/2006/main">
            <a:off x="1143000" y="2428875"/>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BDD0D0"/>
                </a:solidFill>
                <a:latin typeface="Nimbus Sans"/>
                <a:ea typeface="Nimbus Sans"/>
                <a:cs typeface="Nimbus Sans"/>
              </a:defRPr>
            </a:defPPr>
          </a:lstStyle>
          <a:p xmlns:a="http://schemas.openxmlformats.org/drawingml/2006/main">
            <a:pPr algn="l">
              <a:buNone/>
              <a:defRPr sz="2700" b="0">
                <a:solidFill>
                  <a:srgbClr val="BDD0D0"/>
                </a:solidFill>
                <a:latin typeface="Nimbus Sans"/>
                <a:ea typeface="Nimbus Sans"/>
                <a:cs typeface="Nimbus Sans"/>
              </a:defRPr>
            </a:pPr>
            <a:r>
              <a:rPr sz="2700" b="0">
                <a:solidFill>
                  <a:srgbClr val="BDD0D0"/>
                </a:solidFill>
                <a:latin typeface="Nimbus Sans"/>
                <a:ea typeface="Nimbus Sans"/>
                <a:cs typeface="Nimbus Sans"/>
              </a:rPr>
              <a:t>Proposed network scopes can overlap without transferring access</a:t>
            </a:r>
          </a:p>
        </p:txBody>
      </p:sp>
      <p:sp>
        <p:nvSpPr>
          <p:cNvPr id="3" name="">
            <a:extLst xmlns:a="http://schemas.openxmlformats.org/drawingml/2006/main">
              <a:ext uri="{FF2B5EF4-FFF2-40B4-BE49-F238E27FC236}">
                <a16:creationId xmlns:a16="http://schemas.microsoft.com/office/drawing/2014/main" id="{D89DD840-E086-44B3-AC5C-58F165E45888}"/>
              </a:ext>
            </a:extLst>
          </p:cNvPr>
          <p:cNvSpPr>
            <a:spLocks xmlns:a="http://schemas.openxmlformats.org/drawingml/2006/main" noGrp="1"/>
          </p:cNvSpPr>
          <p:nvPr/>
        </p:nvSpPr>
        <p:spPr>
          <a:xfrm xmlns:a="http://schemas.openxmlformats.org/drawingml/2006/main">
            <a:off x="1143000" y="3524250"/>
            <a:ext cx="6381750" cy="1666875"/>
          </a:xfrm>
          <a:prstGeom xmlns:a="http://schemas.openxmlformats.org/drawingml/2006/main" prst="rect">
            <a:avLst/>
          </a:prstGeom>
          <a:solidFill xmlns:a="http://schemas.openxmlformats.org/drawingml/2006/main">
            <a:srgbClr val="1B3B43"/>
          </a:solidFill>
          <a:ln xmlns:a="http://schemas.openxmlformats.org/drawingml/2006/main" w="19050">
            <a:solidFill>
              <a:srgbClr val="49696C"/>
            </a:solidFill>
            <a:prstDash val="solid"/>
          </a:ln>
        </p:spPr>
      </p:sp>
      <p:sp>
        <p:nvSpPr>
          <p:cNvPr id="4" name="">
            <a:extLst xmlns:a="http://schemas.openxmlformats.org/drawingml/2006/main">
              <a:ext uri="{FF2B5EF4-FFF2-40B4-BE49-F238E27FC236}">
                <a16:creationId xmlns:a16="http://schemas.microsoft.com/office/drawing/2014/main" id="{631FA1C5-870F-486A-A602-261C4E670471}"/>
              </a:ext>
            </a:extLst>
          </p:cNvPr>
          <p:cNvSpPr>
            <a:spLocks xmlns:a="http://schemas.openxmlformats.org/drawingml/2006/main" noGrp="1"/>
          </p:cNvSpPr>
          <p:nvPr/>
        </p:nvSpPr>
        <p:spPr>
          <a:xfrm xmlns:a="http://schemas.openxmlformats.org/drawingml/2006/main">
            <a:off x="1409700" y="3762375"/>
            <a:ext cx="584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225" b="1">
                <a:solidFill>
                  <a:srgbClr val="81D9C2"/>
                </a:solidFill>
                <a:latin typeface="Nimbus Sans"/>
                <a:ea typeface="Nimbus Sans"/>
                <a:cs typeface="Nimbus Sans"/>
              </a:defRPr>
            </a:defPPr>
          </a:lstStyle>
          <a:p xmlns:a="http://schemas.openxmlformats.org/drawingml/2006/main">
            <a:pPr algn="ctr">
              <a:buNone/>
              <a:defRPr sz="3225" b="1">
                <a:solidFill>
                  <a:srgbClr val="81D9C2"/>
                </a:solidFill>
                <a:latin typeface="Nimbus Sans"/>
                <a:ea typeface="Nimbus Sans"/>
                <a:cs typeface="Nimbus Sans"/>
              </a:defRPr>
            </a:pPr>
            <a:r>
              <a:rPr sz="3225" b="1">
                <a:solidFill>
                  <a:srgbClr val="81D9C2"/>
                </a:solidFill>
                <a:latin typeface="Nimbus Sans"/>
                <a:ea typeface="Nimbus Sans"/>
                <a:cs typeface="Nimbus Sans"/>
              </a:rPr>
              <a:t>Household node</a:t>
            </a:r>
          </a:p>
        </p:txBody>
      </p:sp>
      <p:sp>
        <p:nvSpPr>
          <p:cNvPr id="5" name="">
            <a:extLst xmlns:a="http://schemas.openxmlformats.org/drawingml/2006/main">
              <a:ext uri="{FF2B5EF4-FFF2-40B4-BE49-F238E27FC236}">
                <a16:creationId xmlns:a16="http://schemas.microsoft.com/office/drawing/2014/main" id="{19DADFDD-1FAF-4435-BDF4-58D772F5B601}"/>
              </a:ext>
            </a:extLst>
          </p:cNvPr>
          <p:cNvSpPr>
            <a:spLocks xmlns:a="http://schemas.openxmlformats.org/drawingml/2006/main" noGrp="1"/>
          </p:cNvSpPr>
          <p:nvPr/>
        </p:nvSpPr>
        <p:spPr>
          <a:xfrm xmlns:a="http://schemas.openxmlformats.org/drawingml/2006/main">
            <a:off x="1409700" y="4429125"/>
            <a:ext cx="5848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0">
                <a:solidFill>
                  <a:srgbClr val="F6F3EA"/>
                </a:solidFill>
                <a:latin typeface="Nimbus Sans"/>
                <a:ea typeface="Nimbus Sans"/>
                <a:cs typeface="Nimbus Sans"/>
              </a:defRPr>
            </a:defPPr>
          </a:lstStyle>
          <a:p xmlns:a="http://schemas.openxmlformats.org/drawingml/2006/main">
            <a:pPr algn="ctr">
              <a:buNone/>
              <a:defRPr sz="2400" b="0">
                <a:solidFill>
                  <a:srgbClr val="F6F3EA"/>
                </a:solidFill>
                <a:latin typeface="Nimbus Sans"/>
                <a:ea typeface="Nimbus Sans"/>
                <a:cs typeface="Nimbus Sans"/>
              </a:defRPr>
            </a:pPr>
            <a:r>
              <a:rPr sz="2400" b="0">
                <a:solidFill>
                  <a:srgbClr val="F6F3EA"/>
                </a:solidFill>
                <a:latin typeface="Nimbus Sans"/>
                <a:ea typeface="Nimbus Sans"/>
                <a:cs typeface="Nimbus Sans"/>
              </a:rPr>
              <a:t>Private history and selected shared work</a:t>
            </a:r>
          </a:p>
        </p:txBody>
      </p:sp>
      <p:sp>
        <p:nvSpPr>
          <p:cNvPr id="6" name="">
            <a:extLst xmlns:a="http://schemas.openxmlformats.org/drawingml/2006/main">
              <a:ext uri="{FF2B5EF4-FFF2-40B4-BE49-F238E27FC236}">
                <a16:creationId xmlns:a16="http://schemas.microsoft.com/office/drawing/2014/main" id="{B1E55F10-5280-4EDB-8A55-244C263C9193}"/>
              </a:ext>
            </a:extLst>
          </p:cNvPr>
          <p:cNvSpPr>
            <a:spLocks xmlns:a="http://schemas.openxmlformats.org/drawingml/2006/main" noGrp="1"/>
          </p:cNvSpPr>
          <p:nvPr/>
        </p:nvSpPr>
        <p:spPr>
          <a:xfrm xmlns:a="http://schemas.openxmlformats.org/drawingml/2006/main">
            <a:off x="10763250" y="3524250"/>
            <a:ext cx="6381750" cy="1666875"/>
          </a:xfrm>
          <a:prstGeom xmlns:a="http://schemas.openxmlformats.org/drawingml/2006/main" prst="rect">
            <a:avLst/>
          </a:prstGeom>
          <a:solidFill xmlns:a="http://schemas.openxmlformats.org/drawingml/2006/main">
            <a:srgbClr val="1B3B43"/>
          </a:solidFill>
          <a:ln xmlns:a="http://schemas.openxmlformats.org/drawingml/2006/main" w="19050">
            <a:solidFill>
              <a:srgbClr val="49696C"/>
            </a:solidFill>
            <a:prstDash val="solid"/>
          </a:ln>
        </p:spPr>
      </p:sp>
      <p:sp>
        <p:nvSpPr>
          <p:cNvPr id="7" name="">
            <a:extLst xmlns:a="http://schemas.openxmlformats.org/drawingml/2006/main">
              <a:ext uri="{FF2B5EF4-FFF2-40B4-BE49-F238E27FC236}">
                <a16:creationId xmlns:a16="http://schemas.microsoft.com/office/drawing/2014/main" id="{C766617E-1A6E-4AD0-B801-1D1577B313CE}"/>
              </a:ext>
            </a:extLst>
          </p:cNvPr>
          <p:cNvSpPr>
            <a:spLocks xmlns:a="http://schemas.openxmlformats.org/drawingml/2006/main" noGrp="1"/>
          </p:cNvSpPr>
          <p:nvPr/>
        </p:nvSpPr>
        <p:spPr>
          <a:xfrm xmlns:a="http://schemas.openxmlformats.org/drawingml/2006/main">
            <a:off x="11029950" y="3762375"/>
            <a:ext cx="584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225" b="1">
                <a:solidFill>
                  <a:srgbClr val="81D9C2"/>
                </a:solidFill>
                <a:latin typeface="Nimbus Sans"/>
                <a:ea typeface="Nimbus Sans"/>
                <a:cs typeface="Nimbus Sans"/>
              </a:defRPr>
            </a:defPPr>
          </a:lstStyle>
          <a:p xmlns:a="http://schemas.openxmlformats.org/drawingml/2006/main">
            <a:pPr algn="ctr">
              <a:buNone/>
              <a:defRPr sz="3225" b="1">
                <a:solidFill>
                  <a:srgbClr val="81D9C2"/>
                </a:solidFill>
                <a:latin typeface="Nimbus Sans"/>
                <a:ea typeface="Nimbus Sans"/>
                <a:cs typeface="Nimbus Sans"/>
              </a:defRPr>
            </a:pPr>
            <a:r>
              <a:rPr sz="3225" b="1">
                <a:solidFill>
                  <a:srgbClr val="81D9C2"/>
                </a:solidFill>
                <a:latin typeface="Nimbus Sans"/>
                <a:ea typeface="Nimbus Sans"/>
                <a:cs typeface="Nimbus Sans"/>
              </a:rPr>
              <a:t>Organization node</a:t>
            </a:r>
          </a:p>
        </p:txBody>
      </p:sp>
      <p:sp>
        <p:nvSpPr>
          <p:cNvPr id="8" name="">
            <a:extLst xmlns:a="http://schemas.openxmlformats.org/drawingml/2006/main">
              <a:ext uri="{FF2B5EF4-FFF2-40B4-BE49-F238E27FC236}">
                <a16:creationId xmlns:a16="http://schemas.microsoft.com/office/drawing/2014/main" id="{00D3028E-AAE5-453A-8B16-6DD27037DEED}"/>
              </a:ext>
            </a:extLst>
          </p:cNvPr>
          <p:cNvSpPr>
            <a:spLocks xmlns:a="http://schemas.openxmlformats.org/drawingml/2006/main" noGrp="1"/>
          </p:cNvSpPr>
          <p:nvPr/>
        </p:nvSpPr>
        <p:spPr>
          <a:xfrm xmlns:a="http://schemas.openxmlformats.org/drawingml/2006/main">
            <a:off x="11029950" y="4429125"/>
            <a:ext cx="5848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0">
                <a:solidFill>
                  <a:srgbClr val="F6F3EA"/>
                </a:solidFill>
                <a:latin typeface="Nimbus Sans"/>
                <a:ea typeface="Nimbus Sans"/>
                <a:cs typeface="Nimbus Sans"/>
              </a:defRPr>
            </a:defPPr>
          </a:lstStyle>
          <a:p xmlns:a="http://schemas.openxmlformats.org/drawingml/2006/main">
            <a:pPr algn="ctr">
              <a:buNone/>
              <a:defRPr sz="2400" b="0">
                <a:solidFill>
                  <a:srgbClr val="F6F3EA"/>
                </a:solidFill>
                <a:latin typeface="Nimbus Sans"/>
                <a:ea typeface="Nimbus Sans"/>
                <a:cs typeface="Nimbus Sans"/>
              </a:defRPr>
            </a:pPr>
            <a:r>
              <a:rPr sz="2400" b="0">
                <a:solidFill>
                  <a:srgbClr val="F6F3EA"/>
                </a:solidFill>
                <a:latin typeface="Nimbus Sans"/>
                <a:ea typeface="Nimbus Sans"/>
                <a:cs typeface="Nimbus Sans"/>
              </a:rPr>
              <a:t>Member access and organizational controls</a:t>
            </a:r>
          </a:p>
        </p:txBody>
      </p:sp>
      <p:sp>
        <p:nvSpPr>
          <p:cNvPr id="9" name="">
            <a:extLst xmlns:a="http://schemas.openxmlformats.org/drawingml/2006/main">
              <a:ext uri="{FF2B5EF4-FFF2-40B4-BE49-F238E27FC236}">
                <a16:creationId xmlns:a16="http://schemas.microsoft.com/office/drawing/2014/main" id="{F56D6755-A85C-48B8-9133-EAB190D14797}"/>
              </a:ext>
            </a:extLst>
          </p:cNvPr>
          <p:cNvSpPr>
            <a:spLocks xmlns:a="http://schemas.openxmlformats.org/drawingml/2006/main" noGrp="1"/>
          </p:cNvSpPr>
          <p:nvPr/>
        </p:nvSpPr>
        <p:spPr>
          <a:xfrm xmlns:a="http://schemas.openxmlformats.org/drawingml/2006/main">
            <a:off x="5953125" y="6667500"/>
            <a:ext cx="6381750" cy="1666875"/>
          </a:xfrm>
          <a:prstGeom xmlns:a="http://schemas.openxmlformats.org/drawingml/2006/main" prst="rect">
            <a:avLst/>
          </a:prstGeom>
          <a:solidFill xmlns:a="http://schemas.openxmlformats.org/drawingml/2006/main">
            <a:srgbClr val="1B3B43"/>
          </a:solidFill>
          <a:ln xmlns:a="http://schemas.openxmlformats.org/drawingml/2006/main" w="19050">
            <a:solidFill>
              <a:srgbClr val="49696C"/>
            </a:solidFill>
            <a:prstDash val="solid"/>
          </a:ln>
        </p:spPr>
      </p:sp>
      <p:sp>
        <p:nvSpPr>
          <p:cNvPr id="10" name="">
            <a:extLst xmlns:a="http://schemas.openxmlformats.org/drawingml/2006/main">
              <a:ext uri="{FF2B5EF4-FFF2-40B4-BE49-F238E27FC236}">
                <a16:creationId xmlns:a16="http://schemas.microsoft.com/office/drawing/2014/main" id="{84527BA0-AC77-41EF-963B-ECD320CEAD7B}"/>
              </a:ext>
            </a:extLst>
          </p:cNvPr>
          <p:cNvSpPr>
            <a:spLocks xmlns:a="http://schemas.openxmlformats.org/drawingml/2006/main" noGrp="1"/>
          </p:cNvSpPr>
          <p:nvPr/>
        </p:nvSpPr>
        <p:spPr>
          <a:xfrm xmlns:a="http://schemas.openxmlformats.org/drawingml/2006/main">
            <a:off x="6219825" y="6905625"/>
            <a:ext cx="584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225" b="1">
                <a:solidFill>
                  <a:srgbClr val="81D9C2"/>
                </a:solidFill>
                <a:latin typeface="Nimbus Sans"/>
                <a:ea typeface="Nimbus Sans"/>
                <a:cs typeface="Nimbus Sans"/>
              </a:defRPr>
            </a:defPPr>
          </a:lstStyle>
          <a:p xmlns:a="http://schemas.openxmlformats.org/drawingml/2006/main">
            <a:pPr algn="ctr">
              <a:buNone/>
              <a:defRPr sz="3225" b="1">
                <a:solidFill>
                  <a:srgbClr val="81D9C2"/>
                </a:solidFill>
                <a:latin typeface="Nimbus Sans"/>
                <a:ea typeface="Nimbus Sans"/>
                <a:cs typeface="Nimbus Sans"/>
              </a:defRPr>
            </a:pPr>
            <a:r>
              <a:rPr sz="3225" b="1">
                <a:solidFill>
                  <a:srgbClr val="81D9C2"/>
                </a:solidFill>
                <a:latin typeface="Nimbus Sans"/>
                <a:ea typeface="Nimbus Sans"/>
                <a:cs typeface="Nimbus Sans"/>
              </a:rPr>
              <a:t>Community node</a:t>
            </a:r>
          </a:p>
        </p:txBody>
      </p:sp>
      <p:sp>
        <p:nvSpPr>
          <p:cNvPr id="11" name="">
            <a:extLst xmlns:a="http://schemas.openxmlformats.org/drawingml/2006/main">
              <a:ext uri="{FF2B5EF4-FFF2-40B4-BE49-F238E27FC236}">
                <a16:creationId xmlns:a16="http://schemas.microsoft.com/office/drawing/2014/main" id="{4AB0A9E5-B031-42A6-AF90-6733C72BC947}"/>
              </a:ext>
            </a:extLst>
          </p:cNvPr>
          <p:cNvSpPr>
            <a:spLocks xmlns:a="http://schemas.openxmlformats.org/drawingml/2006/main" noGrp="1"/>
          </p:cNvSpPr>
          <p:nvPr/>
        </p:nvSpPr>
        <p:spPr>
          <a:xfrm xmlns:a="http://schemas.openxmlformats.org/drawingml/2006/main">
            <a:off x="6219825" y="7572375"/>
            <a:ext cx="5848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0">
                <a:solidFill>
                  <a:srgbClr val="F6F3EA"/>
                </a:solidFill>
                <a:latin typeface="Nimbus Sans"/>
                <a:ea typeface="Nimbus Sans"/>
                <a:cs typeface="Nimbus Sans"/>
              </a:defRPr>
            </a:defPPr>
          </a:lstStyle>
          <a:p xmlns:a="http://schemas.openxmlformats.org/drawingml/2006/main">
            <a:pPr algn="ctr">
              <a:buNone/>
              <a:defRPr sz="2400" b="0">
                <a:solidFill>
                  <a:srgbClr val="F6F3EA"/>
                </a:solidFill>
                <a:latin typeface="Nimbus Sans"/>
                <a:ea typeface="Nimbus Sans"/>
                <a:cs typeface="Nimbus Sans"/>
              </a:defRPr>
            </a:pPr>
            <a:r>
              <a:rPr sz="2400" b="0">
                <a:solidFill>
                  <a:srgbClr val="F6F3EA"/>
                </a:solidFill>
                <a:latin typeface="Nimbus Sans"/>
                <a:ea typeface="Nimbus Sans"/>
                <a:cs typeface="Nimbus Sans"/>
              </a:rPr>
              <a:t>Material cleared for that audience</a:t>
            </a:r>
          </a:p>
        </p:txBody>
      </p:sp>
      <p:sp>
        <p:nvSpPr>
          <p:cNvPr id="15" name="">
            <a:extLst xmlns:a="http://schemas.openxmlformats.org/drawingml/2006/main">
              <a:ext uri="{FF2B5EF4-FFF2-40B4-BE49-F238E27FC236}">
                <a16:creationId xmlns:a16="http://schemas.microsoft.com/office/drawing/2014/main" id="{9067DA61-41E3-49E1-B572-F8869572C50C}"/>
              </a:ext>
            </a:extLst>
          </p:cNvPr>
          <p:cNvSpPr>
            <a:spLocks xmlns:a="http://schemas.openxmlformats.org/drawingml/2006/main" noGrp="1"/>
          </p:cNvSpPr>
          <p:nvPr/>
        </p:nvSpPr>
        <p:spPr>
          <a:xfrm xmlns:a="http://schemas.openxmlformats.org/drawingml/2006/main">
            <a:off x="1143000" y="9048750"/>
            <a:ext cx="1581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BDD0D0"/>
                </a:solidFill>
                <a:latin typeface="Nimbus Sans"/>
                <a:ea typeface="Nimbus Sans"/>
                <a:cs typeface="Nimbus Sans"/>
              </a:defRPr>
            </a:defPPr>
          </a:lstStyle>
          <a:p xmlns:a="http://schemas.openxmlformats.org/drawingml/2006/main">
            <a:pPr algn="l">
              <a:buNone/>
              <a:defRPr sz="2175" b="0">
                <a:solidFill>
                  <a:srgbClr val="BDD0D0"/>
                </a:solidFill>
                <a:latin typeface="Nimbus Sans"/>
                <a:ea typeface="Nimbus Sans"/>
                <a:cs typeface="Nimbus Sans"/>
              </a:defRPr>
            </a:pPr>
            <a:r>
              <a:rPr sz="2175" b="0">
                <a:solidFill>
                  <a:srgbClr val="BDD0D0"/>
                </a:solidFill>
                <a:latin typeface="Nimbus Sans"/>
                <a:ea typeface="Nimbus Sans"/>
                <a:cs typeface="Nimbus Sans"/>
              </a:rPr>
              <a:t>Each exchange needs explicit permission. Discovery and relays do not become local decision authority.</a:t>
            </a:r>
          </a:p>
        </p:txBody>
      </p:sp>
    </p:spTree>
    <p:extLst>
      <p:ext uri="{BB962C8B-B14F-4D97-AF65-F5344CB8AC3E}">
        <p14:creationId xmlns:p14="http://schemas.microsoft.com/office/powerpoint/2010/main" val="1180485546"/>
      </p:ext>
    </p:extLst>
  </p:cSld>
</p:sld>
</file>

<file path=ppt/slides/slide7.xml><?xml version="1.0" encoding="utf-8"?>
<p:sld xmlns:p="http://schemas.openxmlformats.org/presentationml/2006/main">
  <p:cSld>
    <p:bg>
      <p:bgPr>
        <a:solidFill xmlns:a="http://schemas.openxmlformats.org/drawingml/2006/main">
          <a:srgbClr val="11293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D39E004-137E-4B96-9FB1-5BE88F368205}"/>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6F3EA"/>
                </a:solidFill>
                <a:latin typeface="Nimbus Sans"/>
                <a:ea typeface="Nimbus Sans"/>
                <a:cs typeface="Nimbus Sans"/>
              </a:defRPr>
            </a:defPPr>
          </a:lstStyle>
          <a:p xmlns:a="http://schemas.openxmlformats.org/drawingml/2006/main">
            <a:pPr algn="l">
              <a:buNone/>
              <a:defRPr sz="5700" b="1">
                <a:solidFill>
                  <a:srgbClr val="F6F3EA"/>
                </a:solidFill>
                <a:latin typeface="Nimbus Sans"/>
                <a:ea typeface="Nimbus Sans"/>
                <a:cs typeface="Nimbus Sans"/>
              </a:defRPr>
            </a:pPr>
            <a:r>
              <a:rPr sz="5700" b="1">
                <a:solidFill>
                  <a:srgbClr val="F6F3EA"/>
                </a:solidFill>
                <a:latin typeface="Nimbus Sans"/>
                <a:ea typeface="Nimbus Sans"/>
                <a:cs typeface="Nimbus Sans"/>
              </a:rPr>
              <a:t>What a reusable package carries</a:t>
            </a:r>
          </a:p>
        </p:txBody>
      </p:sp>
      <p:sp>
        <p:nvSpPr>
          <p:cNvPr id="2" name="">
            <a:extLst xmlns:a="http://schemas.openxmlformats.org/drawingml/2006/main">
              <a:ext uri="{FF2B5EF4-FFF2-40B4-BE49-F238E27FC236}">
                <a16:creationId xmlns:a16="http://schemas.microsoft.com/office/drawing/2014/main" id="{F3F11B5B-D0A0-46DF-92C4-3036BA655A5C}"/>
              </a:ext>
            </a:extLst>
          </p:cNvPr>
          <p:cNvSpPr>
            <a:spLocks xmlns:a="http://schemas.openxmlformats.org/drawingml/2006/main" noGrp="1"/>
          </p:cNvSpPr>
          <p:nvPr/>
        </p:nvSpPr>
        <p:spPr>
          <a:xfrm xmlns:a="http://schemas.openxmlformats.org/drawingml/2006/main">
            <a:off x="1143000" y="2428875"/>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BDD0D0"/>
                </a:solidFill>
                <a:latin typeface="Nimbus Sans"/>
                <a:ea typeface="Nimbus Sans"/>
                <a:cs typeface="Nimbus Sans"/>
              </a:defRPr>
            </a:defPPr>
          </a:lstStyle>
          <a:p xmlns:a="http://schemas.openxmlformats.org/drawingml/2006/main">
            <a:pPr algn="l">
              <a:buNone/>
              <a:defRPr sz="2700" b="0">
                <a:solidFill>
                  <a:srgbClr val="BDD0D0"/>
                </a:solidFill>
                <a:latin typeface="Nimbus Sans"/>
                <a:ea typeface="Nimbus Sans"/>
                <a:cs typeface="Nimbus Sans"/>
              </a:defRPr>
            </a:pPr>
            <a:r>
              <a:rPr sz="2700" b="0">
                <a:solidFill>
                  <a:srgbClr val="BDD0D0"/>
                </a:solidFill>
                <a:latin typeface="Nimbus Sans"/>
                <a:ea typeface="Nimbus Sans"/>
                <a:cs typeface="Nimbus Sans"/>
              </a:rPr>
              <a:t>Proposed exchange contract</a:t>
            </a:r>
          </a:p>
        </p:txBody>
      </p:sp>
      <p:sp>
        <p:nvSpPr>
          <p:cNvPr id="3" name="">
            <a:extLst xmlns:a="http://schemas.openxmlformats.org/drawingml/2006/main">
              <a:ext uri="{FF2B5EF4-FFF2-40B4-BE49-F238E27FC236}">
                <a16:creationId xmlns:a16="http://schemas.microsoft.com/office/drawing/2014/main" id="{82EE7B66-699B-49E1-AA8B-5DAC0577CE61}"/>
              </a:ext>
            </a:extLst>
          </p:cNvPr>
          <p:cNvSpPr>
            <a:spLocks xmlns:a="http://schemas.openxmlformats.org/drawingml/2006/main" noGrp="1"/>
          </p:cNvSpPr>
          <p:nvPr/>
        </p:nvSpPr>
        <p:spPr>
          <a:xfrm xmlns:a="http://schemas.openxmlformats.org/drawingml/2006/main">
            <a:off x="1143000" y="3381375"/>
            <a:ext cx="3810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81D9C2"/>
                </a:solidFill>
                <a:latin typeface="Nimbus Sans"/>
                <a:ea typeface="Nimbus Sans"/>
                <a:cs typeface="Nimbus Sans"/>
              </a:defRPr>
            </a:defPPr>
          </a:lstStyle>
          <a:p xmlns:a="http://schemas.openxmlformats.org/drawingml/2006/main">
            <a:pPr algn="l">
              <a:buNone/>
              <a:defRPr sz="3150" b="1">
                <a:solidFill>
                  <a:srgbClr val="81D9C2"/>
                </a:solidFill>
                <a:latin typeface="Nimbus Sans"/>
                <a:ea typeface="Nimbus Sans"/>
                <a:cs typeface="Nimbus Sans"/>
              </a:defRPr>
            </a:pPr>
            <a:r>
              <a:rPr sz="3150" b="1">
                <a:solidFill>
                  <a:srgbClr val="81D9C2"/>
                </a:solidFill>
                <a:latin typeface="Nimbus Sans"/>
                <a:ea typeface="Nimbus Sans"/>
                <a:cs typeface="Nimbus Sans"/>
              </a:rPr>
              <a:t>Task and assumptions</a:t>
            </a:r>
          </a:p>
        </p:txBody>
      </p:sp>
      <p:sp>
        <p:nvSpPr>
          <p:cNvPr id="4" name="">
            <a:extLst xmlns:a="http://schemas.openxmlformats.org/drawingml/2006/main">
              <a:ext uri="{FF2B5EF4-FFF2-40B4-BE49-F238E27FC236}">
                <a16:creationId xmlns:a16="http://schemas.microsoft.com/office/drawing/2014/main" id="{D283805B-947F-44A9-B10F-55A066D734C9}"/>
              </a:ext>
            </a:extLst>
          </p:cNvPr>
          <p:cNvSpPr>
            <a:spLocks xmlns:a="http://schemas.openxmlformats.org/drawingml/2006/main" noGrp="1"/>
          </p:cNvSpPr>
          <p:nvPr/>
        </p:nvSpPr>
        <p:spPr>
          <a:xfrm xmlns:a="http://schemas.openxmlformats.org/drawingml/2006/main">
            <a:off x="5238750" y="3381375"/>
            <a:ext cx="11906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F6F3EA"/>
                </a:solidFill>
                <a:latin typeface="Nimbus Sans"/>
                <a:ea typeface="Nimbus Sans"/>
                <a:cs typeface="Nimbus Sans"/>
              </a:defRPr>
            </a:defPPr>
          </a:lstStyle>
          <a:p xmlns:a="http://schemas.openxmlformats.org/drawingml/2006/main">
            <a:pPr algn="l">
              <a:buNone/>
              <a:defRPr sz="3150" b="0">
                <a:solidFill>
                  <a:srgbClr val="F6F3EA"/>
                </a:solidFill>
                <a:latin typeface="Nimbus Sans"/>
                <a:ea typeface="Nimbus Sans"/>
                <a:cs typeface="Nimbus Sans"/>
              </a:defRPr>
            </a:pPr>
            <a:r>
              <a:rPr sz="3150" b="0">
                <a:solidFill>
                  <a:srgbClr val="F6F3EA"/>
                </a:solidFill>
                <a:latin typeface="Nimbus Sans"/>
                <a:ea typeface="Nimbus Sans"/>
                <a:cs typeface="Nimbus Sans"/>
              </a:rPr>
              <a:t>What the prior work actually addressed.</a:t>
            </a:r>
          </a:p>
        </p:txBody>
      </p:sp>
      <p:sp>
        <p:nvSpPr>
          <p:cNvPr id="5" name="">
            <a:extLst xmlns:a="http://schemas.openxmlformats.org/drawingml/2006/main">
              <a:ext uri="{FF2B5EF4-FFF2-40B4-BE49-F238E27FC236}">
                <a16:creationId xmlns:a16="http://schemas.microsoft.com/office/drawing/2014/main" id="{50E4EFAC-6D69-42E4-B318-AD4101BD7FE7}"/>
              </a:ext>
            </a:extLst>
          </p:cNvPr>
          <p:cNvSpPr>
            <a:spLocks xmlns:a="http://schemas.openxmlformats.org/drawingml/2006/main" noGrp="1"/>
          </p:cNvSpPr>
          <p:nvPr/>
        </p:nvSpPr>
        <p:spPr>
          <a:xfrm xmlns:a="http://schemas.openxmlformats.org/drawingml/2006/main">
            <a:off x="1143000" y="4438650"/>
            <a:ext cx="16002000" cy="0"/>
          </a:xfrm>
          <a:prstGeom xmlns:a="http://schemas.openxmlformats.org/drawingml/2006/main" prst="line">
            <a:avLst/>
          </a:prstGeom>
          <a:noFill xmlns:a="http://schemas.openxmlformats.org/drawingml/2006/main"/>
          <a:ln xmlns:a="http://schemas.openxmlformats.org/drawingml/2006/main" w="19050">
            <a:solidFill>
              <a:srgbClr val="49696C"/>
            </a:solidFill>
            <a:prstDash val="solid"/>
          </a:ln>
        </p:spPr>
      </p:sp>
      <p:sp>
        <p:nvSpPr>
          <p:cNvPr id="6" name="">
            <a:extLst xmlns:a="http://schemas.openxmlformats.org/drawingml/2006/main">
              <a:ext uri="{FF2B5EF4-FFF2-40B4-BE49-F238E27FC236}">
                <a16:creationId xmlns:a16="http://schemas.microsoft.com/office/drawing/2014/main" id="{B87DDBFC-6B36-488D-884B-08DD74D94CC3}"/>
              </a:ext>
            </a:extLst>
          </p:cNvPr>
          <p:cNvSpPr>
            <a:spLocks xmlns:a="http://schemas.openxmlformats.org/drawingml/2006/main" noGrp="1"/>
          </p:cNvSpPr>
          <p:nvPr/>
        </p:nvSpPr>
        <p:spPr>
          <a:xfrm xmlns:a="http://schemas.openxmlformats.org/drawingml/2006/main">
            <a:off x="1143000" y="4676775"/>
            <a:ext cx="3810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81D9C2"/>
                </a:solidFill>
                <a:latin typeface="Nimbus Sans"/>
                <a:ea typeface="Nimbus Sans"/>
                <a:cs typeface="Nimbus Sans"/>
              </a:defRPr>
            </a:defPPr>
          </a:lstStyle>
          <a:p xmlns:a="http://schemas.openxmlformats.org/drawingml/2006/main">
            <a:pPr algn="l">
              <a:buNone/>
              <a:defRPr sz="3150" b="1">
                <a:solidFill>
                  <a:srgbClr val="81D9C2"/>
                </a:solidFill>
                <a:latin typeface="Nimbus Sans"/>
                <a:ea typeface="Nimbus Sans"/>
                <a:cs typeface="Nimbus Sans"/>
              </a:defRPr>
            </a:pPr>
            <a:r>
              <a:rPr sz="3150" b="1">
                <a:solidFill>
                  <a:srgbClr val="81D9C2"/>
                </a:solidFill>
                <a:latin typeface="Nimbus Sans"/>
                <a:ea typeface="Nimbus Sans"/>
                <a:cs typeface="Nimbus Sans"/>
              </a:rPr>
              <a:t>Evidence and versions</a:t>
            </a:r>
          </a:p>
        </p:txBody>
      </p:sp>
      <p:sp>
        <p:nvSpPr>
          <p:cNvPr id="7" name="">
            <a:extLst xmlns:a="http://schemas.openxmlformats.org/drawingml/2006/main">
              <a:ext uri="{FF2B5EF4-FFF2-40B4-BE49-F238E27FC236}">
                <a16:creationId xmlns:a16="http://schemas.microsoft.com/office/drawing/2014/main" id="{95754D3C-70AA-47C9-9CEA-BF145F3DC1F0}"/>
              </a:ext>
            </a:extLst>
          </p:cNvPr>
          <p:cNvSpPr>
            <a:spLocks xmlns:a="http://schemas.openxmlformats.org/drawingml/2006/main" noGrp="1"/>
          </p:cNvSpPr>
          <p:nvPr/>
        </p:nvSpPr>
        <p:spPr>
          <a:xfrm xmlns:a="http://schemas.openxmlformats.org/drawingml/2006/main">
            <a:off x="5238750" y="4676775"/>
            <a:ext cx="11906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F6F3EA"/>
                </a:solidFill>
                <a:latin typeface="Nimbus Sans"/>
                <a:ea typeface="Nimbus Sans"/>
                <a:cs typeface="Nimbus Sans"/>
              </a:defRPr>
            </a:defPPr>
          </a:lstStyle>
          <a:p xmlns:a="http://schemas.openxmlformats.org/drawingml/2006/main">
            <a:pPr algn="l">
              <a:buNone/>
              <a:defRPr sz="3150" b="0">
                <a:solidFill>
                  <a:srgbClr val="F6F3EA"/>
                </a:solidFill>
                <a:latin typeface="Nimbus Sans"/>
                <a:ea typeface="Nimbus Sans"/>
                <a:cs typeface="Nimbus Sans"/>
              </a:defRPr>
            </a:pPr>
            <a:r>
              <a:rPr sz="3150" b="0">
                <a:solidFill>
                  <a:srgbClr val="F6F3EA"/>
                </a:solidFill>
                <a:latin typeface="Nimbus Sans"/>
                <a:ea typeface="Nimbus Sans"/>
                <a:cs typeface="Nimbus Sans"/>
              </a:rPr>
              <a:t>Sources, applicable rules and relevant execution context.</a:t>
            </a:r>
          </a:p>
        </p:txBody>
      </p:sp>
      <p:sp>
        <p:nvSpPr>
          <p:cNvPr id="8" name="">
            <a:extLst xmlns:a="http://schemas.openxmlformats.org/drawingml/2006/main">
              <a:ext uri="{FF2B5EF4-FFF2-40B4-BE49-F238E27FC236}">
                <a16:creationId xmlns:a16="http://schemas.microsoft.com/office/drawing/2014/main" id="{469695D3-CCF6-4E8B-A66A-EEC6DAE84313}"/>
              </a:ext>
            </a:extLst>
          </p:cNvPr>
          <p:cNvSpPr>
            <a:spLocks xmlns:a="http://schemas.openxmlformats.org/drawingml/2006/main" noGrp="1"/>
          </p:cNvSpPr>
          <p:nvPr/>
        </p:nvSpPr>
        <p:spPr>
          <a:xfrm xmlns:a="http://schemas.openxmlformats.org/drawingml/2006/main">
            <a:off x="1143000" y="5734050"/>
            <a:ext cx="16002000" cy="0"/>
          </a:xfrm>
          <a:prstGeom xmlns:a="http://schemas.openxmlformats.org/drawingml/2006/main" prst="line">
            <a:avLst/>
          </a:prstGeom>
          <a:noFill xmlns:a="http://schemas.openxmlformats.org/drawingml/2006/main"/>
          <a:ln xmlns:a="http://schemas.openxmlformats.org/drawingml/2006/main" w="19050">
            <a:solidFill>
              <a:srgbClr val="49696C"/>
            </a:solidFill>
            <a:prstDash val="solid"/>
          </a:ln>
        </p:spPr>
      </p:sp>
      <p:sp>
        <p:nvSpPr>
          <p:cNvPr id="9" name="">
            <a:extLst xmlns:a="http://schemas.openxmlformats.org/drawingml/2006/main">
              <a:ext uri="{FF2B5EF4-FFF2-40B4-BE49-F238E27FC236}">
                <a16:creationId xmlns:a16="http://schemas.microsoft.com/office/drawing/2014/main" id="{760B7223-0B62-460A-999F-CBAC70E14ED6}"/>
              </a:ext>
            </a:extLst>
          </p:cNvPr>
          <p:cNvSpPr>
            <a:spLocks xmlns:a="http://schemas.openxmlformats.org/drawingml/2006/main" noGrp="1"/>
          </p:cNvSpPr>
          <p:nvPr/>
        </p:nvSpPr>
        <p:spPr>
          <a:xfrm xmlns:a="http://schemas.openxmlformats.org/drawingml/2006/main">
            <a:off x="1143000" y="5972175"/>
            <a:ext cx="3810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81D9C2"/>
                </a:solidFill>
                <a:latin typeface="Nimbus Sans"/>
                <a:ea typeface="Nimbus Sans"/>
                <a:cs typeface="Nimbus Sans"/>
              </a:defRPr>
            </a:defPPr>
          </a:lstStyle>
          <a:p xmlns:a="http://schemas.openxmlformats.org/drawingml/2006/main">
            <a:pPr algn="l">
              <a:buNone/>
              <a:defRPr sz="3150" b="1">
                <a:solidFill>
                  <a:srgbClr val="81D9C2"/>
                </a:solidFill>
                <a:latin typeface="Nimbus Sans"/>
                <a:ea typeface="Nimbus Sans"/>
                <a:cs typeface="Nimbus Sans"/>
              </a:defRPr>
            </a:pPr>
            <a:r>
              <a:rPr sz="3150" b="1">
                <a:solidFill>
                  <a:srgbClr val="81D9C2"/>
                </a:solidFill>
                <a:latin typeface="Nimbus Sans"/>
                <a:ea typeface="Nimbus Sans"/>
                <a:cs typeface="Nimbus Sans"/>
              </a:rPr>
              <a:t>Checks and review</a:t>
            </a:r>
          </a:p>
        </p:txBody>
      </p:sp>
      <p:sp>
        <p:nvSpPr>
          <p:cNvPr id="10" name="">
            <a:extLst xmlns:a="http://schemas.openxmlformats.org/drawingml/2006/main">
              <a:ext uri="{FF2B5EF4-FFF2-40B4-BE49-F238E27FC236}">
                <a16:creationId xmlns:a16="http://schemas.microsoft.com/office/drawing/2014/main" id="{E49B0920-0CF8-4234-93E8-A41A3269360D}"/>
              </a:ext>
            </a:extLst>
          </p:cNvPr>
          <p:cNvSpPr>
            <a:spLocks xmlns:a="http://schemas.openxmlformats.org/drawingml/2006/main" noGrp="1"/>
          </p:cNvSpPr>
          <p:nvPr/>
        </p:nvSpPr>
        <p:spPr>
          <a:xfrm xmlns:a="http://schemas.openxmlformats.org/drawingml/2006/main">
            <a:off x="5238750" y="5972175"/>
            <a:ext cx="11906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F6F3EA"/>
                </a:solidFill>
                <a:latin typeface="Nimbus Sans"/>
                <a:ea typeface="Nimbus Sans"/>
                <a:cs typeface="Nimbus Sans"/>
              </a:defRPr>
            </a:defPPr>
          </a:lstStyle>
          <a:p xmlns:a="http://schemas.openxmlformats.org/drawingml/2006/main">
            <a:pPr algn="l">
              <a:buNone/>
              <a:defRPr sz="3150" b="0">
                <a:solidFill>
                  <a:srgbClr val="F6F3EA"/>
                </a:solidFill>
                <a:latin typeface="Nimbus Sans"/>
                <a:ea typeface="Nimbus Sans"/>
                <a:cs typeface="Nimbus Sans"/>
              </a:defRPr>
            </a:pPr>
            <a:r>
              <a:rPr sz="3150" b="0">
                <a:solidFill>
                  <a:srgbClr val="F6F3EA"/>
                </a:solidFill>
                <a:latin typeface="Nimbus Sans"/>
                <a:ea typeface="Nimbus Sans"/>
                <a:cs typeface="Nimbus Sans"/>
              </a:rPr>
              <a:t>What ran, who reviewed it and what remains open.</a:t>
            </a:r>
          </a:p>
        </p:txBody>
      </p:sp>
      <p:sp>
        <p:nvSpPr>
          <p:cNvPr id="11" name="">
            <a:extLst xmlns:a="http://schemas.openxmlformats.org/drawingml/2006/main">
              <a:ext uri="{FF2B5EF4-FFF2-40B4-BE49-F238E27FC236}">
                <a16:creationId xmlns:a16="http://schemas.microsoft.com/office/drawing/2014/main" id="{9125E943-3531-4574-BE2C-8EF35A5735B7}"/>
              </a:ext>
            </a:extLst>
          </p:cNvPr>
          <p:cNvSpPr>
            <a:spLocks xmlns:a="http://schemas.openxmlformats.org/drawingml/2006/main" noGrp="1"/>
          </p:cNvSpPr>
          <p:nvPr/>
        </p:nvSpPr>
        <p:spPr>
          <a:xfrm xmlns:a="http://schemas.openxmlformats.org/drawingml/2006/main">
            <a:off x="1143000" y="7029450"/>
            <a:ext cx="16002000" cy="0"/>
          </a:xfrm>
          <a:prstGeom xmlns:a="http://schemas.openxmlformats.org/drawingml/2006/main" prst="line">
            <a:avLst/>
          </a:prstGeom>
          <a:noFill xmlns:a="http://schemas.openxmlformats.org/drawingml/2006/main"/>
          <a:ln xmlns:a="http://schemas.openxmlformats.org/drawingml/2006/main" w="19050">
            <a:solidFill>
              <a:srgbClr val="49696C"/>
            </a:solidFill>
            <a:prstDash val="solid"/>
          </a:ln>
        </p:spPr>
      </p:sp>
      <p:sp>
        <p:nvSpPr>
          <p:cNvPr id="12" name="">
            <a:extLst xmlns:a="http://schemas.openxmlformats.org/drawingml/2006/main">
              <a:ext uri="{FF2B5EF4-FFF2-40B4-BE49-F238E27FC236}">
                <a16:creationId xmlns:a16="http://schemas.microsoft.com/office/drawing/2014/main" id="{21540844-E6B7-405E-BFB3-2307F20D8E1B}"/>
              </a:ext>
            </a:extLst>
          </p:cNvPr>
          <p:cNvSpPr>
            <a:spLocks xmlns:a="http://schemas.openxmlformats.org/drawingml/2006/main" noGrp="1"/>
          </p:cNvSpPr>
          <p:nvPr/>
        </p:nvSpPr>
        <p:spPr>
          <a:xfrm xmlns:a="http://schemas.openxmlformats.org/drawingml/2006/main">
            <a:off x="1143000" y="7267575"/>
            <a:ext cx="3810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81D9C2"/>
                </a:solidFill>
                <a:latin typeface="Nimbus Sans"/>
                <a:ea typeface="Nimbus Sans"/>
                <a:cs typeface="Nimbus Sans"/>
              </a:defRPr>
            </a:defPPr>
          </a:lstStyle>
          <a:p xmlns:a="http://schemas.openxmlformats.org/drawingml/2006/main">
            <a:pPr algn="l">
              <a:buNone/>
              <a:defRPr sz="3150" b="1">
                <a:solidFill>
                  <a:srgbClr val="81D9C2"/>
                </a:solidFill>
                <a:latin typeface="Nimbus Sans"/>
                <a:ea typeface="Nimbus Sans"/>
                <a:cs typeface="Nimbus Sans"/>
              </a:defRPr>
            </a:pPr>
            <a:r>
              <a:rPr sz="3150" b="1">
                <a:solidFill>
                  <a:srgbClr val="81D9C2"/>
                </a:solidFill>
                <a:latin typeface="Nimbus Sans"/>
                <a:ea typeface="Nimbus Sans"/>
                <a:cs typeface="Nimbus Sans"/>
              </a:rPr>
              <a:t>Rights and limits</a:t>
            </a:r>
          </a:p>
        </p:txBody>
      </p:sp>
      <p:sp>
        <p:nvSpPr>
          <p:cNvPr id="13" name="">
            <a:extLst xmlns:a="http://schemas.openxmlformats.org/drawingml/2006/main">
              <a:ext uri="{FF2B5EF4-FFF2-40B4-BE49-F238E27FC236}">
                <a16:creationId xmlns:a16="http://schemas.microsoft.com/office/drawing/2014/main" id="{8ECEF223-F3EA-4093-951A-7B93A230D523}"/>
              </a:ext>
            </a:extLst>
          </p:cNvPr>
          <p:cNvSpPr>
            <a:spLocks xmlns:a="http://schemas.openxmlformats.org/drawingml/2006/main" noGrp="1"/>
          </p:cNvSpPr>
          <p:nvPr/>
        </p:nvSpPr>
        <p:spPr>
          <a:xfrm xmlns:a="http://schemas.openxmlformats.org/drawingml/2006/main">
            <a:off x="5238750" y="7267575"/>
            <a:ext cx="11906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F6F3EA"/>
                </a:solidFill>
                <a:latin typeface="Nimbus Sans"/>
                <a:ea typeface="Nimbus Sans"/>
                <a:cs typeface="Nimbus Sans"/>
              </a:defRPr>
            </a:defPPr>
          </a:lstStyle>
          <a:p xmlns:a="http://schemas.openxmlformats.org/drawingml/2006/main">
            <a:pPr algn="l">
              <a:buNone/>
              <a:defRPr sz="3150" b="0">
                <a:solidFill>
                  <a:srgbClr val="F6F3EA"/>
                </a:solidFill>
                <a:latin typeface="Nimbus Sans"/>
                <a:ea typeface="Nimbus Sans"/>
                <a:cs typeface="Nimbus Sans"/>
              </a:defRPr>
            </a:pPr>
            <a:r>
              <a:rPr sz="3150" b="0">
                <a:solidFill>
                  <a:srgbClr val="F6F3EA"/>
                </a:solidFill>
                <a:latin typeface="Nimbus Sans"/>
                <a:ea typeface="Nimbus Sans"/>
                <a:cs typeface="Nimbus Sans"/>
              </a:rPr>
              <a:t>Allowed recipients, reuse conditions and validity.</a:t>
            </a:r>
          </a:p>
        </p:txBody>
      </p:sp>
      <p:sp>
        <p:nvSpPr>
          <p:cNvPr id="14" name="">
            <a:extLst xmlns:a="http://schemas.openxmlformats.org/drawingml/2006/main">
              <a:ext uri="{FF2B5EF4-FFF2-40B4-BE49-F238E27FC236}">
                <a16:creationId xmlns:a16="http://schemas.microsoft.com/office/drawing/2014/main" id="{9E4B400F-140F-4A97-B6CD-26A8B54AB524}"/>
              </a:ext>
            </a:extLst>
          </p:cNvPr>
          <p:cNvSpPr>
            <a:spLocks xmlns:a="http://schemas.openxmlformats.org/drawingml/2006/main" noGrp="1"/>
          </p:cNvSpPr>
          <p:nvPr/>
        </p:nvSpPr>
        <p:spPr>
          <a:xfrm xmlns:a="http://schemas.openxmlformats.org/drawingml/2006/main">
            <a:off x="1143000" y="9048750"/>
            <a:ext cx="1581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BDD0D0"/>
                </a:solidFill>
                <a:latin typeface="Nimbus Sans"/>
                <a:ea typeface="Nimbus Sans"/>
                <a:cs typeface="Nimbus Sans"/>
              </a:defRPr>
            </a:defPPr>
          </a:lstStyle>
          <a:p xmlns:a="http://schemas.openxmlformats.org/drawingml/2006/main">
            <a:pPr algn="l">
              <a:buNone/>
              <a:defRPr sz="2175" b="0">
                <a:solidFill>
                  <a:srgbClr val="BDD0D0"/>
                </a:solidFill>
                <a:latin typeface="Nimbus Sans"/>
                <a:ea typeface="Nimbus Sans"/>
                <a:cs typeface="Nimbus Sans"/>
              </a:defRPr>
            </a:pPr>
            <a:r>
              <a:rPr sz="2175" b="0">
                <a:solidFill>
                  <a:srgbClr val="BDD0D0"/>
                </a:solidFill>
                <a:latin typeface="Nimbus Sans"/>
                <a:ea typeface="Nimbus Sans"/>
                <a:cs typeface="Nimbus Sans"/>
              </a:rPr>
              <a:t>The receiving node checks present applicability and permission before reuse.</a:t>
            </a:r>
          </a:p>
        </p:txBody>
      </p:sp>
    </p:spTree>
    <p:extLst>
      <p:ext uri="{BB962C8B-B14F-4D97-AF65-F5344CB8AC3E}">
        <p14:creationId xmlns:p14="http://schemas.microsoft.com/office/powerpoint/2010/main" val="859287270"/>
      </p:ext>
    </p:extLst>
  </p:cSld>
</p:sld>
</file>

<file path=ppt/slides/slide8.xml><?xml version="1.0" encoding="utf-8"?>
<p:sld xmlns:p="http://schemas.openxmlformats.org/presentationml/2006/main">
  <p:cSld>
    <p:bg>
      <p:bgPr>
        <a:solidFill xmlns:a="http://schemas.openxmlformats.org/drawingml/2006/main">
          <a:srgbClr val="11293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2C9675E-6D51-4F05-8A7E-3D219207AF3D}"/>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6F3EA"/>
                </a:solidFill>
                <a:latin typeface="Nimbus Sans"/>
                <a:ea typeface="Nimbus Sans"/>
                <a:cs typeface="Nimbus Sans"/>
              </a:defRPr>
            </a:defPPr>
          </a:lstStyle>
          <a:p xmlns:a="http://schemas.openxmlformats.org/drawingml/2006/main">
            <a:pPr algn="l">
              <a:buNone/>
              <a:defRPr sz="5700" b="1">
                <a:solidFill>
                  <a:srgbClr val="F6F3EA"/>
                </a:solidFill>
                <a:latin typeface="Nimbus Sans"/>
                <a:ea typeface="Nimbus Sans"/>
                <a:cs typeface="Nimbus Sans"/>
              </a:defRPr>
            </a:pPr>
            <a:r>
              <a:rPr sz="5700" b="1">
                <a:solidFill>
                  <a:srgbClr val="F6F3EA"/>
                </a:solidFill>
                <a:latin typeface="Nimbus Sans"/>
                <a:ea typeface="Nimbus Sans"/>
                <a:cs typeface="Nimbus Sans"/>
              </a:rPr>
              <a:t>Three different kinds of reuse</a:t>
            </a:r>
          </a:p>
        </p:txBody>
      </p:sp>
      <p:sp>
        <p:nvSpPr>
          <p:cNvPr id="2" name="">
            <a:extLst xmlns:a="http://schemas.openxmlformats.org/drawingml/2006/main">
              <a:ext uri="{FF2B5EF4-FFF2-40B4-BE49-F238E27FC236}">
                <a16:creationId xmlns:a16="http://schemas.microsoft.com/office/drawing/2014/main" id="{AFF2FF99-9298-44F4-9A6B-B49C0322DEF5}"/>
              </a:ext>
            </a:extLst>
          </p:cNvPr>
          <p:cNvSpPr>
            <a:spLocks xmlns:a="http://schemas.openxmlformats.org/drawingml/2006/main" noGrp="1"/>
          </p:cNvSpPr>
          <p:nvPr/>
        </p:nvSpPr>
        <p:spPr>
          <a:xfrm xmlns:a="http://schemas.openxmlformats.org/drawingml/2006/main">
            <a:off x="1143000" y="3333750"/>
            <a:ext cx="3810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81D9C2"/>
                </a:solidFill>
                <a:latin typeface="Nimbus Sans"/>
                <a:ea typeface="Nimbus Sans"/>
                <a:cs typeface="Nimbus Sans"/>
              </a:defRPr>
            </a:defPPr>
          </a:lstStyle>
          <a:p xmlns:a="http://schemas.openxmlformats.org/drawingml/2006/main">
            <a:pPr algn="l">
              <a:buNone/>
              <a:defRPr sz="3375" b="1">
                <a:solidFill>
                  <a:srgbClr val="81D9C2"/>
                </a:solidFill>
                <a:latin typeface="Nimbus Sans"/>
                <a:ea typeface="Nimbus Sans"/>
                <a:cs typeface="Nimbus Sans"/>
              </a:defRPr>
            </a:pPr>
            <a:r>
              <a:rPr sz="3375" b="1">
                <a:solidFill>
                  <a:srgbClr val="81D9C2"/>
                </a:solidFill>
                <a:latin typeface="Nimbus Sans"/>
                <a:ea typeface="Nimbus Sans"/>
                <a:cs typeface="Nimbus Sans"/>
              </a:rPr>
              <a:t>Prior result</a:t>
            </a:r>
          </a:p>
        </p:txBody>
      </p:sp>
      <p:sp>
        <p:nvSpPr>
          <p:cNvPr id="3" name="">
            <a:extLst xmlns:a="http://schemas.openxmlformats.org/drawingml/2006/main">
              <a:ext uri="{FF2B5EF4-FFF2-40B4-BE49-F238E27FC236}">
                <a16:creationId xmlns:a16="http://schemas.microsoft.com/office/drawing/2014/main" id="{D3052845-82DD-4770-9432-F5D87CEE5751}"/>
              </a:ext>
            </a:extLst>
          </p:cNvPr>
          <p:cNvSpPr>
            <a:spLocks xmlns:a="http://schemas.openxmlformats.org/drawingml/2006/main" noGrp="1"/>
          </p:cNvSpPr>
          <p:nvPr/>
        </p:nvSpPr>
        <p:spPr>
          <a:xfrm xmlns:a="http://schemas.openxmlformats.org/drawingml/2006/main">
            <a:off x="5238750" y="3333750"/>
            <a:ext cx="11906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0">
                <a:solidFill>
                  <a:srgbClr val="F6F3EA"/>
                </a:solidFill>
                <a:latin typeface="Nimbus Sans"/>
                <a:ea typeface="Nimbus Sans"/>
                <a:cs typeface="Nimbus Sans"/>
              </a:defRPr>
            </a:defPPr>
          </a:lstStyle>
          <a:p xmlns:a="http://schemas.openxmlformats.org/drawingml/2006/main">
            <a:pPr algn="l">
              <a:buNone/>
              <a:defRPr sz="3375" b="0">
                <a:solidFill>
                  <a:srgbClr val="F6F3EA"/>
                </a:solidFill>
                <a:latin typeface="Nimbus Sans"/>
                <a:ea typeface="Nimbus Sans"/>
                <a:cs typeface="Nimbus Sans"/>
              </a:defRPr>
            </a:pPr>
            <a:r>
              <a:rPr sz="3375" b="0">
                <a:solidFill>
                  <a:srgbClr val="F6F3EA"/>
                </a:solidFill>
                <a:latin typeface="Nimbus Sans"/>
                <a:ea typeface="Nimbus Sans"/>
                <a:cs typeface="Nimbus Sans"/>
              </a:rPr>
              <a:t>Relevant inputs, conditions and authority must match.</a:t>
            </a:r>
          </a:p>
        </p:txBody>
      </p:sp>
      <p:sp>
        <p:nvSpPr>
          <p:cNvPr id="4" name="">
            <a:extLst xmlns:a="http://schemas.openxmlformats.org/drawingml/2006/main">
              <a:ext uri="{FF2B5EF4-FFF2-40B4-BE49-F238E27FC236}">
                <a16:creationId xmlns:a16="http://schemas.microsoft.com/office/drawing/2014/main" id="{8C89497D-C2C8-4915-AF99-B181D136D1E8}"/>
              </a:ext>
            </a:extLst>
          </p:cNvPr>
          <p:cNvSpPr>
            <a:spLocks xmlns:a="http://schemas.openxmlformats.org/drawingml/2006/main" noGrp="1"/>
          </p:cNvSpPr>
          <p:nvPr/>
        </p:nvSpPr>
        <p:spPr>
          <a:xfrm xmlns:a="http://schemas.openxmlformats.org/drawingml/2006/main">
            <a:off x="1143000" y="4762500"/>
            <a:ext cx="16002000" cy="0"/>
          </a:xfrm>
          <a:prstGeom xmlns:a="http://schemas.openxmlformats.org/drawingml/2006/main" prst="line">
            <a:avLst/>
          </a:prstGeom>
          <a:noFill xmlns:a="http://schemas.openxmlformats.org/drawingml/2006/main"/>
          <a:ln xmlns:a="http://schemas.openxmlformats.org/drawingml/2006/main" w="19050">
            <a:solidFill>
              <a:srgbClr val="49696C"/>
            </a:solidFill>
            <a:prstDash val="solid"/>
          </a:ln>
        </p:spPr>
      </p:sp>
      <p:sp>
        <p:nvSpPr>
          <p:cNvPr id="5" name="">
            <a:extLst xmlns:a="http://schemas.openxmlformats.org/drawingml/2006/main">
              <a:ext uri="{FF2B5EF4-FFF2-40B4-BE49-F238E27FC236}">
                <a16:creationId xmlns:a16="http://schemas.microsoft.com/office/drawing/2014/main" id="{BFB4A9E6-450D-4E52-9BF5-E9FCA87C13A9}"/>
              </a:ext>
            </a:extLst>
          </p:cNvPr>
          <p:cNvSpPr>
            <a:spLocks xmlns:a="http://schemas.openxmlformats.org/drawingml/2006/main" noGrp="1"/>
          </p:cNvSpPr>
          <p:nvPr/>
        </p:nvSpPr>
        <p:spPr>
          <a:xfrm xmlns:a="http://schemas.openxmlformats.org/drawingml/2006/main">
            <a:off x="1143000" y="5000625"/>
            <a:ext cx="3810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81D9C2"/>
                </a:solidFill>
                <a:latin typeface="Nimbus Sans"/>
                <a:ea typeface="Nimbus Sans"/>
                <a:cs typeface="Nimbus Sans"/>
              </a:defRPr>
            </a:defPPr>
          </a:lstStyle>
          <a:p xmlns:a="http://schemas.openxmlformats.org/drawingml/2006/main">
            <a:pPr algn="l">
              <a:buNone/>
              <a:defRPr sz="3375" b="1">
                <a:solidFill>
                  <a:srgbClr val="81D9C2"/>
                </a:solidFill>
                <a:latin typeface="Nimbus Sans"/>
                <a:ea typeface="Nimbus Sans"/>
                <a:cs typeface="Nimbus Sans"/>
              </a:defRPr>
            </a:pPr>
            <a:r>
              <a:rPr sz="3375" b="1">
                <a:solidFill>
                  <a:srgbClr val="81D9C2"/>
                </a:solidFill>
                <a:latin typeface="Nimbus Sans"/>
                <a:ea typeface="Nimbus Sans"/>
                <a:cs typeface="Nimbus Sans"/>
              </a:rPr>
              <a:t>Adapted workflow</a:t>
            </a:r>
          </a:p>
        </p:txBody>
      </p:sp>
      <p:sp>
        <p:nvSpPr>
          <p:cNvPr id="6" name="">
            <a:extLst xmlns:a="http://schemas.openxmlformats.org/drawingml/2006/main">
              <a:ext uri="{FF2B5EF4-FFF2-40B4-BE49-F238E27FC236}">
                <a16:creationId xmlns:a16="http://schemas.microsoft.com/office/drawing/2014/main" id="{7C137FF5-B518-4BF5-B6AD-7BBE27C8C22A}"/>
              </a:ext>
            </a:extLst>
          </p:cNvPr>
          <p:cNvSpPr>
            <a:spLocks xmlns:a="http://schemas.openxmlformats.org/drawingml/2006/main" noGrp="1"/>
          </p:cNvSpPr>
          <p:nvPr/>
        </p:nvSpPr>
        <p:spPr>
          <a:xfrm xmlns:a="http://schemas.openxmlformats.org/drawingml/2006/main">
            <a:off x="5238750" y="5000625"/>
            <a:ext cx="11906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0">
                <a:solidFill>
                  <a:srgbClr val="F6F3EA"/>
                </a:solidFill>
                <a:latin typeface="Nimbus Sans"/>
                <a:ea typeface="Nimbus Sans"/>
                <a:cs typeface="Nimbus Sans"/>
              </a:defRPr>
            </a:defPPr>
          </a:lstStyle>
          <a:p xmlns:a="http://schemas.openxmlformats.org/drawingml/2006/main">
            <a:pPr algn="l">
              <a:buNone/>
              <a:defRPr sz="3375" b="0">
                <a:solidFill>
                  <a:srgbClr val="F6F3EA"/>
                </a:solidFill>
                <a:latin typeface="Nimbus Sans"/>
                <a:ea typeface="Nimbus Sans"/>
                <a:cs typeface="Nimbus Sans"/>
              </a:defRPr>
            </a:pPr>
            <a:r>
              <a:rPr sz="3375" b="0">
                <a:solidFill>
                  <a:srgbClr val="F6F3EA"/>
                </a:solidFill>
                <a:latin typeface="Nimbus Sans"/>
                <a:ea typeface="Nimbus Sans"/>
                <a:cs typeface="Nimbus Sans"/>
              </a:rPr>
              <a:t>New inputs produce a new result and new assessment.</a:t>
            </a:r>
          </a:p>
        </p:txBody>
      </p:sp>
      <p:sp>
        <p:nvSpPr>
          <p:cNvPr id="7" name="">
            <a:extLst xmlns:a="http://schemas.openxmlformats.org/drawingml/2006/main">
              <a:ext uri="{FF2B5EF4-FFF2-40B4-BE49-F238E27FC236}">
                <a16:creationId xmlns:a16="http://schemas.microsoft.com/office/drawing/2014/main" id="{4F0E81B4-7998-4371-B4B6-2E0BF8ACC733}"/>
              </a:ext>
            </a:extLst>
          </p:cNvPr>
          <p:cNvSpPr>
            <a:spLocks xmlns:a="http://schemas.openxmlformats.org/drawingml/2006/main" noGrp="1"/>
          </p:cNvSpPr>
          <p:nvPr/>
        </p:nvSpPr>
        <p:spPr>
          <a:xfrm xmlns:a="http://schemas.openxmlformats.org/drawingml/2006/main">
            <a:off x="1143000" y="6429375"/>
            <a:ext cx="16002000" cy="0"/>
          </a:xfrm>
          <a:prstGeom xmlns:a="http://schemas.openxmlformats.org/drawingml/2006/main" prst="line">
            <a:avLst/>
          </a:prstGeom>
          <a:noFill xmlns:a="http://schemas.openxmlformats.org/drawingml/2006/main"/>
          <a:ln xmlns:a="http://schemas.openxmlformats.org/drawingml/2006/main" w="19050">
            <a:solidFill>
              <a:srgbClr val="49696C"/>
            </a:solidFill>
            <a:prstDash val="solid"/>
          </a:ln>
        </p:spPr>
      </p:sp>
      <p:sp>
        <p:nvSpPr>
          <p:cNvPr id="8" name="">
            <a:extLst xmlns:a="http://schemas.openxmlformats.org/drawingml/2006/main">
              <a:ext uri="{FF2B5EF4-FFF2-40B4-BE49-F238E27FC236}">
                <a16:creationId xmlns:a16="http://schemas.microsoft.com/office/drawing/2014/main" id="{EBF8C4E7-87CB-4E10-9744-4B9DF9126EAE}"/>
              </a:ext>
            </a:extLst>
          </p:cNvPr>
          <p:cNvSpPr>
            <a:spLocks xmlns:a="http://schemas.openxmlformats.org/drawingml/2006/main" noGrp="1"/>
          </p:cNvSpPr>
          <p:nvPr/>
        </p:nvSpPr>
        <p:spPr>
          <a:xfrm xmlns:a="http://schemas.openxmlformats.org/drawingml/2006/main">
            <a:off x="1143000" y="6667500"/>
            <a:ext cx="3810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81D9C2"/>
                </a:solidFill>
                <a:latin typeface="Nimbus Sans"/>
                <a:ea typeface="Nimbus Sans"/>
                <a:cs typeface="Nimbus Sans"/>
              </a:defRPr>
            </a:defPPr>
          </a:lstStyle>
          <a:p xmlns:a="http://schemas.openxmlformats.org/drawingml/2006/main">
            <a:pPr algn="l">
              <a:buNone/>
              <a:defRPr sz="3375" b="1">
                <a:solidFill>
                  <a:srgbClr val="81D9C2"/>
                </a:solidFill>
                <a:latin typeface="Nimbus Sans"/>
                <a:ea typeface="Nimbus Sans"/>
                <a:cs typeface="Nimbus Sans"/>
              </a:defRPr>
            </a:pPr>
            <a:r>
              <a:rPr sz="3375" b="1">
                <a:solidFill>
                  <a:srgbClr val="81D9C2"/>
                </a:solidFill>
                <a:latin typeface="Nimbus Sans"/>
                <a:ea typeface="Nimbus Sans"/>
                <a:cs typeface="Nimbus Sans"/>
              </a:rPr>
              <a:t>Cross-domain bridge</a:t>
            </a:r>
          </a:p>
        </p:txBody>
      </p:sp>
      <p:sp>
        <p:nvSpPr>
          <p:cNvPr id="9" name="">
            <a:extLst xmlns:a="http://schemas.openxmlformats.org/drawingml/2006/main">
              <a:ext uri="{FF2B5EF4-FFF2-40B4-BE49-F238E27FC236}">
                <a16:creationId xmlns:a16="http://schemas.microsoft.com/office/drawing/2014/main" id="{B95FA778-3725-4091-8D54-88434A8D60E5}"/>
              </a:ext>
            </a:extLst>
          </p:cNvPr>
          <p:cNvSpPr>
            <a:spLocks xmlns:a="http://schemas.openxmlformats.org/drawingml/2006/main" noGrp="1"/>
          </p:cNvSpPr>
          <p:nvPr/>
        </p:nvSpPr>
        <p:spPr>
          <a:xfrm xmlns:a="http://schemas.openxmlformats.org/drawingml/2006/main">
            <a:off x="5238750" y="6667500"/>
            <a:ext cx="11906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0">
                <a:solidFill>
                  <a:srgbClr val="F6F3EA"/>
                </a:solidFill>
                <a:latin typeface="Nimbus Sans"/>
                <a:ea typeface="Nimbus Sans"/>
                <a:cs typeface="Nimbus Sans"/>
              </a:defRPr>
            </a:defPPr>
          </a:lstStyle>
          <a:p xmlns:a="http://schemas.openxmlformats.org/drawingml/2006/main">
            <a:pPr algn="l">
              <a:buNone/>
              <a:defRPr sz="3375" b="0">
                <a:solidFill>
                  <a:srgbClr val="F6F3EA"/>
                </a:solidFill>
                <a:latin typeface="Nimbus Sans"/>
                <a:ea typeface="Nimbus Sans"/>
                <a:cs typeface="Nimbus Sans"/>
              </a:defRPr>
            </a:pPr>
            <a:r>
              <a:rPr sz="3375" b="0">
                <a:solidFill>
                  <a:srgbClr val="F6F3EA"/>
                </a:solidFill>
                <a:latin typeface="Nimbus Sans"/>
                <a:ea typeface="Nimbus Sans"/>
                <a:cs typeface="Nimbus Sans"/>
              </a:rPr>
              <a:t>A candidate relation needs destination-domain validation.</a:t>
            </a:r>
          </a:p>
        </p:txBody>
      </p:sp>
      <p:sp>
        <p:nvSpPr>
          <p:cNvPr id="10" name="">
            <a:extLst xmlns:a="http://schemas.openxmlformats.org/drawingml/2006/main">
              <a:ext uri="{FF2B5EF4-FFF2-40B4-BE49-F238E27FC236}">
                <a16:creationId xmlns:a16="http://schemas.microsoft.com/office/drawing/2014/main" id="{434E0CDE-AE49-4578-ADAF-857DD21EDD92}"/>
              </a:ext>
            </a:extLst>
          </p:cNvPr>
          <p:cNvSpPr>
            <a:spLocks xmlns:a="http://schemas.openxmlformats.org/drawingml/2006/main" noGrp="1"/>
          </p:cNvSpPr>
          <p:nvPr/>
        </p:nvSpPr>
        <p:spPr>
          <a:xfrm xmlns:a="http://schemas.openxmlformats.org/drawingml/2006/main">
            <a:off x="1143000" y="9048750"/>
            <a:ext cx="1581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BDD0D0"/>
                </a:solidFill>
                <a:latin typeface="Nimbus Sans"/>
                <a:ea typeface="Nimbus Sans"/>
                <a:cs typeface="Nimbus Sans"/>
              </a:defRPr>
            </a:defPPr>
          </a:lstStyle>
          <a:p xmlns:a="http://schemas.openxmlformats.org/drawingml/2006/main">
            <a:pPr algn="l">
              <a:buNone/>
              <a:defRPr sz="2175" b="0">
                <a:solidFill>
                  <a:srgbClr val="BDD0D0"/>
                </a:solidFill>
                <a:latin typeface="Nimbus Sans"/>
                <a:ea typeface="Nimbus Sans"/>
                <a:cs typeface="Nimbus Sans"/>
              </a:defRPr>
            </a:pPr>
            <a:r>
              <a:rPr sz="2175" b="0">
                <a:solidFill>
                  <a:srgbClr val="BDD0D0"/>
                </a:solidFill>
                <a:latin typeface="Nimbus Sans"/>
                <a:ea typeface="Nimbus Sans"/>
                <a:cs typeface="Nimbus Sans"/>
              </a:rPr>
              <a:t>Prompt similarity helps discovery. It does not establish equivalent tasks.</a:t>
            </a:r>
          </a:p>
        </p:txBody>
      </p:sp>
    </p:spTree>
    <p:extLst>
      <p:ext uri="{BB962C8B-B14F-4D97-AF65-F5344CB8AC3E}">
        <p14:creationId xmlns:p14="http://schemas.microsoft.com/office/powerpoint/2010/main" val="710667710"/>
      </p:ext>
    </p:extLst>
  </p:cSld>
</p:sld>
</file>

<file path=ppt/slides/slide9.xml><?xml version="1.0" encoding="utf-8"?>
<p:sld xmlns:p="http://schemas.openxmlformats.org/presentationml/2006/main">
  <p:cSld>
    <p:bg>
      <p:bgPr>
        <a:solidFill xmlns:a="http://schemas.openxmlformats.org/drawingml/2006/main">
          <a:srgbClr val="11293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15CB49-EBD1-440E-9CD9-6985302ACDF3}"/>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6F3EA"/>
                </a:solidFill>
                <a:latin typeface="Nimbus Sans"/>
                <a:ea typeface="Nimbus Sans"/>
                <a:cs typeface="Nimbus Sans"/>
              </a:defRPr>
            </a:defPPr>
          </a:lstStyle>
          <a:p xmlns:a="http://schemas.openxmlformats.org/drawingml/2006/main">
            <a:pPr algn="l">
              <a:buNone/>
              <a:defRPr sz="5700" b="1">
                <a:solidFill>
                  <a:srgbClr val="F6F3EA"/>
                </a:solidFill>
                <a:latin typeface="Nimbus Sans"/>
                <a:ea typeface="Nimbus Sans"/>
                <a:cs typeface="Nimbus Sans"/>
              </a:defRPr>
            </a:pPr>
            <a:r>
              <a:rPr sz="5700" b="1">
                <a:solidFill>
                  <a:srgbClr val="F6F3EA"/>
                </a:solidFill>
                <a:latin typeface="Nimbus Sans"/>
                <a:ea typeface="Nimbus Sans"/>
                <a:cs typeface="Nimbus Sans"/>
              </a:rPr>
              <a:t>Integrity and applicability</a:t>
            </a:r>
          </a:p>
        </p:txBody>
      </p:sp>
      <p:sp>
        <p:nvSpPr>
          <p:cNvPr id="2" name="">
            <a:extLst xmlns:a="http://schemas.openxmlformats.org/drawingml/2006/main">
              <a:ext uri="{FF2B5EF4-FFF2-40B4-BE49-F238E27FC236}">
                <a16:creationId xmlns:a16="http://schemas.microsoft.com/office/drawing/2014/main" id="{3D43783D-C7F6-4348-BFC6-C2F954C2C5AE}"/>
              </a:ext>
            </a:extLst>
          </p:cNvPr>
          <p:cNvSpPr>
            <a:spLocks xmlns:a="http://schemas.openxmlformats.org/drawingml/2006/main" noGrp="1"/>
          </p:cNvSpPr>
          <p:nvPr/>
        </p:nvSpPr>
        <p:spPr>
          <a:xfrm xmlns:a="http://schemas.openxmlformats.org/drawingml/2006/main">
            <a:off x="1143000" y="2428875"/>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BDD0D0"/>
                </a:solidFill>
                <a:latin typeface="Nimbus Sans"/>
                <a:ea typeface="Nimbus Sans"/>
                <a:cs typeface="Nimbus Sans"/>
              </a:defRPr>
            </a:defPPr>
          </a:lstStyle>
          <a:p xmlns:a="http://schemas.openxmlformats.org/drawingml/2006/main">
            <a:pPr algn="l">
              <a:buNone/>
              <a:defRPr sz="2700" b="0">
                <a:solidFill>
                  <a:srgbClr val="BDD0D0"/>
                </a:solidFill>
                <a:latin typeface="Nimbus Sans"/>
                <a:ea typeface="Nimbus Sans"/>
                <a:cs typeface="Nimbus Sans"/>
              </a:defRPr>
            </a:pPr>
            <a:r>
              <a:rPr sz="2700" b="0">
                <a:solidFill>
                  <a:srgbClr val="BDD0D0"/>
                </a:solidFill>
                <a:latin typeface="Nimbus Sans"/>
                <a:ea typeface="Nimbus Sans"/>
                <a:cs typeface="Nimbus Sans"/>
              </a:rPr>
              <a:t>Illustrative adverse case</a:t>
            </a:r>
          </a:p>
        </p:txBody>
      </p:sp>
      <p:sp>
        <p:nvSpPr>
          <p:cNvPr id="3" name="">
            <a:extLst xmlns:a="http://schemas.openxmlformats.org/drawingml/2006/main">
              <a:ext uri="{FF2B5EF4-FFF2-40B4-BE49-F238E27FC236}">
                <a16:creationId xmlns:a16="http://schemas.microsoft.com/office/drawing/2014/main" id="{FC26FE72-705F-4C75-BCB8-1A3583984CF9}"/>
              </a:ext>
            </a:extLst>
          </p:cNvPr>
          <p:cNvSpPr>
            <a:spLocks xmlns:a="http://schemas.openxmlformats.org/drawingml/2006/main" noGrp="1"/>
          </p:cNvSpPr>
          <p:nvPr/>
        </p:nvSpPr>
        <p:spPr>
          <a:xfrm xmlns:a="http://schemas.openxmlformats.org/drawingml/2006/main">
            <a:off x="1143000" y="3381375"/>
            <a:ext cx="742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81D9C2"/>
                </a:solidFill>
                <a:latin typeface="Nimbus Sans"/>
                <a:ea typeface="Nimbus Sans"/>
                <a:cs typeface="Nimbus Sans"/>
              </a:defRPr>
            </a:defPPr>
          </a:lstStyle>
          <a:p xmlns:a="http://schemas.openxmlformats.org/drawingml/2006/main">
            <a:pPr algn="l">
              <a:buNone/>
              <a:defRPr sz="3900" b="1">
                <a:solidFill>
                  <a:srgbClr val="81D9C2"/>
                </a:solidFill>
                <a:latin typeface="Nimbus Sans"/>
                <a:ea typeface="Nimbus Sans"/>
                <a:cs typeface="Nimbus Sans"/>
              </a:defRPr>
            </a:pPr>
            <a:r>
              <a:rPr sz="3900" b="1">
                <a:solidFill>
                  <a:srgbClr val="81D9C2"/>
                </a:solidFill>
                <a:latin typeface="Nimbus Sans"/>
                <a:ea typeface="Nimbus Sans"/>
                <a:cs typeface="Nimbus Sans"/>
              </a:rPr>
              <a:t>Package integrity</a:t>
            </a:r>
          </a:p>
        </p:txBody>
      </p:sp>
      <p:sp>
        <p:nvSpPr>
          <p:cNvPr id="4" name="">
            <a:extLst xmlns:a="http://schemas.openxmlformats.org/drawingml/2006/main">
              <a:ext uri="{FF2B5EF4-FFF2-40B4-BE49-F238E27FC236}">
                <a16:creationId xmlns:a16="http://schemas.microsoft.com/office/drawing/2014/main" id="{1B0985A9-8C25-43DF-9080-5EEE4EA41AFD}"/>
              </a:ext>
            </a:extLst>
          </p:cNvPr>
          <p:cNvSpPr>
            <a:spLocks xmlns:a="http://schemas.openxmlformats.org/drawingml/2006/main" noGrp="1"/>
          </p:cNvSpPr>
          <p:nvPr/>
        </p:nvSpPr>
        <p:spPr>
          <a:xfrm xmlns:a="http://schemas.openxmlformats.org/drawingml/2006/main">
            <a:off x="1143000" y="4429125"/>
            <a:ext cx="7429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0">
                <a:solidFill>
                  <a:srgbClr val="F6F3EA"/>
                </a:solidFill>
                <a:latin typeface="Nimbus Sans"/>
                <a:ea typeface="Nimbus Sans"/>
                <a:cs typeface="Nimbus Sans"/>
              </a:defRPr>
            </a:defPPr>
          </a:lstStyle>
          <a:p xmlns:a="http://schemas.openxmlformats.org/drawingml/2006/main">
            <a:pPr algn="l">
              <a:buNone/>
              <a:defRPr sz="3525" b="0">
                <a:solidFill>
                  <a:srgbClr val="F6F3EA"/>
                </a:solidFill>
                <a:latin typeface="Nimbus Sans"/>
                <a:ea typeface="Nimbus Sans"/>
                <a:cs typeface="Nimbus Sans"/>
              </a:defRPr>
            </a:pPr>
            <a:r>
              <a:rPr sz="3525" b="0">
                <a:solidFill>
                  <a:srgbClr val="F6F3EA"/>
                </a:solidFill>
                <a:latin typeface="Nimbus Sans"/>
                <a:ea typeface="Nimbus Sans"/>
                <a:cs typeface="Nimbus Sans"/>
              </a:rPr>
              <a:t>Expected bytes match</a:t>
            </a:r>
          </a:p>
          <a:p xmlns:a="http://schemas.openxmlformats.org/drawingml/2006/main">
            <a:r>
              <a:t/>
            </a:r>
          </a:p>
          <a:p xmlns:a="http://schemas.openxmlformats.org/drawingml/2006/main">
            <a:pPr algn="l">
              <a:buNone/>
              <a:defRPr sz="3525" b="0">
                <a:solidFill>
                  <a:srgbClr val="F6F3EA"/>
                </a:solidFill>
                <a:latin typeface="Nimbus Sans"/>
                <a:ea typeface="Nimbus Sans"/>
                <a:cs typeface="Nimbus Sans"/>
              </a:defRPr>
            </a:pPr>
            <a:r>
              <a:rPr sz="3525" b="0">
                <a:solidFill>
                  <a:srgbClr val="F6F3EA"/>
                </a:solidFill>
                <a:latin typeface="Nimbus Sans"/>
                <a:ea typeface="Nimbus Sans"/>
                <a:cs typeface="Nimbus Sans"/>
              </a:rPr>
              <a:t>Origin and prior checks retained</a:t>
            </a:r>
          </a:p>
        </p:txBody>
      </p:sp>
      <p:sp>
        <p:nvSpPr>
          <p:cNvPr id="5" name="">
            <a:extLst xmlns:a="http://schemas.openxmlformats.org/drawingml/2006/main">
              <a:ext uri="{FF2B5EF4-FFF2-40B4-BE49-F238E27FC236}">
                <a16:creationId xmlns:a16="http://schemas.microsoft.com/office/drawing/2014/main" id="{26842A1B-A199-41D3-9805-97ADE06E6F92}"/>
              </a:ext>
            </a:extLst>
          </p:cNvPr>
          <p:cNvSpPr>
            <a:spLocks xmlns:a="http://schemas.openxmlformats.org/drawingml/2006/main" noGrp="1"/>
          </p:cNvSpPr>
          <p:nvPr/>
        </p:nvSpPr>
        <p:spPr>
          <a:xfrm xmlns:a="http://schemas.openxmlformats.org/drawingml/2006/main">
            <a:off x="9525000" y="3381375"/>
            <a:ext cx="742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81D9C2"/>
                </a:solidFill>
                <a:latin typeface="Nimbus Sans"/>
                <a:ea typeface="Nimbus Sans"/>
                <a:cs typeface="Nimbus Sans"/>
              </a:defRPr>
            </a:defPPr>
          </a:lstStyle>
          <a:p xmlns:a="http://schemas.openxmlformats.org/drawingml/2006/main">
            <a:pPr algn="l">
              <a:buNone/>
              <a:defRPr sz="3900" b="1">
                <a:solidFill>
                  <a:srgbClr val="81D9C2"/>
                </a:solidFill>
                <a:latin typeface="Nimbus Sans"/>
                <a:ea typeface="Nimbus Sans"/>
                <a:cs typeface="Nimbus Sans"/>
              </a:defRPr>
            </a:pPr>
            <a:r>
              <a:rPr sz="3900" b="1">
                <a:solidFill>
                  <a:srgbClr val="81D9C2"/>
                </a:solidFill>
                <a:latin typeface="Nimbus Sans"/>
                <a:ea typeface="Nimbus Sans"/>
                <a:cs typeface="Nimbus Sans"/>
              </a:rPr>
              <a:t>Current applicability</a:t>
            </a:r>
          </a:p>
        </p:txBody>
      </p:sp>
      <p:sp>
        <p:nvSpPr>
          <p:cNvPr id="6" name="">
            <a:extLst xmlns:a="http://schemas.openxmlformats.org/drawingml/2006/main">
              <a:ext uri="{FF2B5EF4-FFF2-40B4-BE49-F238E27FC236}">
                <a16:creationId xmlns:a16="http://schemas.microsoft.com/office/drawing/2014/main" id="{6DDE2B0E-B2AF-40A3-91F4-6854F75C495F}"/>
              </a:ext>
            </a:extLst>
          </p:cNvPr>
          <p:cNvSpPr>
            <a:spLocks xmlns:a="http://schemas.openxmlformats.org/drawingml/2006/main" noGrp="1"/>
          </p:cNvSpPr>
          <p:nvPr/>
        </p:nvSpPr>
        <p:spPr>
          <a:xfrm xmlns:a="http://schemas.openxmlformats.org/drawingml/2006/main">
            <a:off x="9525000" y="4429125"/>
            <a:ext cx="7429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0">
                <a:solidFill>
                  <a:srgbClr val="F6F3EA"/>
                </a:solidFill>
                <a:latin typeface="Nimbus Sans"/>
                <a:ea typeface="Nimbus Sans"/>
                <a:cs typeface="Nimbus Sans"/>
              </a:defRPr>
            </a:defPPr>
          </a:lstStyle>
          <a:p xmlns:a="http://schemas.openxmlformats.org/drawingml/2006/main">
            <a:pPr algn="l">
              <a:buNone/>
              <a:defRPr sz="3525" b="0">
                <a:solidFill>
                  <a:srgbClr val="F6F3EA"/>
                </a:solidFill>
                <a:latin typeface="Nimbus Sans"/>
                <a:ea typeface="Nimbus Sans"/>
                <a:cs typeface="Nimbus Sans"/>
              </a:defRPr>
            </a:pPr>
            <a:r>
              <a:rPr sz="3525" b="0">
                <a:solidFill>
                  <a:srgbClr val="F6F3EA"/>
                </a:solidFill>
                <a:latin typeface="Nimbus Sans"/>
                <a:ea typeface="Nimbus Sans"/>
                <a:cs typeface="Nimbus Sans"/>
              </a:rPr>
              <a:t>Approval ceiling changed</a:t>
            </a:r>
          </a:p>
          <a:p xmlns:a="http://schemas.openxmlformats.org/drawingml/2006/main">
            <a:r>
              <a:t/>
            </a:r>
          </a:p>
          <a:p xmlns:a="http://schemas.openxmlformats.org/drawingml/2006/main">
            <a:pPr algn="l">
              <a:buNone/>
              <a:defRPr sz="3525" b="0">
                <a:solidFill>
                  <a:srgbClr val="F6F3EA"/>
                </a:solidFill>
                <a:latin typeface="Nimbus Sans"/>
                <a:ea typeface="Nimbus Sans"/>
                <a:cs typeface="Nimbus Sans"/>
              </a:defRPr>
            </a:pPr>
            <a:r>
              <a:rPr sz="3525" b="0">
                <a:solidFill>
                  <a:srgbClr val="F6F3EA"/>
                </a:solidFill>
                <a:latin typeface="Nimbus Sans"/>
                <a:ea typeface="Nimbus Sans"/>
                <a:cs typeface="Nimbus Sans"/>
              </a:rPr>
              <a:t>Prior favorable result no longer applies</a:t>
            </a:r>
          </a:p>
        </p:txBody>
      </p:sp>
      <p:sp>
        <p:nvSpPr>
          <p:cNvPr id="7" name="">
            <a:extLst xmlns:a="http://schemas.openxmlformats.org/drawingml/2006/main">
              <a:ext uri="{FF2B5EF4-FFF2-40B4-BE49-F238E27FC236}">
                <a16:creationId xmlns:a16="http://schemas.microsoft.com/office/drawing/2014/main" id="{2AA4A1CB-ECC6-4661-8A99-05A17B6BC018}"/>
              </a:ext>
            </a:extLst>
          </p:cNvPr>
          <p:cNvSpPr>
            <a:spLocks xmlns:a="http://schemas.openxmlformats.org/drawingml/2006/main" noGrp="1"/>
          </p:cNvSpPr>
          <p:nvPr/>
        </p:nvSpPr>
        <p:spPr>
          <a:xfrm xmlns:a="http://schemas.openxmlformats.org/drawingml/2006/main">
            <a:off x="1143000" y="7953375"/>
            <a:ext cx="1581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2BF78"/>
                </a:solidFill>
                <a:latin typeface="Nimbus Sans"/>
                <a:ea typeface="Nimbus Sans"/>
                <a:cs typeface="Nimbus Sans"/>
              </a:defRPr>
            </a:defPPr>
          </a:lstStyle>
          <a:p xmlns:a="http://schemas.openxmlformats.org/drawingml/2006/main">
            <a:pPr algn="l">
              <a:buNone/>
              <a:defRPr sz="4050" b="1">
                <a:solidFill>
                  <a:srgbClr val="F2BF78"/>
                </a:solidFill>
                <a:latin typeface="Nimbus Sans"/>
                <a:ea typeface="Nimbus Sans"/>
                <a:cs typeface="Nimbus Sans"/>
              </a:defRPr>
            </a:pPr>
            <a:r>
              <a:rPr sz="4050" b="1">
                <a:solidFill>
                  <a:srgbClr val="F2BF78"/>
                </a:solidFill>
                <a:latin typeface="Nimbus Sans"/>
                <a:ea typeface="Nimbus Sans"/>
                <a:cs typeface="Nimbus Sans"/>
              </a:rPr>
              <a:t>Preserve the package. Reassess the new task.</a:t>
            </a:r>
          </a:p>
        </p:txBody>
      </p:sp>
    </p:spTree>
    <p:extLst>
      <p:ext uri="{BB962C8B-B14F-4D97-AF65-F5344CB8AC3E}">
        <p14:creationId xmlns:p14="http://schemas.microsoft.com/office/powerpoint/2010/main" val="244310831"/>
      </p:ext>
    </p:extLst>
  </p:cSld>
</p:sld>
</file>

<file path=ppt/slides/slide10.xml><?xml version="1.0" encoding="utf-8"?>
<p:sld xmlns:p="http://schemas.openxmlformats.org/presentationml/2006/main">
  <p:cSld>
    <p:bg>
      <p:bgPr>
        <a:solidFill xmlns:a="http://schemas.openxmlformats.org/drawingml/2006/main">
          <a:srgbClr val="11293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3EFC0B-C55B-4760-8966-DC2B2427A5AC}"/>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6F3EA"/>
                </a:solidFill>
                <a:latin typeface="Nimbus Sans"/>
                <a:ea typeface="Nimbus Sans"/>
                <a:cs typeface="Nimbus Sans"/>
              </a:defRPr>
            </a:defPPr>
          </a:lstStyle>
          <a:p xmlns:a="http://schemas.openxmlformats.org/drawingml/2006/main">
            <a:pPr algn="l">
              <a:buNone/>
              <a:defRPr sz="5700" b="1">
                <a:solidFill>
                  <a:srgbClr val="F6F3EA"/>
                </a:solidFill>
                <a:latin typeface="Nimbus Sans"/>
                <a:ea typeface="Nimbus Sans"/>
                <a:cs typeface="Nimbus Sans"/>
              </a:defRPr>
            </a:pPr>
            <a:r>
              <a:rPr sz="5700" b="1">
                <a:solidFill>
                  <a:srgbClr val="F6F3EA"/>
                </a:solidFill>
                <a:latin typeface="Nimbus Sans"/>
                <a:ea typeface="Nimbus Sans"/>
                <a:cs typeface="Nimbus Sans"/>
              </a:rPr>
              <a:t>Artifact reuse and shared compute</a:t>
            </a:r>
          </a:p>
        </p:txBody>
      </p:sp>
      <p:sp>
        <p:nvSpPr>
          <p:cNvPr id="2" name="">
            <a:extLst xmlns:a="http://schemas.openxmlformats.org/drawingml/2006/main">
              <a:ext uri="{FF2B5EF4-FFF2-40B4-BE49-F238E27FC236}">
                <a16:creationId xmlns:a16="http://schemas.microsoft.com/office/drawing/2014/main" id="{82402717-FCA4-42C5-9287-AA15EC22CCC6}"/>
              </a:ext>
            </a:extLst>
          </p:cNvPr>
          <p:cNvSpPr>
            <a:spLocks xmlns:a="http://schemas.openxmlformats.org/drawingml/2006/main" noGrp="1"/>
          </p:cNvSpPr>
          <p:nvPr/>
        </p:nvSpPr>
        <p:spPr>
          <a:xfrm xmlns:a="http://schemas.openxmlformats.org/drawingml/2006/main">
            <a:off x="1143000" y="2428875"/>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BDD0D0"/>
                </a:solidFill>
                <a:latin typeface="Nimbus Sans"/>
                <a:ea typeface="Nimbus Sans"/>
                <a:cs typeface="Nimbus Sans"/>
              </a:defRPr>
            </a:defPPr>
          </a:lstStyle>
          <a:p xmlns:a="http://schemas.openxmlformats.org/drawingml/2006/main">
            <a:pPr algn="l">
              <a:buNone/>
              <a:defRPr sz="2700" b="0">
                <a:solidFill>
                  <a:srgbClr val="BDD0D0"/>
                </a:solidFill>
                <a:latin typeface="Nimbus Sans"/>
                <a:ea typeface="Nimbus Sans"/>
                <a:cs typeface="Nimbus Sans"/>
              </a:defRPr>
            </a:pPr>
            <a:r>
              <a:rPr sz="2700" b="0">
                <a:solidFill>
                  <a:srgbClr val="BDD0D0"/>
                </a:solidFill>
                <a:latin typeface="Nimbus Sans"/>
                <a:ea typeface="Nimbus Sans"/>
                <a:cs typeface="Nimbus Sans"/>
              </a:rPr>
              <a:t>Separate capabilities with separate permissions</a:t>
            </a:r>
          </a:p>
        </p:txBody>
      </p:sp>
      <p:sp>
        <p:nvSpPr>
          <p:cNvPr id="3" name="">
            <a:extLst xmlns:a="http://schemas.openxmlformats.org/drawingml/2006/main">
              <a:ext uri="{FF2B5EF4-FFF2-40B4-BE49-F238E27FC236}">
                <a16:creationId xmlns:a16="http://schemas.microsoft.com/office/drawing/2014/main" id="{390C7B3E-D0BF-4E3F-9DD4-F9FB11DB03E8}"/>
              </a:ext>
            </a:extLst>
          </p:cNvPr>
          <p:cNvSpPr>
            <a:spLocks xmlns:a="http://schemas.openxmlformats.org/drawingml/2006/main" noGrp="1"/>
          </p:cNvSpPr>
          <p:nvPr/>
        </p:nvSpPr>
        <p:spPr>
          <a:xfrm xmlns:a="http://schemas.openxmlformats.org/drawingml/2006/main">
            <a:off x="1143000" y="3381375"/>
            <a:ext cx="742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81D9C2"/>
                </a:solidFill>
                <a:latin typeface="Nimbus Sans"/>
                <a:ea typeface="Nimbus Sans"/>
                <a:cs typeface="Nimbus Sans"/>
              </a:defRPr>
            </a:defPPr>
          </a:lstStyle>
          <a:p xmlns:a="http://schemas.openxmlformats.org/drawingml/2006/main">
            <a:pPr algn="l">
              <a:buNone/>
              <a:defRPr sz="3900" b="1">
                <a:solidFill>
                  <a:srgbClr val="81D9C2"/>
                </a:solidFill>
                <a:latin typeface="Nimbus Sans"/>
                <a:ea typeface="Nimbus Sans"/>
                <a:cs typeface="Nimbus Sans"/>
              </a:defRPr>
            </a:pPr>
            <a:r>
              <a:rPr sz="3900" b="1">
                <a:solidFill>
                  <a:srgbClr val="81D9C2"/>
                </a:solidFill>
                <a:latin typeface="Nimbus Sans"/>
                <a:ea typeface="Nimbus Sans"/>
                <a:cs typeface="Nimbus Sans"/>
              </a:rPr>
              <a:t>Reuse an artifact</a:t>
            </a:r>
          </a:p>
        </p:txBody>
      </p:sp>
      <p:sp>
        <p:nvSpPr>
          <p:cNvPr id="4" name="">
            <a:extLst xmlns:a="http://schemas.openxmlformats.org/drawingml/2006/main">
              <a:ext uri="{FF2B5EF4-FFF2-40B4-BE49-F238E27FC236}">
                <a16:creationId xmlns:a16="http://schemas.microsoft.com/office/drawing/2014/main" id="{F465BACE-39F2-4EAD-9B58-1C957EE591C7}"/>
              </a:ext>
            </a:extLst>
          </p:cNvPr>
          <p:cNvSpPr>
            <a:spLocks xmlns:a="http://schemas.openxmlformats.org/drawingml/2006/main" noGrp="1"/>
          </p:cNvSpPr>
          <p:nvPr/>
        </p:nvSpPr>
        <p:spPr>
          <a:xfrm xmlns:a="http://schemas.openxmlformats.org/drawingml/2006/main">
            <a:off x="1143000" y="4429125"/>
            <a:ext cx="7429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F6F3EA"/>
                </a:solidFill>
                <a:latin typeface="Nimbus Sans"/>
                <a:ea typeface="Nimbus Sans"/>
                <a:cs typeface="Nimbus Sans"/>
              </a:defRPr>
            </a:defPPr>
          </a:lstStyle>
          <a:p xmlns:a="http://schemas.openxmlformats.org/drawingml/2006/main">
            <a:pPr algn="l">
              <a:buNone/>
              <a:defRPr sz="3225" b="0">
                <a:solidFill>
                  <a:srgbClr val="F6F3EA"/>
                </a:solidFill>
                <a:latin typeface="Nimbus Sans"/>
                <a:ea typeface="Nimbus Sans"/>
                <a:cs typeface="Nimbus Sans"/>
              </a:defRPr>
            </a:pPr>
            <a:r>
              <a:rPr sz="3225" b="0">
                <a:solidFill>
                  <a:srgbClr val="F6F3EA"/>
                </a:solidFill>
                <a:latin typeface="Nimbus Sans"/>
                <a:ea typeface="Nimbus Sans"/>
                <a:cs typeface="Nimbus Sans"/>
              </a:rPr>
              <a:t>Transfer selected work</a:t>
            </a:r>
          </a:p>
          <a:p xmlns:a="http://schemas.openxmlformats.org/drawingml/2006/main">
            <a:r>
              <a:t/>
            </a:r>
          </a:p>
          <a:p xmlns:a="http://schemas.openxmlformats.org/drawingml/2006/main">
            <a:pPr algn="l">
              <a:buNone/>
              <a:defRPr sz="3225" b="0">
                <a:solidFill>
                  <a:srgbClr val="F6F3EA"/>
                </a:solidFill>
                <a:latin typeface="Nimbus Sans"/>
                <a:ea typeface="Nimbus Sans"/>
                <a:cs typeface="Nimbus Sans"/>
              </a:defRPr>
            </a:pPr>
            <a:r>
              <a:rPr sz="3225" b="0">
                <a:solidFill>
                  <a:srgbClr val="F6F3EA"/>
                </a:solidFill>
                <a:latin typeface="Nimbus Sans"/>
                <a:ea typeface="Nimbus Sans"/>
                <a:cs typeface="Nimbus Sans"/>
              </a:rPr>
              <a:t>Check scope and assumptions</a:t>
            </a:r>
          </a:p>
          <a:p xmlns:a="http://schemas.openxmlformats.org/drawingml/2006/main">
            <a:r>
              <a:t/>
            </a:r>
          </a:p>
          <a:p xmlns:a="http://schemas.openxmlformats.org/drawingml/2006/main">
            <a:pPr algn="l">
              <a:buNone/>
              <a:defRPr sz="3225" b="0">
                <a:solidFill>
                  <a:srgbClr val="F6F3EA"/>
                </a:solidFill>
                <a:latin typeface="Nimbus Sans"/>
                <a:ea typeface="Nimbus Sans"/>
                <a:cs typeface="Nimbus Sans"/>
              </a:defRPr>
            </a:pPr>
            <a:r>
              <a:rPr sz="3225" b="0">
                <a:solidFill>
                  <a:srgbClr val="F6F3EA"/>
                </a:solidFill>
                <a:latin typeface="Nimbus Sans"/>
                <a:ea typeface="Nimbus Sans"/>
                <a:cs typeface="Nimbus Sans"/>
              </a:rPr>
              <a:t>Retain its limitations</a:t>
            </a:r>
          </a:p>
        </p:txBody>
      </p:sp>
      <p:sp>
        <p:nvSpPr>
          <p:cNvPr id="5" name="">
            <a:extLst xmlns:a="http://schemas.openxmlformats.org/drawingml/2006/main">
              <a:ext uri="{FF2B5EF4-FFF2-40B4-BE49-F238E27FC236}">
                <a16:creationId xmlns:a16="http://schemas.microsoft.com/office/drawing/2014/main" id="{1717D2D7-FCD7-4DDA-88B3-17F601E8D1E7}"/>
              </a:ext>
            </a:extLst>
          </p:cNvPr>
          <p:cNvSpPr>
            <a:spLocks xmlns:a="http://schemas.openxmlformats.org/drawingml/2006/main" noGrp="1"/>
          </p:cNvSpPr>
          <p:nvPr/>
        </p:nvSpPr>
        <p:spPr>
          <a:xfrm xmlns:a="http://schemas.openxmlformats.org/drawingml/2006/main">
            <a:off x="9525000" y="3381375"/>
            <a:ext cx="742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81D9C2"/>
                </a:solidFill>
                <a:latin typeface="Nimbus Sans"/>
                <a:ea typeface="Nimbus Sans"/>
                <a:cs typeface="Nimbus Sans"/>
              </a:defRPr>
            </a:defPPr>
          </a:lstStyle>
          <a:p xmlns:a="http://schemas.openxmlformats.org/drawingml/2006/main">
            <a:pPr algn="l">
              <a:buNone/>
              <a:defRPr sz="3900" b="1">
                <a:solidFill>
                  <a:srgbClr val="81D9C2"/>
                </a:solidFill>
                <a:latin typeface="Nimbus Sans"/>
                <a:ea typeface="Nimbus Sans"/>
                <a:cs typeface="Nimbus Sans"/>
              </a:defRPr>
            </a:pPr>
            <a:r>
              <a:rPr sz="3900" b="1">
                <a:solidFill>
                  <a:srgbClr val="81D9C2"/>
                </a:solidFill>
                <a:latin typeface="Nimbus Sans"/>
                <a:ea typeface="Nimbus Sans"/>
                <a:cs typeface="Nimbus Sans"/>
              </a:rPr>
              <a:t>Execute a permitted job</a:t>
            </a:r>
          </a:p>
        </p:txBody>
      </p:sp>
      <p:sp>
        <p:nvSpPr>
          <p:cNvPr id="6" name="">
            <a:extLst xmlns:a="http://schemas.openxmlformats.org/drawingml/2006/main">
              <a:ext uri="{FF2B5EF4-FFF2-40B4-BE49-F238E27FC236}">
                <a16:creationId xmlns:a16="http://schemas.microsoft.com/office/drawing/2014/main" id="{7635E204-753C-435B-83FC-36BD2529555A}"/>
              </a:ext>
            </a:extLst>
          </p:cNvPr>
          <p:cNvSpPr>
            <a:spLocks xmlns:a="http://schemas.openxmlformats.org/drawingml/2006/main" noGrp="1"/>
          </p:cNvSpPr>
          <p:nvPr/>
        </p:nvSpPr>
        <p:spPr>
          <a:xfrm xmlns:a="http://schemas.openxmlformats.org/drawingml/2006/main">
            <a:off x="9525000" y="4429125"/>
            <a:ext cx="7429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F6F3EA"/>
                </a:solidFill>
                <a:latin typeface="Nimbus Sans"/>
                <a:ea typeface="Nimbus Sans"/>
                <a:cs typeface="Nimbus Sans"/>
              </a:defRPr>
            </a:defPPr>
          </a:lstStyle>
          <a:p xmlns:a="http://schemas.openxmlformats.org/drawingml/2006/main">
            <a:pPr algn="l">
              <a:buNone/>
              <a:defRPr sz="3225" b="0">
                <a:solidFill>
                  <a:srgbClr val="F6F3EA"/>
                </a:solidFill>
                <a:latin typeface="Nimbus Sans"/>
                <a:ea typeface="Nimbus Sans"/>
                <a:cs typeface="Nimbus Sans"/>
              </a:defRPr>
            </a:pPr>
            <a:r>
              <a:rPr sz="3225" b="0">
                <a:solidFill>
                  <a:srgbClr val="F6F3EA"/>
                </a:solidFill>
                <a:latin typeface="Nimbus Sans"/>
                <a:ea typeface="Nimbus Sans"/>
                <a:cs typeface="Nimbus Sans"/>
              </a:rPr>
              <a:t>Set provider and resource limits</a:t>
            </a:r>
          </a:p>
          <a:p xmlns:a="http://schemas.openxmlformats.org/drawingml/2006/main">
            <a:r>
              <a:t/>
            </a:r>
          </a:p>
          <a:p xmlns:a="http://schemas.openxmlformats.org/drawingml/2006/main">
            <a:pPr algn="l">
              <a:buNone/>
              <a:defRPr sz="3225" b="0">
                <a:solidFill>
                  <a:srgbClr val="F6F3EA"/>
                </a:solidFill>
                <a:latin typeface="Nimbus Sans"/>
                <a:ea typeface="Nimbus Sans"/>
                <a:cs typeface="Nimbus Sans"/>
              </a:defRPr>
            </a:pPr>
            <a:r>
              <a:rPr sz="3225" b="0">
                <a:solidFill>
                  <a:srgbClr val="F6F3EA"/>
                </a:solidFill>
                <a:latin typeface="Nimbus Sans"/>
                <a:ea typeface="Nimbus Sans"/>
                <a:cs typeface="Nimbus Sans"/>
              </a:rPr>
              <a:t>Handle cancellation and uncertainty</a:t>
            </a:r>
          </a:p>
          <a:p xmlns:a="http://schemas.openxmlformats.org/drawingml/2006/main">
            <a:r>
              <a:t/>
            </a:r>
          </a:p>
          <a:p xmlns:a="http://schemas.openxmlformats.org/drawingml/2006/main">
            <a:pPr algn="l">
              <a:buNone/>
              <a:defRPr sz="3225" b="0">
                <a:solidFill>
                  <a:srgbClr val="F6F3EA"/>
                </a:solidFill>
                <a:latin typeface="Nimbus Sans"/>
                <a:ea typeface="Nimbus Sans"/>
                <a:cs typeface="Nimbus Sans"/>
              </a:defRPr>
            </a:pPr>
            <a:r>
              <a:rPr sz="3225" b="0">
                <a:solidFill>
                  <a:srgbClr val="F6F3EA"/>
                </a:solidFill>
                <a:latin typeface="Nimbus Sans"/>
                <a:ea typeface="Nimbus Sans"/>
                <a:cs typeface="Nimbus Sans"/>
              </a:rPr>
              <a:t>Keep data destinations visible</a:t>
            </a:r>
          </a:p>
        </p:txBody>
      </p:sp>
      <p:sp>
        <p:nvSpPr>
          <p:cNvPr id="7" name="">
            <a:extLst xmlns:a="http://schemas.openxmlformats.org/drawingml/2006/main">
              <a:ext uri="{FF2B5EF4-FFF2-40B4-BE49-F238E27FC236}">
                <a16:creationId xmlns:a16="http://schemas.microsoft.com/office/drawing/2014/main" id="{EC15AAE8-A46A-4DAC-959D-5350F280C5D6}"/>
              </a:ext>
            </a:extLst>
          </p:cNvPr>
          <p:cNvSpPr>
            <a:spLocks xmlns:a="http://schemas.openxmlformats.org/drawingml/2006/main" noGrp="1"/>
          </p:cNvSpPr>
          <p:nvPr/>
        </p:nvSpPr>
        <p:spPr>
          <a:xfrm xmlns:a="http://schemas.openxmlformats.org/drawingml/2006/main">
            <a:off x="1143000" y="9048750"/>
            <a:ext cx="1581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BDD0D0"/>
                </a:solidFill>
                <a:latin typeface="Nimbus Sans"/>
                <a:ea typeface="Nimbus Sans"/>
                <a:cs typeface="Nimbus Sans"/>
              </a:defRPr>
            </a:defPPr>
          </a:lstStyle>
          <a:p xmlns:a="http://schemas.openxmlformats.org/drawingml/2006/main">
            <a:pPr algn="l">
              <a:buNone/>
              <a:defRPr sz="2175" b="0">
                <a:solidFill>
                  <a:srgbClr val="BDD0D0"/>
                </a:solidFill>
                <a:latin typeface="Nimbus Sans"/>
                <a:ea typeface="Nimbus Sans"/>
                <a:cs typeface="Nimbus Sans"/>
              </a:defRPr>
            </a:pPr>
            <a:r>
              <a:rPr sz="2175" b="0">
                <a:solidFill>
                  <a:srgbClr val="BDD0D0"/>
                </a:solidFill>
                <a:latin typeface="Nimbus Sans"/>
                <a:ea typeface="Nimbus Sans"/>
                <a:cs typeface="Nimbus Sans"/>
              </a:rPr>
              <a:t>Measure the full cost of discovery, transfer, validation and failures before claiming savings.</a:t>
            </a:r>
          </a:p>
        </p:txBody>
      </p:sp>
    </p:spTree>
    <p:extLst>
      <p:ext uri="{BB962C8B-B14F-4D97-AF65-F5344CB8AC3E}">
        <p14:creationId xmlns:p14="http://schemas.microsoft.com/office/powerpoint/2010/main" val="736824350"/>
      </p:ext>
    </p:extLst>
  </p:cSld>
</p:sld>
</file>

<file path=ppt/slides/slide11.xml><?xml version="1.0" encoding="utf-8"?>
<p:sld xmlns:p="http://schemas.openxmlformats.org/presentationml/2006/main">
  <p:cSld>
    <p:bg>
      <p:bgPr>
        <a:solidFill xmlns:a="http://schemas.openxmlformats.org/drawingml/2006/main">
          <a:srgbClr val="11293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C15A3CE-165A-4DF2-A9F8-0D2986E9D89A}"/>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6F3EA"/>
                </a:solidFill>
                <a:latin typeface="Nimbus Sans"/>
                <a:ea typeface="Nimbus Sans"/>
                <a:cs typeface="Nimbus Sans"/>
              </a:defRPr>
            </a:defPPr>
          </a:lstStyle>
          <a:p xmlns:a="http://schemas.openxmlformats.org/drawingml/2006/main">
            <a:pPr algn="l">
              <a:buNone/>
              <a:defRPr sz="5700" b="1">
                <a:solidFill>
                  <a:srgbClr val="F6F3EA"/>
                </a:solidFill>
                <a:latin typeface="Nimbus Sans"/>
                <a:ea typeface="Nimbus Sans"/>
                <a:cs typeface="Nimbus Sans"/>
              </a:defRPr>
            </a:pPr>
            <a:r>
              <a:rPr sz="5700" b="1">
                <a:solidFill>
                  <a:srgbClr val="F6F3EA"/>
                </a:solidFill>
                <a:latin typeface="Nimbus Sans"/>
                <a:ea typeface="Nimbus Sans"/>
                <a:cs typeface="Nimbus Sans"/>
              </a:rPr>
              <a:t>Cross-domain research</a:t>
            </a:r>
          </a:p>
        </p:txBody>
      </p:sp>
      <p:sp>
        <p:nvSpPr>
          <p:cNvPr id="2" name="">
            <a:extLst xmlns:a="http://schemas.openxmlformats.org/drawingml/2006/main">
              <a:ext uri="{FF2B5EF4-FFF2-40B4-BE49-F238E27FC236}">
                <a16:creationId xmlns:a16="http://schemas.microsoft.com/office/drawing/2014/main" id="{0787BA14-241F-4C87-8233-D9447EC6A441}"/>
              </a:ext>
            </a:extLst>
          </p:cNvPr>
          <p:cNvSpPr>
            <a:spLocks xmlns:a="http://schemas.openxmlformats.org/drawingml/2006/main" noGrp="1"/>
          </p:cNvSpPr>
          <p:nvPr/>
        </p:nvSpPr>
        <p:spPr>
          <a:xfrm xmlns:a="http://schemas.openxmlformats.org/drawingml/2006/main">
            <a:off x="1143000" y="2428875"/>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BDD0D0"/>
                </a:solidFill>
                <a:latin typeface="Nimbus Sans"/>
                <a:ea typeface="Nimbus Sans"/>
                <a:cs typeface="Nimbus Sans"/>
              </a:defRPr>
            </a:defPPr>
          </a:lstStyle>
          <a:p xmlns:a="http://schemas.openxmlformats.org/drawingml/2006/main">
            <a:pPr algn="l">
              <a:buNone/>
              <a:defRPr sz="2700" b="0">
                <a:solidFill>
                  <a:srgbClr val="BDD0D0"/>
                </a:solidFill>
                <a:latin typeface="Nimbus Sans"/>
                <a:ea typeface="Nimbus Sans"/>
                <a:cs typeface="Nimbus Sans"/>
              </a:defRPr>
            </a:pPr>
            <a:r>
              <a:rPr sz="2700" b="0">
                <a:solidFill>
                  <a:srgbClr val="BDD0D0"/>
                </a:solidFill>
                <a:latin typeface="Nimbus Sans"/>
                <a:ea typeface="Nimbus Sans"/>
                <a:cs typeface="Nimbus Sans"/>
              </a:rPr>
              <a:t>Useful relations require evidence of transfer</a:t>
            </a:r>
          </a:p>
        </p:txBody>
      </p:sp>
      <p:sp>
        <p:nvSpPr>
          <p:cNvPr id="3" name="">
            <a:extLst xmlns:a="http://schemas.openxmlformats.org/drawingml/2006/main">
              <a:ext uri="{FF2B5EF4-FFF2-40B4-BE49-F238E27FC236}">
                <a16:creationId xmlns:a16="http://schemas.microsoft.com/office/drawing/2014/main" id="{A02B312F-FF45-4009-BB70-DD5EBA43A5B9}"/>
              </a:ext>
            </a:extLst>
          </p:cNvPr>
          <p:cNvSpPr>
            <a:spLocks xmlns:a="http://schemas.openxmlformats.org/drawingml/2006/main" noGrp="1"/>
          </p:cNvSpPr>
          <p:nvPr/>
        </p:nvSpPr>
        <p:spPr>
          <a:xfrm xmlns:a="http://schemas.openxmlformats.org/drawingml/2006/main">
            <a:off x="1143000" y="3381375"/>
            <a:ext cx="1600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81D9C2"/>
                </a:solidFill>
                <a:latin typeface="Nimbus Sans"/>
                <a:ea typeface="Nimbus Sans"/>
                <a:cs typeface="Nimbus Sans"/>
              </a:defRPr>
            </a:defPPr>
          </a:lstStyle>
          <a:p xmlns:a="http://schemas.openxmlformats.org/drawingml/2006/main">
            <a:pPr algn="l">
              <a:buNone/>
              <a:defRPr sz="3450" b="1">
                <a:solidFill>
                  <a:srgbClr val="81D9C2"/>
                </a:solidFill>
                <a:latin typeface="Nimbus Sans"/>
                <a:ea typeface="Nimbus Sans"/>
                <a:cs typeface="Nimbus Sans"/>
              </a:defRPr>
            </a:pPr>
            <a:r>
              <a:rPr sz="3450" b="1">
                <a:solidFill>
                  <a:srgbClr val="81D9C2"/>
                </a:solidFill>
                <a:latin typeface="Nimbus Sans"/>
                <a:ea typeface="Nimbus Sans"/>
                <a:cs typeface="Nimbus Sans"/>
              </a:rPr>
              <a:t>GUFT and the CoherenceLattice</a:t>
            </a:r>
          </a:p>
        </p:txBody>
      </p:sp>
      <p:sp>
        <p:nvSpPr>
          <p:cNvPr id="4" name="">
            <a:extLst xmlns:a="http://schemas.openxmlformats.org/drawingml/2006/main">
              <a:ext uri="{FF2B5EF4-FFF2-40B4-BE49-F238E27FC236}">
                <a16:creationId xmlns:a16="http://schemas.microsoft.com/office/drawing/2014/main" id="{4961627F-7888-4D6E-BCAF-F9A3A8715368}"/>
              </a:ext>
            </a:extLst>
          </p:cNvPr>
          <p:cNvSpPr>
            <a:spLocks xmlns:a="http://schemas.openxmlformats.org/drawingml/2006/main" noGrp="1"/>
          </p:cNvSpPr>
          <p:nvPr/>
        </p:nvSpPr>
        <p:spPr>
          <a:xfrm xmlns:a="http://schemas.openxmlformats.org/drawingml/2006/main">
            <a:off x="1143000" y="3933825"/>
            <a:ext cx="1600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F6F3EA"/>
                </a:solidFill>
                <a:latin typeface="Nimbus Sans"/>
                <a:ea typeface="Nimbus Sans"/>
                <a:cs typeface="Nimbus Sans"/>
              </a:defRPr>
            </a:defPPr>
          </a:lstStyle>
          <a:p xmlns:a="http://schemas.openxmlformats.org/drawingml/2006/main">
            <a:pPr algn="l">
              <a:buNone/>
              <a:defRPr sz="2700" b="0">
                <a:solidFill>
                  <a:srgbClr val="F6F3EA"/>
                </a:solidFill>
                <a:latin typeface="Nimbus Sans"/>
                <a:ea typeface="Nimbus Sans"/>
                <a:cs typeface="Nimbus Sans"/>
              </a:defRPr>
            </a:pPr>
            <a:r>
              <a:rPr sz="2700" b="0">
                <a:solidFill>
                  <a:srgbClr val="F6F3EA"/>
                </a:solidFill>
                <a:latin typeface="Nimbus Sans"/>
                <a:ea typeface="Nimbus Sans"/>
                <a:cs typeface="Nimbus Sans"/>
              </a:rPr>
              <a:t>Explore ways to navigate relations across knowledge.</a:t>
            </a:r>
          </a:p>
        </p:txBody>
      </p:sp>
      <p:sp>
        <p:nvSpPr>
          <p:cNvPr id="5" name="">
            <a:extLst xmlns:a="http://schemas.openxmlformats.org/drawingml/2006/main">
              <a:ext uri="{FF2B5EF4-FFF2-40B4-BE49-F238E27FC236}">
                <a16:creationId xmlns:a16="http://schemas.microsoft.com/office/drawing/2014/main" id="{C8EF31E8-F9B1-4F8B-AED1-FA77C51CB10B}"/>
              </a:ext>
            </a:extLst>
          </p:cNvPr>
          <p:cNvSpPr>
            <a:spLocks xmlns:a="http://schemas.openxmlformats.org/drawingml/2006/main" noGrp="1"/>
          </p:cNvSpPr>
          <p:nvPr/>
        </p:nvSpPr>
        <p:spPr>
          <a:xfrm xmlns:a="http://schemas.openxmlformats.org/drawingml/2006/main">
            <a:off x="1143000" y="4886325"/>
            <a:ext cx="1600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81D9C2"/>
                </a:solidFill>
                <a:latin typeface="Nimbus Sans"/>
                <a:ea typeface="Nimbus Sans"/>
                <a:cs typeface="Nimbus Sans"/>
              </a:defRPr>
            </a:defPPr>
          </a:lstStyle>
          <a:p xmlns:a="http://schemas.openxmlformats.org/drawingml/2006/main">
            <a:pPr algn="l">
              <a:buNone/>
              <a:defRPr sz="3450" b="1">
                <a:solidFill>
                  <a:srgbClr val="81D9C2"/>
                </a:solidFill>
                <a:latin typeface="Nimbus Sans"/>
                <a:ea typeface="Nimbus Sans"/>
                <a:cs typeface="Nimbus Sans"/>
              </a:defRPr>
            </a:pPr>
            <a:r>
              <a:rPr sz="3450" b="1">
                <a:solidFill>
                  <a:srgbClr val="81D9C2"/>
                </a:solidFill>
                <a:latin typeface="Nimbus Sans"/>
                <a:ea typeface="Nimbus Sans"/>
                <a:cs typeface="Nimbus Sans"/>
              </a:rPr>
              <a:t>AHA and Pattern Donation</a:t>
            </a:r>
          </a:p>
        </p:txBody>
      </p:sp>
      <p:sp>
        <p:nvSpPr>
          <p:cNvPr id="6" name="">
            <a:extLst xmlns:a="http://schemas.openxmlformats.org/drawingml/2006/main">
              <a:ext uri="{FF2B5EF4-FFF2-40B4-BE49-F238E27FC236}">
                <a16:creationId xmlns:a16="http://schemas.microsoft.com/office/drawing/2014/main" id="{AA13764B-B0FF-4496-B724-802A0D2ED2E8}"/>
              </a:ext>
            </a:extLst>
          </p:cNvPr>
          <p:cNvSpPr>
            <a:spLocks xmlns:a="http://schemas.openxmlformats.org/drawingml/2006/main" noGrp="1"/>
          </p:cNvSpPr>
          <p:nvPr/>
        </p:nvSpPr>
        <p:spPr>
          <a:xfrm xmlns:a="http://schemas.openxmlformats.org/drawingml/2006/main">
            <a:off x="1143000" y="5438775"/>
            <a:ext cx="1600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F6F3EA"/>
                </a:solidFill>
                <a:latin typeface="Nimbus Sans"/>
                <a:ea typeface="Nimbus Sans"/>
                <a:cs typeface="Nimbus Sans"/>
              </a:defRPr>
            </a:defPPr>
          </a:lstStyle>
          <a:p xmlns:a="http://schemas.openxmlformats.org/drawingml/2006/main">
            <a:pPr algn="l">
              <a:buNone/>
              <a:defRPr sz="2700" b="0">
                <a:solidFill>
                  <a:srgbClr val="F6F3EA"/>
                </a:solidFill>
                <a:latin typeface="Nimbus Sans"/>
                <a:ea typeface="Nimbus Sans"/>
                <a:cs typeface="Nimbus Sans"/>
              </a:defRPr>
            </a:pPr>
            <a:r>
              <a:rPr sz="2700" b="0">
                <a:solidFill>
                  <a:srgbClr val="F6F3EA"/>
                </a:solidFill>
                <a:latin typeface="Nimbus Sans"/>
                <a:ea typeface="Nimbus Sans"/>
                <a:cs typeface="Nimbus Sans"/>
              </a:rPr>
              <a:t>Propose candidate bridges and analogies.</a:t>
            </a:r>
          </a:p>
        </p:txBody>
      </p:sp>
      <p:sp>
        <p:nvSpPr>
          <p:cNvPr id="7" name="">
            <a:extLst xmlns:a="http://schemas.openxmlformats.org/drawingml/2006/main">
              <a:ext uri="{FF2B5EF4-FFF2-40B4-BE49-F238E27FC236}">
                <a16:creationId xmlns:a16="http://schemas.microsoft.com/office/drawing/2014/main" id="{096B2441-70BD-47C1-8934-855C66CF5177}"/>
              </a:ext>
            </a:extLst>
          </p:cNvPr>
          <p:cNvSpPr>
            <a:spLocks xmlns:a="http://schemas.openxmlformats.org/drawingml/2006/main" noGrp="1"/>
          </p:cNvSpPr>
          <p:nvPr/>
        </p:nvSpPr>
        <p:spPr>
          <a:xfrm xmlns:a="http://schemas.openxmlformats.org/drawingml/2006/main">
            <a:off x="1143000" y="6391275"/>
            <a:ext cx="1600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81D9C2"/>
                </a:solidFill>
                <a:latin typeface="Nimbus Sans"/>
                <a:ea typeface="Nimbus Sans"/>
                <a:cs typeface="Nimbus Sans"/>
              </a:defRPr>
            </a:defPPr>
          </a:lstStyle>
          <a:p xmlns:a="http://schemas.openxmlformats.org/drawingml/2006/main">
            <a:pPr algn="l">
              <a:buNone/>
              <a:defRPr sz="3450" b="1">
                <a:solidFill>
                  <a:srgbClr val="81D9C2"/>
                </a:solidFill>
                <a:latin typeface="Nimbus Sans"/>
                <a:ea typeface="Nimbus Sans"/>
                <a:cs typeface="Nimbus Sans"/>
              </a:defRPr>
            </a:pPr>
            <a:r>
              <a:rPr sz="3450" b="1">
                <a:solidFill>
                  <a:srgbClr val="81D9C2"/>
                </a:solidFill>
                <a:latin typeface="Nimbus Sans"/>
                <a:ea typeface="Nimbus Sans"/>
                <a:cs typeface="Nimbus Sans"/>
              </a:rPr>
              <a:t>432 and Rosetta</a:t>
            </a:r>
          </a:p>
        </p:txBody>
      </p:sp>
      <p:sp>
        <p:nvSpPr>
          <p:cNvPr id="8" name="">
            <a:extLst xmlns:a="http://schemas.openxmlformats.org/drawingml/2006/main">
              <a:ext uri="{FF2B5EF4-FFF2-40B4-BE49-F238E27FC236}">
                <a16:creationId xmlns:a16="http://schemas.microsoft.com/office/drawing/2014/main" id="{B7CC80F0-24F0-4CB7-ACB2-6612E719C377}"/>
              </a:ext>
            </a:extLst>
          </p:cNvPr>
          <p:cNvSpPr>
            <a:spLocks xmlns:a="http://schemas.openxmlformats.org/drawingml/2006/main" noGrp="1"/>
          </p:cNvSpPr>
          <p:nvPr/>
        </p:nvSpPr>
        <p:spPr>
          <a:xfrm xmlns:a="http://schemas.openxmlformats.org/drawingml/2006/main">
            <a:off x="1143000" y="6943725"/>
            <a:ext cx="1600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F6F3EA"/>
                </a:solidFill>
                <a:latin typeface="Nimbus Sans"/>
                <a:ea typeface="Nimbus Sans"/>
                <a:cs typeface="Nimbus Sans"/>
              </a:defRPr>
            </a:defPPr>
          </a:lstStyle>
          <a:p xmlns:a="http://schemas.openxmlformats.org/drawingml/2006/main">
            <a:pPr algn="l">
              <a:buNone/>
              <a:defRPr sz="2700" b="0">
                <a:solidFill>
                  <a:srgbClr val="F6F3EA"/>
                </a:solidFill>
                <a:latin typeface="Nimbus Sans"/>
                <a:ea typeface="Nimbus Sans"/>
                <a:cs typeface="Nimbus Sans"/>
              </a:defRPr>
            </a:pPr>
            <a:r>
              <a:rPr sz="2700" b="0">
                <a:solidFill>
                  <a:srgbClr val="F6F3EA"/>
                </a:solidFill>
                <a:latin typeface="Nimbus Sans"/>
                <a:ea typeface="Nimbus Sans"/>
                <a:cs typeface="Nimbus Sans"/>
              </a:rPr>
              <a:t>Preserve optional interpretive and creative work.</a:t>
            </a:r>
          </a:p>
        </p:txBody>
      </p:sp>
      <p:sp>
        <p:nvSpPr>
          <p:cNvPr id="9" name="">
            <a:extLst xmlns:a="http://schemas.openxmlformats.org/drawingml/2006/main">
              <a:ext uri="{FF2B5EF4-FFF2-40B4-BE49-F238E27FC236}">
                <a16:creationId xmlns:a16="http://schemas.microsoft.com/office/drawing/2014/main" id="{06B47B1A-B663-43E2-AC5A-352897C1C196}"/>
              </a:ext>
            </a:extLst>
          </p:cNvPr>
          <p:cNvSpPr>
            <a:spLocks xmlns:a="http://schemas.openxmlformats.org/drawingml/2006/main" noGrp="1"/>
          </p:cNvSpPr>
          <p:nvPr/>
        </p:nvSpPr>
        <p:spPr>
          <a:xfrm xmlns:a="http://schemas.openxmlformats.org/drawingml/2006/main">
            <a:off x="1143000" y="9048750"/>
            <a:ext cx="1581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BDD0D0"/>
                </a:solidFill>
                <a:latin typeface="Nimbus Sans"/>
                <a:ea typeface="Nimbus Sans"/>
                <a:cs typeface="Nimbus Sans"/>
              </a:defRPr>
            </a:defPPr>
          </a:lstStyle>
          <a:p xmlns:a="http://schemas.openxmlformats.org/drawingml/2006/main">
            <a:pPr algn="l">
              <a:buNone/>
              <a:defRPr sz="2175" b="0">
                <a:solidFill>
                  <a:srgbClr val="BDD0D0"/>
                </a:solidFill>
                <a:latin typeface="Nimbus Sans"/>
                <a:ea typeface="Nimbus Sans"/>
                <a:cs typeface="Nimbus Sans"/>
              </a:defRPr>
            </a:pPr>
            <a:r>
              <a:rPr sz="2175" b="0">
                <a:solidFill>
                  <a:srgbClr val="BDD0D0"/>
                </a:solidFill>
                <a:latin typeface="Nimbus Sans"/>
                <a:ea typeface="Nimbus Sans"/>
                <a:cs typeface="Nimbus Sans"/>
              </a:rPr>
              <a:t>No adequate bridge is a valid outcome. Structural scores need separate calibration.</a:t>
            </a:r>
          </a:p>
        </p:txBody>
      </p:sp>
    </p:spTree>
    <p:extLst>
      <p:ext uri="{BB962C8B-B14F-4D97-AF65-F5344CB8AC3E}">
        <p14:creationId xmlns:p14="http://schemas.microsoft.com/office/powerpoint/2010/main" val="289210984"/>
      </p:ext>
    </p:extLst>
  </p:cSld>
</p:sld>
</file>

<file path=ppt/slides/slide12.xml><?xml version="1.0" encoding="utf-8"?>
<p:sld xmlns:p="http://schemas.openxmlformats.org/presentationml/2006/main">
  <p:cSld>
    <p:bg>
      <p:bgPr>
        <a:solidFill xmlns:a="http://schemas.openxmlformats.org/drawingml/2006/main">
          <a:srgbClr val="11293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EC76EDC-332F-4ED5-A7E8-4C774B8AF3CA}"/>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6F3EA"/>
                </a:solidFill>
                <a:latin typeface="Nimbus Sans"/>
                <a:ea typeface="Nimbus Sans"/>
                <a:cs typeface="Nimbus Sans"/>
              </a:defRPr>
            </a:defPPr>
          </a:lstStyle>
          <a:p xmlns:a="http://schemas.openxmlformats.org/drawingml/2006/main">
            <a:pPr algn="l">
              <a:buNone/>
              <a:defRPr sz="5700" b="1">
                <a:solidFill>
                  <a:srgbClr val="F6F3EA"/>
                </a:solidFill>
                <a:latin typeface="Nimbus Sans"/>
                <a:ea typeface="Nimbus Sans"/>
                <a:cs typeface="Nimbus Sans"/>
              </a:defRPr>
            </a:pPr>
            <a:r>
              <a:rPr sz="5700" b="1">
                <a:solidFill>
                  <a:srgbClr val="F6F3EA"/>
                </a:solidFill>
                <a:latin typeface="Nimbus Sans"/>
                <a:ea typeface="Nimbus Sans"/>
                <a:cs typeface="Nimbus Sans"/>
              </a:rPr>
              <a:t>A two-user reuse study</a:t>
            </a:r>
          </a:p>
        </p:txBody>
      </p:sp>
      <p:sp>
        <p:nvSpPr>
          <p:cNvPr id="2" name="">
            <a:extLst xmlns:a="http://schemas.openxmlformats.org/drawingml/2006/main">
              <a:ext uri="{FF2B5EF4-FFF2-40B4-BE49-F238E27FC236}">
                <a16:creationId xmlns:a16="http://schemas.microsoft.com/office/drawing/2014/main" id="{E1DD5C2C-5C45-450A-AB32-2BFB19A672A7}"/>
              </a:ext>
            </a:extLst>
          </p:cNvPr>
          <p:cNvSpPr>
            <a:spLocks xmlns:a="http://schemas.openxmlformats.org/drawingml/2006/main" noGrp="1"/>
          </p:cNvSpPr>
          <p:nvPr/>
        </p:nvSpPr>
        <p:spPr>
          <a:xfrm xmlns:a="http://schemas.openxmlformats.org/drawingml/2006/main">
            <a:off x="1143000" y="2428875"/>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BDD0D0"/>
                </a:solidFill>
                <a:latin typeface="Nimbus Sans"/>
                <a:ea typeface="Nimbus Sans"/>
                <a:cs typeface="Nimbus Sans"/>
              </a:defRPr>
            </a:defPPr>
          </a:lstStyle>
          <a:p xmlns:a="http://schemas.openxmlformats.org/drawingml/2006/main">
            <a:pPr algn="l">
              <a:buNone/>
              <a:defRPr sz="2700" b="0">
                <a:solidFill>
                  <a:srgbClr val="BDD0D0"/>
                </a:solidFill>
                <a:latin typeface="Nimbus Sans"/>
                <a:ea typeface="Nimbus Sans"/>
                <a:cs typeface="Nimbus Sans"/>
              </a:defRPr>
            </a:pPr>
            <a:r>
              <a:rPr sz="2700" b="0">
                <a:solidFill>
                  <a:srgbClr val="BDD0D0"/>
                </a:solidFill>
                <a:latin typeface="Nimbus Sans"/>
                <a:ea typeface="Nimbus Sans"/>
                <a:cs typeface="Nimbus Sans"/>
              </a:rPr>
              <a:t>Proposed feasibility study with synthetic community records</a:t>
            </a:r>
          </a:p>
        </p:txBody>
      </p:sp>
      <p:sp>
        <p:nvSpPr>
          <p:cNvPr id="3" name="">
            <a:extLst xmlns:a="http://schemas.openxmlformats.org/drawingml/2006/main">
              <a:ext uri="{FF2B5EF4-FFF2-40B4-BE49-F238E27FC236}">
                <a16:creationId xmlns:a16="http://schemas.microsoft.com/office/drawing/2014/main" id="{133BBC03-1E5E-4494-B566-25929BE0C632}"/>
              </a:ext>
            </a:extLst>
          </p:cNvPr>
          <p:cNvSpPr>
            <a:spLocks xmlns:a="http://schemas.openxmlformats.org/drawingml/2006/main" noGrp="1"/>
          </p:cNvSpPr>
          <p:nvPr/>
        </p:nvSpPr>
        <p:spPr>
          <a:xfrm xmlns:a="http://schemas.openxmlformats.org/drawingml/2006/main">
            <a:off x="1143000" y="3238500"/>
            <a:ext cx="3810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1D9C2"/>
                </a:solidFill>
                <a:latin typeface="Nimbus Sans"/>
                <a:ea typeface="Nimbus Sans"/>
                <a:cs typeface="Nimbus Sans"/>
              </a:defRPr>
            </a:defPPr>
          </a:lstStyle>
          <a:p xmlns:a="http://schemas.openxmlformats.org/drawingml/2006/main">
            <a:pPr algn="l">
              <a:buNone/>
              <a:defRPr sz="3225" b="1">
                <a:solidFill>
                  <a:srgbClr val="81D9C2"/>
                </a:solidFill>
                <a:latin typeface="Nimbus Sans"/>
                <a:ea typeface="Nimbus Sans"/>
                <a:cs typeface="Nimbus Sans"/>
              </a:defRPr>
            </a:pPr>
            <a:r>
              <a:rPr sz="3225" b="1">
                <a:solidFill>
                  <a:srgbClr val="81D9C2"/>
                </a:solidFill>
                <a:latin typeface="Nimbus Sans"/>
                <a:ea typeface="Nimbus Sans"/>
                <a:cs typeface="Nimbus Sans"/>
              </a:rPr>
              <a:t>Fresh start</a:t>
            </a:r>
          </a:p>
        </p:txBody>
      </p:sp>
      <p:sp>
        <p:nvSpPr>
          <p:cNvPr id="4" name="">
            <a:extLst xmlns:a="http://schemas.openxmlformats.org/drawingml/2006/main">
              <a:ext uri="{FF2B5EF4-FFF2-40B4-BE49-F238E27FC236}">
                <a16:creationId xmlns:a16="http://schemas.microsoft.com/office/drawing/2014/main" id="{43296C59-7C8E-4BCC-8EF5-8A6C3FDC17F0}"/>
              </a:ext>
            </a:extLst>
          </p:cNvPr>
          <p:cNvSpPr>
            <a:spLocks xmlns:a="http://schemas.openxmlformats.org/drawingml/2006/main" noGrp="1"/>
          </p:cNvSpPr>
          <p:nvPr/>
        </p:nvSpPr>
        <p:spPr>
          <a:xfrm xmlns:a="http://schemas.openxmlformats.org/drawingml/2006/main">
            <a:off x="5238750" y="3238500"/>
            <a:ext cx="11906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F6F3EA"/>
                </a:solidFill>
                <a:latin typeface="Nimbus Sans"/>
                <a:ea typeface="Nimbus Sans"/>
                <a:cs typeface="Nimbus Sans"/>
              </a:defRPr>
            </a:defPPr>
          </a:lstStyle>
          <a:p xmlns:a="http://schemas.openxmlformats.org/drawingml/2006/main">
            <a:pPr algn="l">
              <a:buNone/>
              <a:defRPr sz="3225" b="0">
                <a:solidFill>
                  <a:srgbClr val="F6F3EA"/>
                </a:solidFill>
                <a:latin typeface="Nimbus Sans"/>
                <a:ea typeface="Nimbus Sans"/>
                <a:cs typeface="Nimbus Sans"/>
              </a:defRPr>
            </a:pPr>
            <a:r>
              <a:rPr sz="3225" b="0">
                <a:solidFill>
                  <a:srgbClr val="F6F3EA"/>
                </a:solidFill>
                <a:latin typeface="Nimbus Sans"/>
                <a:ea typeface="Nimbus Sans"/>
                <a:cs typeface="Nimbus Sans"/>
              </a:rPr>
              <a:t>New task and current rules.</a:t>
            </a:r>
          </a:p>
        </p:txBody>
      </p:sp>
      <p:sp>
        <p:nvSpPr>
          <p:cNvPr id="5" name="">
            <a:extLst xmlns:a="http://schemas.openxmlformats.org/drawingml/2006/main">
              <a:ext uri="{FF2B5EF4-FFF2-40B4-BE49-F238E27FC236}">
                <a16:creationId xmlns:a16="http://schemas.microsoft.com/office/drawing/2014/main" id="{26D37F54-1227-48ED-9A7C-3935C2D3DDED}"/>
              </a:ext>
            </a:extLst>
          </p:cNvPr>
          <p:cNvSpPr>
            <a:spLocks xmlns:a="http://schemas.openxmlformats.org/drawingml/2006/main" noGrp="1"/>
          </p:cNvSpPr>
          <p:nvPr/>
        </p:nvSpPr>
        <p:spPr>
          <a:xfrm xmlns:a="http://schemas.openxmlformats.org/drawingml/2006/main">
            <a:off x="1143000" y="4381500"/>
            <a:ext cx="16002000" cy="0"/>
          </a:xfrm>
          <a:prstGeom xmlns:a="http://schemas.openxmlformats.org/drawingml/2006/main" prst="line">
            <a:avLst/>
          </a:prstGeom>
          <a:noFill xmlns:a="http://schemas.openxmlformats.org/drawingml/2006/main"/>
          <a:ln xmlns:a="http://schemas.openxmlformats.org/drawingml/2006/main" w="19050">
            <a:solidFill>
              <a:srgbClr val="49696C"/>
            </a:solidFill>
            <a:prstDash val="solid"/>
          </a:ln>
        </p:spPr>
      </p:sp>
      <p:sp>
        <p:nvSpPr>
          <p:cNvPr id="6" name="">
            <a:extLst xmlns:a="http://schemas.openxmlformats.org/drawingml/2006/main">
              <a:ext uri="{FF2B5EF4-FFF2-40B4-BE49-F238E27FC236}">
                <a16:creationId xmlns:a16="http://schemas.microsoft.com/office/drawing/2014/main" id="{39846FD1-C4F3-41C4-AE33-C81BF48A863E}"/>
              </a:ext>
            </a:extLst>
          </p:cNvPr>
          <p:cNvSpPr>
            <a:spLocks xmlns:a="http://schemas.openxmlformats.org/drawingml/2006/main" noGrp="1"/>
          </p:cNvSpPr>
          <p:nvPr/>
        </p:nvSpPr>
        <p:spPr>
          <a:xfrm xmlns:a="http://schemas.openxmlformats.org/drawingml/2006/main">
            <a:off x="1143000" y="4619625"/>
            <a:ext cx="3810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1D9C2"/>
                </a:solidFill>
                <a:latin typeface="Nimbus Sans"/>
                <a:ea typeface="Nimbus Sans"/>
                <a:cs typeface="Nimbus Sans"/>
              </a:defRPr>
            </a:defPPr>
          </a:lstStyle>
          <a:p xmlns:a="http://schemas.openxmlformats.org/drawingml/2006/main">
            <a:pPr algn="l">
              <a:buNone/>
              <a:defRPr sz="3225" b="1">
                <a:solidFill>
                  <a:srgbClr val="81D9C2"/>
                </a:solidFill>
                <a:latin typeface="Nimbus Sans"/>
                <a:ea typeface="Nimbus Sans"/>
                <a:cs typeface="Nimbus Sans"/>
              </a:defRPr>
            </a:pPr>
            <a:r>
              <a:rPr sz="3225" b="1">
                <a:solidFill>
                  <a:srgbClr val="81D9C2"/>
                </a:solidFill>
                <a:latin typeface="Nimbus Sans"/>
                <a:ea typeface="Nimbus Sans"/>
                <a:cs typeface="Nimbus Sans"/>
              </a:rPr>
              <a:t>Ordinary sharing</a:t>
            </a:r>
          </a:p>
        </p:txBody>
      </p:sp>
      <p:sp>
        <p:nvSpPr>
          <p:cNvPr id="7" name="">
            <a:extLst xmlns:a="http://schemas.openxmlformats.org/drawingml/2006/main">
              <a:ext uri="{FF2B5EF4-FFF2-40B4-BE49-F238E27FC236}">
                <a16:creationId xmlns:a16="http://schemas.microsoft.com/office/drawing/2014/main" id="{999081E3-E21D-4B82-A498-37021A66CC89}"/>
              </a:ext>
            </a:extLst>
          </p:cNvPr>
          <p:cNvSpPr>
            <a:spLocks xmlns:a="http://schemas.openxmlformats.org/drawingml/2006/main" noGrp="1"/>
          </p:cNvSpPr>
          <p:nvPr/>
        </p:nvSpPr>
        <p:spPr>
          <a:xfrm xmlns:a="http://schemas.openxmlformats.org/drawingml/2006/main">
            <a:off x="5238750" y="4619625"/>
            <a:ext cx="11906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F6F3EA"/>
                </a:solidFill>
                <a:latin typeface="Nimbus Sans"/>
                <a:ea typeface="Nimbus Sans"/>
                <a:cs typeface="Nimbus Sans"/>
              </a:defRPr>
            </a:defPPr>
          </a:lstStyle>
          <a:p xmlns:a="http://schemas.openxmlformats.org/drawingml/2006/main">
            <a:pPr algn="l">
              <a:buNone/>
              <a:defRPr sz="3225" b="0">
                <a:solidFill>
                  <a:srgbClr val="F6F3EA"/>
                </a:solidFill>
                <a:latin typeface="Nimbus Sans"/>
                <a:ea typeface="Nimbus Sans"/>
                <a:cs typeface="Nimbus Sans"/>
              </a:defRPr>
            </a:pPr>
            <a:r>
              <a:rPr sz="3225" b="0">
                <a:solidFill>
                  <a:srgbClr val="F6F3EA"/>
                </a:solidFill>
                <a:latin typeface="Nimbus Sans"/>
                <a:ea typeface="Nimbus Sans"/>
                <a:cs typeface="Nimbus Sans"/>
              </a:rPr>
              <a:t>The same source material and prior work in files.</a:t>
            </a:r>
          </a:p>
        </p:txBody>
      </p:sp>
      <p:sp>
        <p:nvSpPr>
          <p:cNvPr id="8" name="">
            <a:extLst xmlns:a="http://schemas.openxmlformats.org/drawingml/2006/main">
              <a:ext uri="{FF2B5EF4-FFF2-40B4-BE49-F238E27FC236}">
                <a16:creationId xmlns:a16="http://schemas.microsoft.com/office/drawing/2014/main" id="{564B3B2A-85F5-4AF4-BCA1-009055D628CE}"/>
              </a:ext>
            </a:extLst>
          </p:cNvPr>
          <p:cNvSpPr>
            <a:spLocks xmlns:a="http://schemas.openxmlformats.org/drawingml/2006/main" noGrp="1"/>
          </p:cNvSpPr>
          <p:nvPr/>
        </p:nvSpPr>
        <p:spPr>
          <a:xfrm xmlns:a="http://schemas.openxmlformats.org/drawingml/2006/main">
            <a:off x="1143000" y="5762625"/>
            <a:ext cx="16002000" cy="0"/>
          </a:xfrm>
          <a:prstGeom xmlns:a="http://schemas.openxmlformats.org/drawingml/2006/main" prst="line">
            <a:avLst/>
          </a:prstGeom>
          <a:noFill xmlns:a="http://schemas.openxmlformats.org/drawingml/2006/main"/>
          <a:ln xmlns:a="http://schemas.openxmlformats.org/drawingml/2006/main" w="19050">
            <a:solidFill>
              <a:srgbClr val="49696C"/>
            </a:solidFill>
            <a:prstDash val="solid"/>
          </a:ln>
        </p:spPr>
      </p:sp>
      <p:sp>
        <p:nvSpPr>
          <p:cNvPr id="9" name="">
            <a:extLst xmlns:a="http://schemas.openxmlformats.org/drawingml/2006/main">
              <a:ext uri="{FF2B5EF4-FFF2-40B4-BE49-F238E27FC236}">
                <a16:creationId xmlns:a16="http://schemas.microsoft.com/office/drawing/2014/main" id="{EEABACF5-3BCE-4E5E-B999-D625DB95F194}"/>
              </a:ext>
            </a:extLst>
          </p:cNvPr>
          <p:cNvSpPr>
            <a:spLocks xmlns:a="http://schemas.openxmlformats.org/drawingml/2006/main" noGrp="1"/>
          </p:cNvSpPr>
          <p:nvPr/>
        </p:nvSpPr>
        <p:spPr>
          <a:xfrm xmlns:a="http://schemas.openxmlformats.org/drawingml/2006/main">
            <a:off x="1143000" y="6000750"/>
            <a:ext cx="3810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1D9C2"/>
                </a:solidFill>
                <a:latin typeface="Nimbus Sans"/>
                <a:ea typeface="Nimbus Sans"/>
                <a:cs typeface="Nimbus Sans"/>
              </a:defRPr>
            </a:defPPr>
          </a:lstStyle>
          <a:p xmlns:a="http://schemas.openxmlformats.org/drawingml/2006/main">
            <a:pPr algn="l">
              <a:buNone/>
              <a:defRPr sz="3225" b="1">
                <a:solidFill>
                  <a:srgbClr val="81D9C2"/>
                </a:solidFill>
                <a:latin typeface="Nimbus Sans"/>
                <a:ea typeface="Nimbus Sans"/>
                <a:cs typeface="Nimbus Sans"/>
              </a:defRPr>
            </a:pPr>
            <a:r>
              <a:rPr sz="3225" b="1">
                <a:solidFill>
                  <a:srgbClr val="81D9C2"/>
                </a:solidFill>
                <a:latin typeface="Nimbus Sans"/>
                <a:ea typeface="Nimbus Sans"/>
                <a:cs typeface="Nimbus Sans"/>
              </a:rPr>
              <a:t>Governed reuse</a:t>
            </a:r>
          </a:p>
        </p:txBody>
      </p:sp>
      <p:sp>
        <p:nvSpPr>
          <p:cNvPr id="10" name="">
            <a:extLst xmlns:a="http://schemas.openxmlformats.org/drawingml/2006/main">
              <a:ext uri="{FF2B5EF4-FFF2-40B4-BE49-F238E27FC236}">
                <a16:creationId xmlns:a16="http://schemas.microsoft.com/office/drawing/2014/main" id="{621FCD38-3630-4AA5-92A9-83F9AA53EE54}"/>
              </a:ext>
            </a:extLst>
          </p:cNvPr>
          <p:cNvSpPr>
            <a:spLocks xmlns:a="http://schemas.openxmlformats.org/drawingml/2006/main" noGrp="1"/>
          </p:cNvSpPr>
          <p:nvPr/>
        </p:nvSpPr>
        <p:spPr>
          <a:xfrm xmlns:a="http://schemas.openxmlformats.org/drawingml/2006/main">
            <a:off x="5238750" y="6000750"/>
            <a:ext cx="11906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F6F3EA"/>
                </a:solidFill>
                <a:latin typeface="Nimbus Sans"/>
                <a:ea typeface="Nimbus Sans"/>
                <a:cs typeface="Nimbus Sans"/>
              </a:defRPr>
            </a:defPPr>
          </a:lstStyle>
          <a:p xmlns:a="http://schemas.openxmlformats.org/drawingml/2006/main">
            <a:pPr algn="l">
              <a:buNone/>
              <a:defRPr sz="3225" b="0">
                <a:solidFill>
                  <a:srgbClr val="F6F3EA"/>
                </a:solidFill>
                <a:latin typeface="Nimbus Sans"/>
                <a:ea typeface="Nimbus Sans"/>
                <a:cs typeface="Nimbus Sans"/>
              </a:defRPr>
            </a:pPr>
            <a:r>
              <a:rPr sz="3225" b="0">
                <a:solidFill>
                  <a:srgbClr val="F6F3EA"/>
                </a:solidFill>
                <a:latin typeface="Nimbus Sans"/>
                <a:ea typeface="Nimbus Sans"/>
                <a:cs typeface="Nimbus Sans"/>
              </a:rPr>
              <a:t>The same material with explicit scope and applicability checks.</a:t>
            </a:r>
          </a:p>
        </p:txBody>
      </p:sp>
      <p:sp>
        <p:nvSpPr>
          <p:cNvPr id="11" name="">
            <a:extLst xmlns:a="http://schemas.openxmlformats.org/drawingml/2006/main">
              <a:ext uri="{FF2B5EF4-FFF2-40B4-BE49-F238E27FC236}">
                <a16:creationId xmlns:a16="http://schemas.microsoft.com/office/drawing/2014/main" id="{C0EE6305-F29E-4314-B716-7BB788CF1719}"/>
              </a:ext>
            </a:extLst>
          </p:cNvPr>
          <p:cNvSpPr>
            <a:spLocks xmlns:a="http://schemas.openxmlformats.org/drawingml/2006/main" noGrp="1"/>
          </p:cNvSpPr>
          <p:nvPr/>
        </p:nvSpPr>
        <p:spPr>
          <a:xfrm xmlns:a="http://schemas.openxmlformats.org/drawingml/2006/main">
            <a:off x="1143000" y="7858125"/>
            <a:ext cx="16002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F2BF78"/>
                </a:solidFill>
                <a:latin typeface="Nimbus Sans"/>
                <a:ea typeface="Nimbus Sans"/>
                <a:cs typeface="Nimbus Sans"/>
              </a:defRPr>
            </a:defPPr>
          </a:lstStyle>
          <a:p xmlns:a="http://schemas.openxmlformats.org/drawingml/2006/main">
            <a:pPr algn="l">
              <a:buNone/>
              <a:defRPr sz="3525" b="1">
                <a:solidFill>
                  <a:srgbClr val="F2BF78"/>
                </a:solidFill>
                <a:latin typeface="Nimbus Sans"/>
                <a:ea typeface="Nimbus Sans"/>
                <a:cs typeface="Nimbus Sans"/>
              </a:defRPr>
            </a:pPr>
            <a:r>
              <a:rPr sz="3525" b="1">
                <a:solidFill>
                  <a:srgbClr val="F2BF78"/>
                </a:solidFill>
                <a:latin typeface="Nimbus Sans"/>
                <a:ea typeface="Nimbus Sans"/>
                <a:cs typeface="Nimbus Sans"/>
              </a:rPr>
              <a:t>Include a useful package and an authentic stale package.</a:t>
            </a:r>
          </a:p>
        </p:txBody>
      </p:sp>
      <p:sp>
        <p:nvSpPr>
          <p:cNvPr id="12" name="">
            <a:extLst xmlns:a="http://schemas.openxmlformats.org/drawingml/2006/main">
              <a:ext uri="{FF2B5EF4-FFF2-40B4-BE49-F238E27FC236}">
                <a16:creationId xmlns:a16="http://schemas.microsoft.com/office/drawing/2014/main" id="{A15712AC-CAB3-4076-B29D-673F5C4ADD2C}"/>
              </a:ext>
            </a:extLst>
          </p:cNvPr>
          <p:cNvSpPr>
            <a:spLocks xmlns:a="http://schemas.openxmlformats.org/drawingml/2006/main" noGrp="1"/>
          </p:cNvSpPr>
          <p:nvPr/>
        </p:nvSpPr>
        <p:spPr>
          <a:xfrm xmlns:a="http://schemas.openxmlformats.org/drawingml/2006/main">
            <a:off x="1143000" y="9048750"/>
            <a:ext cx="1581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BDD0D0"/>
                </a:solidFill>
                <a:latin typeface="Nimbus Sans"/>
                <a:ea typeface="Nimbus Sans"/>
                <a:cs typeface="Nimbus Sans"/>
              </a:defRPr>
            </a:defPPr>
          </a:lstStyle>
          <a:p xmlns:a="http://schemas.openxmlformats.org/drawingml/2006/main">
            <a:pPr algn="l">
              <a:buNone/>
              <a:defRPr sz="2175" b="0">
                <a:solidFill>
                  <a:srgbClr val="BDD0D0"/>
                </a:solidFill>
                <a:latin typeface="Nimbus Sans"/>
                <a:ea typeface="Nimbus Sans"/>
                <a:cs typeface="Nimbus Sans"/>
              </a:defRPr>
            </a:pPr>
            <a:r>
              <a:rPr sz="2175" b="0">
                <a:solidFill>
                  <a:srgbClr val="BDD0D0"/>
                </a:solidFill>
                <a:latin typeface="Nimbus Sans"/>
                <a:ea typeface="Nimbus Sans"/>
                <a:cs typeface="Nimbus Sans"/>
              </a:rPr>
              <a:t>Compare errors, review effort and total resource use. Two users cannot establish a population benefit.</a:t>
            </a:r>
          </a:p>
        </p:txBody>
      </p:sp>
    </p:spTree>
    <p:extLst>
      <p:ext uri="{BB962C8B-B14F-4D97-AF65-F5344CB8AC3E}">
        <p14:creationId xmlns:p14="http://schemas.microsoft.com/office/powerpoint/2010/main" val="570915377"/>
      </p:ext>
    </p:extLst>
  </p:cSld>
</p:sld>
</file>

<file path=ppt/slides/slide13.xml><?xml version="1.0" encoding="utf-8"?>
<p:sld xmlns:p="http://schemas.openxmlformats.org/presentationml/2006/main">
  <p:cSld>
    <p:bg>
      <p:bgPr>
        <a:solidFill xmlns:a="http://schemas.openxmlformats.org/drawingml/2006/main">
          <a:srgbClr val="11293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09BE0E-7D40-479E-9233-7A20DE12CA23}"/>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6F3EA"/>
                </a:solidFill>
                <a:latin typeface="Nimbus Sans"/>
                <a:ea typeface="Nimbus Sans"/>
                <a:cs typeface="Nimbus Sans"/>
              </a:defRPr>
            </a:defPPr>
          </a:lstStyle>
          <a:p xmlns:a="http://schemas.openxmlformats.org/drawingml/2006/main">
            <a:pPr algn="l">
              <a:buNone/>
              <a:defRPr sz="5700" b="1">
                <a:solidFill>
                  <a:srgbClr val="F6F3EA"/>
                </a:solidFill>
                <a:latin typeface="Nimbus Sans"/>
                <a:ea typeface="Nimbus Sans"/>
                <a:cs typeface="Nimbus Sans"/>
              </a:defRPr>
            </a:pPr>
            <a:r>
              <a:rPr sz="5700" b="1">
                <a:solidFill>
                  <a:srgbClr val="F6F3EA"/>
                </a:solidFill>
                <a:latin typeface="Nimbus Sans"/>
                <a:ea typeface="Nimbus Sans"/>
                <a:cs typeface="Nimbus Sans"/>
              </a:rPr>
              <a:t>Development evidence</a:t>
            </a:r>
          </a:p>
        </p:txBody>
      </p:sp>
      <p:sp>
        <p:nvSpPr>
          <p:cNvPr id="2" name="">
            <a:extLst xmlns:a="http://schemas.openxmlformats.org/drawingml/2006/main">
              <a:ext uri="{FF2B5EF4-FFF2-40B4-BE49-F238E27FC236}">
                <a16:creationId xmlns:a16="http://schemas.microsoft.com/office/drawing/2014/main" id="{2D013DB2-B649-41A8-AF23-852A3BDFF61B}"/>
              </a:ext>
            </a:extLst>
          </p:cNvPr>
          <p:cNvSpPr>
            <a:spLocks xmlns:a="http://schemas.openxmlformats.org/drawingml/2006/main" noGrp="1"/>
          </p:cNvSpPr>
          <p:nvPr/>
        </p:nvSpPr>
        <p:spPr>
          <a:xfrm xmlns:a="http://schemas.openxmlformats.org/drawingml/2006/main">
            <a:off x="1143000" y="2428875"/>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BDD0D0"/>
                </a:solidFill>
                <a:latin typeface="Nimbus Sans"/>
                <a:ea typeface="Nimbus Sans"/>
                <a:cs typeface="Nimbus Sans"/>
              </a:defRPr>
            </a:defPPr>
          </a:lstStyle>
          <a:p xmlns:a="http://schemas.openxmlformats.org/drawingml/2006/main">
            <a:pPr algn="l">
              <a:buNone/>
              <a:defRPr sz="2700" b="0">
                <a:solidFill>
                  <a:srgbClr val="BDD0D0"/>
                </a:solidFill>
                <a:latin typeface="Nimbus Sans"/>
                <a:ea typeface="Nimbus Sans"/>
                <a:cs typeface="Nimbus Sans"/>
              </a:defRPr>
            </a:pPr>
            <a:r>
              <a:rPr sz="2700" b="0">
                <a:solidFill>
                  <a:srgbClr val="BDD0D0"/>
                </a:solidFill>
                <a:latin typeface="Nimbus Sans"/>
                <a:ea typeface="Nimbus Sans"/>
                <a:cs typeface="Nimbus Sans"/>
              </a:rPr>
              <a:t>Reviewer snapshot: 18 October 2026 UTC</a:t>
            </a:r>
          </a:p>
        </p:txBody>
      </p:sp>
      <p:sp>
        <p:nvSpPr>
          <p:cNvPr id="3" name="">
            <a:extLst xmlns:a="http://schemas.openxmlformats.org/drawingml/2006/main">
              <a:ext uri="{FF2B5EF4-FFF2-40B4-BE49-F238E27FC236}">
                <a16:creationId xmlns:a16="http://schemas.microsoft.com/office/drawing/2014/main" id="{01C541F3-1D2D-4837-8C23-4E2A3A2AFCE5}"/>
              </a:ext>
            </a:extLst>
          </p:cNvPr>
          <p:cNvSpPr>
            <a:spLocks xmlns:a="http://schemas.openxmlformats.org/drawingml/2006/main" noGrp="1"/>
          </p:cNvSpPr>
          <p:nvPr/>
        </p:nvSpPr>
        <p:spPr>
          <a:xfrm xmlns:a="http://schemas.openxmlformats.org/drawingml/2006/main">
            <a:off x="1143000" y="3381375"/>
            <a:ext cx="742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81D9C2"/>
                </a:solidFill>
                <a:latin typeface="Nimbus Sans"/>
                <a:ea typeface="Nimbus Sans"/>
                <a:cs typeface="Nimbus Sans"/>
              </a:defRPr>
            </a:defPPr>
          </a:lstStyle>
          <a:p xmlns:a="http://schemas.openxmlformats.org/drawingml/2006/main">
            <a:pPr algn="l">
              <a:buNone/>
              <a:defRPr sz="3900" b="1">
                <a:solidFill>
                  <a:srgbClr val="81D9C2"/>
                </a:solidFill>
                <a:latin typeface="Nimbus Sans"/>
                <a:ea typeface="Nimbus Sans"/>
                <a:cs typeface="Nimbus Sans"/>
              </a:defRPr>
            </a:pPr>
            <a:r>
              <a:rPr sz="3900" b="1">
                <a:solidFill>
                  <a:srgbClr val="81D9C2"/>
                </a:solidFill>
                <a:latin typeface="Nimbus Sans"/>
                <a:ea typeface="Nimbus Sans"/>
                <a:cs typeface="Nimbus Sans"/>
              </a:rPr>
              <a:t>Offline demonstration</a:t>
            </a:r>
          </a:p>
        </p:txBody>
      </p:sp>
      <p:sp>
        <p:nvSpPr>
          <p:cNvPr id="4" name="">
            <a:extLst xmlns:a="http://schemas.openxmlformats.org/drawingml/2006/main">
              <a:ext uri="{FF2B5EF4-FFF2-40B4-BE49-F238E27FC236}">
                <a16:creationId xmlns:a16="http://schemas.microsoft.com/office/drawing/2014/main" id="{2CEE9AFD-D3CA-439E-A477-01175FDA8D18}"/>
              </a:ext>
            </a:extLst>
          </p:cNvPr>
          <p:cNvSpPr>
            <a:spLocks xmlns:a="http://schemas.openxmlformats.org/drawingml/2006/main" noGrp="1"/>
          </p:cNvSpPr>
          <p:nvPr/>
        </p:nvSpPr>
        <p:spPr>
          <a:xfrm xmlns:a="http://schemas.openxmlformats.org/drawingml/2006/main">
            <a:off x="1143000" y="4429125"/>
            <a:ext cx="7429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F6F3EA"/>
                </a:solidFill>
                <a:latin typeface="Nimbus Sans"/>
                <a:ea typeface="Nimbus Sans"/>
                <a:cs typeface="Nimbus Sans"/>
              </a:defRPr>
            </a:defPPr>
          </a:lstStyle>
          <a:p xmlns:a="http://schemas.openxmlformats.org/drawingml/2006/main">
            <a:pPr algn="l">
              <a:buNone/>
              <a:defRPr sz="3225" b="0">
                <a:solidFill>
                  <a:srgbClr val="F6F3EA"/>
                </a:solidFill>
                <a:latin typeface="Nimbus Sans"/>
                <a:ea typeface="Nimbus Sans"/>
                <a:cs typeface="Nimbus Sans"/>
              </a:defRPr>
            </a:pPr>
            <a:r>
              <a:rPr sz="3225" b="0">
                <a:solidFill>
                  <a:srgbClr val="F6F3EA"/>
                </a:solidFill>
                <a:latin typeface="Nimbus Sans"/>
                <a:ea typeface="Nimbus Sans"/>
                <a:cs typeface="Nimbus Sans"/>
              </a:rPr>
              <a:t>Captured output, custody and repair</a:t>
            </a:r>
          </a:p>
          <a:p xmlns:a="http://schemas.openxmlformats.org/drawingml/2006/main">
            <a:pPr algn="l">
              <a:buNone/>
              <a:defRPr sz="3225" b="0">
                <a:solidFill>
                  <a:srgbClr val="F6F3EA"/>
                </a:solidFill>
                <a:latin typeface="Nimbus Sans"/>
                <a:ea typeface="Nimbus Sans"/>
                <a:cs typeface="Nimbus Sans"/>
              </a:defRPr>
            </a:pPr>
          </a:p>
          <a:p xmlns:a="http://schemas.openxmlformats.org/drawingml/2006/main">
            <a:pPr algn="l">
              <a:buNone/>
              <a:defRPr sz="3225" b="0">
                <a:solidFill>
                  <a:srgbClr val="F6F3EA"/>
                </a:solidFill>
                <a:latin typeface="Nimbus Sans"/>
                <a:ea typeface="Nimbus Sans"/>
                <a:cs typeface="Nimbus Sans"/>
              </a:defRPr>
            </a:pPr>
            <a:r>
              <a:rPr sz="3225" b="0">
                <a:solidFill>
                  <a:srgbClr val="F6F3EA"/>
                </a:solidFill>
                <a:latin typeface="Nimbus Sans"/>
                <a:ea typeface="Nimbus Sans"/>
                <a:cs typeface="Nimbus Sans"/>
              </a:rPr>
              <a:t>Scripted review and export verification</a:t>
            </a:r>
          </a:p>
          <a:p xmlns:a="http://schemas.openxmlformats.org/drawingml/2006/main">
            <a:pPr algn="l">
              <a:buNone/>
              <a:defRPr sz="3225" b="0">
                <a:solidFill>
                  <a:srgbClr val="F6F3EA"/>
                </a:solidFill>
                <a:latin typeface="Nimbus Sans"/>
                <a:ea typeface="Nimbus Sans"/>
                <a:cs typeface="Nimbus Sans"/>
              </a:defRPr>
            </a:pPr>
          </a:p>
          <a:p xmlns:a="http://schemas.openxmlformats.org/drawingml/2006/main">
            <a:pPr algn="l">
              <a:buNone/>
              <a:defRPr sz="3225" b="0">
                <a:solidFill>
                  <a:srgbClr val="F6F3EA"/>
                </a:solidFill>
                <a:latin typeface="Nimbus Sans"/>
                <a:ea typeface="Nimbus Sans"/>
                <a:cs typeface="Nimbus Sans"/>
              </a:defRPr>
            </a:pPr>
            <a:r>
              <a:rPr sz="3225" b="0">
                <a:solidFill>
                  <a:srgbClr val="F6F3EA"/>
                </a:solidFill>
                <a:latin typeface="Nimbus Sans"/>
                <a:ea typeface="Nimbus Sans"/>
                <a:cs typeface="Nimbus Sans"/>
              </a:rPr>
              <a:t>8 focused tests; 4 directory/ZIP checks</a:t>
            </a:r>
          </a:p>
        </p:txBody>
      </p:sp>
      <p:sp>
        <p:nvSpPr>
          <p:cNvPr id="5" name="">
            <a:extLst xmlns:a="http://schemas.openxmlformats.org/drawingml/2006/main">
              <a:ext uri="{FF2B5EF4-FFF2-40B4-BE49-F238E27FC236}">
                <a16:creationId xmlns:a16="http://schemas.microsoft.com/office/drawing/2014/main" id="{6A63A142-6601-45F2-8547-F02857E971CF}"/>
              </a:ext>
            </a:extLst>
          </p:cNvPr>
          <p:cNvSpPr>
            <a:spLocks xmlns:a="http://schemas.openxmlformats.org/drawingml/2006/main" noGrp="1"/>
          </p:cNvSpPr>
          <p:nvPr/>
        </p:nvSpPr>
        <p:spPr>
          <a:xfrm xmlns:a="http://schemas.openxmlformats.org/drawingml/2006/main">
            <a:off x="9525000" y="3381375"/>
            <a:ext cx="742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81D9C2"/>
                </a:solidFill>
                <a:latin typeface="Nimbus Sans"/>
                <a:ea typeface="Nimbus Sans"/>
                <a:cs typeface="Nimbus Sans"/>
              </a:defRPr>
            </a:defPPr>
          </a:lstStyle>
          <a:p xmlns:a="http://schemas.openxmlformats.org/drawingml/2006/main">
            <a:pPr algn="l">
              <a:buNone/>
              <a:defRPr sz="3900" b="1">
                <a:solidFill>
                  <a:srgbClr val="81D9C2"/>
                </a:solidFill>
                <a:latin typeface="Nimbus Sans"/>
                <a:ea typeface="Nimbus Sans"/>
                <a:cs typeface="Nimbus Sans"/>
              </a:defRPr>
            </a:pPr>
            <a:r>
              <a:rPr sz="3900" b="1">
                <a:solidFill>
                  <a:srgbClr val="81D9C2"/>
                </a:solidFill>
                <a:latin typeface="Nimbus Sans"/>
                <a:ea typeface="Nimbus Sans"/>
                <a:cs typeface="Nimbus Sans"/>
              </a:rPr>
              <a:t>Still to demonstrate</a:t>
            </a:r>
          </a:p>
        </p:txBody>
      </p:sp>
      <p:sp>
        <p:nvSpPr>
          <p:cNvPr id="6" name="">
            <a:extLst xmlns:a="http://schemas.openxmlformats.org/drawingml/2006/main">
              <a:ext uri="{FF2B5EF4-FFF2-40B4-BE49-F238E27FC236}">
                <a16:creationId xmlns:a16="http://schemas.microsoft.com/office/drawing/2014/main" id="{AE533770-1A39-4217-A352-982B746C3930}"/>
              </a:ext>
            </a:extLst>
          </p:cNvPr>
          <p:cNvSpPr>
            <a:spLocks xmlns:a="http://schemas.openxmlformats.org/drawingml/2006/main" noGrp="1"/>
          </p:cNvSpPr>
          <p:nvPr/>
        </p:nvSpPr>
        <p:spPr>
          <a:xfrm xmlns:a="http://schemas.openxmlformats.org/drawingml/2006/main">
            <a:off x="9525000" y="4429125"/>
            <a:ext cx="7429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F6F3EA"/>
                </a:solidFill>
                <a:latin typeface="Nimbus Sans"/>
                <a:ea typeface="Nimbus Sans"/>
                <a:cs typeface="Nimbus Sans"/>
              </a:defRPr>
            </a:defPPr>
          </a:lstStyle>
          <a:p xmlns:a="http://schemas.openxmlformats.org/drawingml/2006/main">
            <a:pPr algn="l">
              <a:buNone/>
              <a:defRPr sz="3225" b="0">
                <a:solidFill>
                  <a:srgbClr val="F6F3EA"/>
                </a:solidFill>
                <a:latin typeface="Nimbus Sans"/>
                <a:ea typeface="Nimbus Sans"/>
                <a:cs typeface="Nimbus Sans"/>
              </a:defRPr>
            </a:pPr>
            <a:r>
              <a:rPr sz="3225" b="0">
                <a:solidFill>
                  <a:srgbClr val="F6F3EA"/>
                </a:solidFill>
                <a:latin typeface="Nimbus Sans"/>
                <a:ea typeface="Nimbus Sans"/>
                <a:cs typeface="Nimbus Sans"/>
              </a:rPr>
              <a:t>Installed startup</a:t>
            </a:r>
          </a:p>
          <a:p xmlns:a="http://schemas.openxmlformats.org/drawingml/2006/main">
            <a:pPr algn="l">
              <a:buNone/>
              <a:defRPr sz="3225" b="0">
                <a:solidFill>
                  <a:srgbClr val="F6F3EA"/>
                </a:solidFill>
                <a:latin typeface="Nimbus Sans"/>
                <a:ea typeface="Nimbus Sans"/>
                <a:cs typeface="Nimbus Sans"/>
              </a:defRPr>
            </a:pPr>
          </a:p>
          <a:p xmlns:a="http://schemas.openxmlformats.org/drawingml/2006/main">
            <a:pPr algn="l">
              <a:buNone/>
              <a:defRPr sz="3225" b="0">
                <a:solidFill>
                  <a:srgbClr val="F6F3EA"/>
                </a:solidFill>
                <a:latin typeface="Nimbus Sans"/>
                <a:ea typeface="Nimbus Sans"/>
                <a:cs typeface="Nimbus Sans"/>
              </a:defRPr>
            </a:pPr>
            <a:r>
              <a:rPr sz="3225" b="0">
                <a:solidFill>
                  <a:srgbClr val="F6F3EA"/>
                </a:solidFill>
                <a:latin typeface="Nimbus Sans"/>
                <a:ea typeface="Nimbus Sans"/>
                <a:cs typeface="Nimbus Sans"/>
              </a:rPr>
              <a:t>Live model and ChatGPT operation</a:t>
            </a:r>
          </a:p>
          <a:p xmlns:a="http://schemas.openxmlformats.org/drawingml/2006/main">
            <a:pPr algn="l">
              <a:buNone/>
              <a:defRPr sz="3225" b="0">
                <a:solidFill>
                  <a:srgbClr val="F6F3EA"/>
                </a:solidFill>
                <a:latin typeface="Nimbus Sans"/>
                <a:ea typeface="Nimbus Sans"/>
                <a:cs typeface="Nimbus Sans"/>
              </a:defRPr>
            </a:pPr>
          </a:p>
          <a:p xmlns:a="http://schemas.openxmlformats.org/drawingml/2006/main">
            <a:pPr algn="l">
              <a:buNone/>
              <a:defRPr sz="3225" b="0">
                <a:solidFill>
                  <a:srgbClr val="F6F3EA"/>
                </a:solidFill>
                <a:latin typeface="Nimbus Sans"/>
                <a:ea typeface="Nimbus Sans"/>
                <a:cs typeface="Nimbus Sans"/>
              </a:defRPr>
            </a:pPr>
            <a:r>
              <a:rPr sz="3225" b="0">
                <a:solidFill>
                  <a:srgbClr val="F6F3EA"/>
                </a:solidFill>
                <a:latin typeface="Nimbus Sans"/>
                <a:ea typeface="Nimbus Sans"/>
                <a:cs typeface="Nimbus Sans"/>
              </a:rPr>
              <a:t>Human usefulness and P2P operation</a:t>
            </a:r>
          </a:p>
        </p:txBody>
      </p:sp>
      <p:sp>
        <p:nvSpPr>
          <p:cNvPr id="7" name="">
            <a:extLst xmlns:a="http://schemas.openxmlformats.org/drawingml/2006/main">
              <a:ext uri="{FF2B5EF4-FFF2-40B4-BE49-F238E27FC236}">
                <a16:creationId xmlns:a16="http://schemas.microsoft.com/office/drawing/2014/main" id="{FC1075D8-6F88-4F8F-A9AA-DDCFCCCCE036}"/>
              </a:ext>
            </a:extLst>
          </p:cNvPr>
          <p:cNvSpPr>
            <a:spLocks xmlns:a="http://schemas.openxmlformats.org/drawingml/2006/main" noGrp="1"/>
          </p:cNvSpPr>
          <p:nvPr/>
        </p:nvSpPr>
        <p:spPr>
          <a:xfrm xmlns:a="http://schemas.openxmlformats.org/drawingml/2006/main">
            <a:off x="1143000" y="9048750"/>
            <a:ext cx="1581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BDD0D0"/>
                </a:solidFill>
                <a:latin typeface="Nimbus Sans"/>
                <a:ea typeface="Nimbus Sans"/>
                <a:cs typeface="Nimbus Sans"/>
              </a:defRPr>
            </a:defPPr>
          </a:lstStyle>
          <a:p xmlns:a="http://schemas.openxmlformats.org/drawingml/2006/main">
            <a:pPr algn="l">
              <a:buNone/>
              <a:defRPr sz="2175" b="0">
                <a:solidFill>
                  <a:srgbClr val="BDD0D0"/>
                </a:solidFill>
                <a:latin typeface="Nimbus Sans"/>
                <a:ea typeface="Nimbus Sans"/>
                <a:cs typeface="Nimbus Sans"/>
              </a:defRPr>
            </a:pPr>
            <a:r>
              <a:rPr sz="2175" b="0">
                <a:solidFill>
                  <a:srgbClr val="BDD0D0"/>
                </a:solidFill>
                <a:latin typeface="Nimbus Sans"/>
                <a:ea typeface="Nimbus Sans"/>
                <a:cs typeface="Nimbus Sans"/>
              </a:rPr>
              <a:t>Private reviewer repository. Access pending. No model called.</a:t>
            </a:r>
          </a:p>
        </p:txBody>
      </p:sp>
    </p:spTree>
    <p:extLst>
      <p:ext uri="{BB962C8B-B14F-4D97-AF65-F5344CB8AC3E}">
        <p14:creationId xmlns:p14="http://schemas.microsoft.com/office/powerpoint/2010/main" val="111233899"/>
      </p:ext>
    </p:extLst>
  </p:cSld>
</p:sld>
</file>

<file path=ppt/slides/slide14.xml><?xml version="1.0" encoding="utf-8"?>
<p:sld xmlns:p="http://schemas.openxmlformats.org/presentationml/2006/main">
  <p:cSld>
    <p:bg>
      <p:bgPr>
        <a:solidFill xmlns:a="http://schemas.openxmlformats.org/drawingml/2006/main">
          <a:srgbClr val="11293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EEF53DD-6B9A-4794-B443-8831E96824A5}"/>
              </a:ext>
            </a:extLst>
          </p:cNvPr>
          <p:cNvSpPr>
            <a:spLocks xmlns:a="http://schemas.openxmlformats.org/drawingml/2006/main" noGrp="1"/>
          </p:cNvSpPr>
          <p:nvPr/>
        </p:nvSpPr>
        <p:spPr>
          <a:xfrm xmlns:a="http://schemas.openxmlformats.org/drawingml/2006/main">
            <a:off x="1143000" y="952500"/>
            <a:ext cx="1600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6F3EA"/>
                </a:solidFill>
                <a:latin typeface="Nimbus Sans"/>
                <a:ea typeface="Nimbus Sans"/>
                <a:cs typeface="Nimbus Sans"/>
              </a:defRPr>
            </a:defPPr>
          </a:lstStyle>
          <a:p xmlns:a="http://schemas.openxmlformats.org/drawingml/2006/main">
            <a:pPr algn="l">
              <a:buNone/>
              <a:defRPr sz="5700" b="1">
                <a:solidFill>
                  <a:srgbClr val="F6F3EA"/>
                </a:solidFill>
                <a:latin typeface="Nimbus Sans"/>
                <a:ea typeface="Nimbus Sans"/>
                <a:cs typeface="Nimbus Sans"/>
              </a:defRPr>
            </a:pPr>
            <a:r>
              <a:rPr sz="5700" b="1">
                <a:solidFill>
                  <a:srgbClr val="F6F3EA"/>
                </a:solidFill>
                <a:latin typeface="Nimbus Sans"/>
                <a:ea typeface="Nimbus Sans"/>
                <a:cs typeface="Nimbus Sans"/>
              </a:rPr>
              <a:t>A bounded collaboration</a:t>
            </a:r>
          </a:p>
        </p:txBody>
      </p:sp>
      <p:sp>
        <p:nvSpPr>
          <p:cNvPr id="2" name="">
            <a:extLst xmlns:a="http://schemas.openxmlformats.org/drawingml/2006/main">
              <a:ext uri="{FF2B5EF4-FFF2-40B4-BE49-F238E27FC236}">
                <a16:creationId xmlns:a16="http://schemas.microsoft.com/office/drawing/2014/main" id="{6E2E3C54-4CBC-47CF-9FE8-3B7A840EAA0E}"/>
              </a:ext>
            </a:extLst>
          </p:cNvPr>
          <p:cNvSpPr>
            <a:spLocks xmlns:a="http://schemas.openxmlformats.org/drawingml/2006/main" noGrp="1"/>
          </p:cNvSpPr>
          <p:nvPr/>
        </p:nvSpPr>
        <p:spPr>
          <a:xfrm xmlns:a="http://schemas.openxmlformats.org/drawingml/2006/main">
            <a:off x="1143000" y="2428875"/>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BDD0D0"/>
                </a:solidFill>
                <a:latin typeface="Nimbus Sans"/>
                <a:ea typeface="Nimbus Sans"/>
                <a:cs typeface="Nimbus Sans"/>
              </a:defRPr>
            </a:defPPr>
          </a:lstStyle>
          <a:p xmlns:a="http://schemas.openxmlformats.org/drawingml/2006/main">
            <a:pPr algn="l">
              <a:buNone/>
              <a:defRPr sz="2700" b="0">
                <a:solidFill>
                  <a:srgbClr val="BDD0D0"/>
                </a:solidFill>
                <a:latin typeface="Nimbus Sans"/>
                <a:ea typeface="Nimbus Sans"/>
                <a:cs typeface="Nimbus Sans"/>
              </a:defRPr>
            </a:pPr>
            <a:r>
              <a:rPr sz="2700" b="0">
                <a:solidFill>
                  <a:srgbClr val="BDD0D0"/>
                </a:solidFill>
                <a:latin typeface="Nimbus Sans"/>
                <a:ea typeface="Nimbus Sans"/>
                <a:cs typeface="Nimbus Sans"/>
              </a:rPr>
              <a:t>One question, a defined deliverable and a clear comparison</a:t>
            </a:r>
          </a:p>
        </p:txBody>
      </p:sp>
      <p:sp>
        <p:nvSpPr>
          <p:cNvPr id="3" name="">
            <a:extLst xmlns:a="http://schemas.openxmlformats.org/drawingml/2006/main">
              <a:ext uri="{FF2B5EF4-FFF2-40B4-BE49-F238E27FC236}">
                <a16:creationId xmlns:a16="http://schemas.microsoft.com/office/drawing/2014/main" id="{6DDBAB67-108A-40C8-8A7E-CA54A25F197A}"/>
              </a:ext>
            </a:extLst>
          </p:cNvPr>
          <p:cNvSpPr>
            <a:spLocks xmlns:a="http://schemas.openxmlformats.org/drawingml/2006/main" noGrp="1"/>
          </p:cNvSpPr>
          <p:nvPr/>
        </p:nvSpPr>
        <p:spPr>
          <a:xfrm xmlns:a="http://schemas.openxmlformats.org/drawingml/2006/main">
            <a:off x="1143000" y="3143250"/>
            <a:ext cx="3810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81D9C2"/>
                </a:solidFill>
                <a:latin typeface="Nimbus Sans"/>
                <a:ea typeface="Nimbus Sans"/>
                <a:cs typeface="Nimbus Sans"/>
              </a:defRPr>
            </a:defPPr>
          </a:lstStyle>
          <a:p xmlns:a="http://schemas.openxmlformats.org/drawingml/2006/main">
            <a:pPr algn="l">
              <a:buNone/>
              <a:defRPr sz="2925" b="1">
                <a:solidFill>
                  <a:srgbClr val="81D9C2"/>
                </a:solidFill>
                <a:latin typeface="Nimbus Sans"/>
                <a:ea typeface="Nimbus Sans"/>
                <a:cs typeface="Nimbus Sans"/>
              </a:defRPr>
            </a:pPr>
            <a:r>
              <a:rPr sz="2925" b="1">
                <a:solidFill>
                  <a:srgbClr val="81D9C2"/>
                </a:solidFill>
                <a:latin typeface="Nimbus Sans"/>
                <a:ea typeface="Nimbus Sans"/>
                <a:cs typeface="Nimbus Sans"/>
              </a:rPr>
              <a:t>Distributed systems</a:t>
            </a:r>
          </a:p>
        </p:txBody>
      </p:sp>
      <p:sp>
        <p:nvSpPr>
          <p:cNvPr id="4" name="">
            <a:extLst xmlns:a="http://schemas.openxmlformats.org/drawingml/2006/main">
              <a:ext uri="{FF2B5EF4-FFF2-40B4-BE49-F238E27FC236}">
                <a16:creationId xmlns:a16="http://schemas.microsoft.com/office/drawing/2014/main" id="{D03C020B-1A15-4890-A779-E2B3CCA5F3A8}"/>
              </a:ext>
            </a:extLst>
          </p:cNvPr>
          <p:cNvSpPr>
            <a:spLocks xmlns:a="http://schemas.openxmlformats.org/drawingml/2006/main" noGrp="1"/>
          </p:cNvSpPr>
          <p:nvPr/>
        </p:nvSpPr>
        <p:spPr>
          <a:xfrm xmlns:a="http://schemas.openxmlformats.org/drawingml/2006/main">
            <a:off x="5238750" y="3143250"/>
            <a:ext cx="1190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F6F3EA"/>
                </a:solidFill>
                <a:latin typeface="Nimbus Sans"/>
                <a:ea typeface="Nimbus Sans"/>
                <a:cs typeface="Nimbus Sans"/>
              </a:defRPr>
            </a:defPPr>
          </a:lstStyle>
          <a:p xmlns:a="http://schemas.openxmlformats.org/drawingml/2006/main">
            <a:pPr algn="l">
              <a:buNone/>
              <a:defRPr sz="2925" b="0">
                <a:solidFill>
                  <a:srgbClr val="F6F3EA"/>
                </a:solidFill>
                <a:latin typeface="Nimbus Sans"/>
                <a:ea typeface="Nimbus Sans"/>
                <a:cs typeface="Nimbus Sans"/>
              </a:defRPr>
            </a:pPr>
            <a:r>
              <a:rPr sz="2925" b="0">
                <a:solidFill>
                  <a:srgbClr val="F6F3EA"/>
                </a:solidFill>
                <a:latin typeface="Nimbus Sans"/>
                <a:ea typeface="Nimbus Sans"/>
                <a:cs typeface="Nimbus Sans"/>
              </a:rPr>
              <a:t>Scoped peer exchange and revocation.</a:t>
            </a:r>
          </a:p>
        </p:txBody>
      </p:sp>
      <p:sp>
        <p:nvSpPr>
          <p:cNvPr id="5" name="">
            <a:extLst xmlns:a="http://schemas.openxmlformats.org/drawingml/2006/main">
              <a:ext uri="{FF2B5EF4-FFF2-40B4-BE49-F238E27FC236}">
                <a16:creationId xmlns:a16="http://schemas.microsoft.com/office/drawing/2014/main" id="{D8C789C4-4FF7-4894-9193-9FFE93F4E8A3}"/>
              </a:ext>
            </a:extLst>
          </p:cNvPr>
          <p:cNvSpPr>
            <a:spLocks xmlns:a="http://schemas.openxmlformats.org/drawingml/2006/main" noGrp="1"/>
          </p:cNvSpPr>
          <p:nvPr/>
        </p:nvSpPr>
        <p:spPr>
          <a:xfrm xmlns:a="http://schemas.openxmlformats.org/drawingml/2006/main">
            <a:off x="1143000" y="4000500"/>
            <a:ext cx="16002000" cy="0"/>
          </a:xfrm>
          <a:prstGeom xmlns:a="http://schemas.openxmlformats.org/drawingml/2006/main" prst="line">
            <a:avLst/>
          </a:prstGeom>
          <a:noFill xmlns:a="http://schemas.openxmlformats.org/drawingml/2006/main"/>
          <a:ln xmlns:a="http://schemas.openxmlformats.org/drawingml/2006/main" w="19050">
            <a:solidFill>
              <a:srgbClr val="49696C"/>
            </a:solidFill>
            <a:prstDash val="solid"/>
          </a:ln>
        </p:spPr>
      </p:sp>
      <p:sp>
        <p:nvSpPr>
          <p:cNvPr id="6" name="">
            <a:extLst xmlns:a="http://schemas.openxmlformats.org/drawingml/2006/main">
              <a:ext uri="{FF2B5EF4-FFF2-40B4-BE49-F238E27FC236}">
                <a16:creationId xmlns:a16="http://schemas.microsoft.com/office/drawing/2014/main" id="{6E6E14E6-D0A3-48EA-91F2-3970C0526A82}"/>
              </a:ext>
            </a:extLst>
          </p:cNvPr>
          <p:cNvSpPr>
            <a:spLocks xmlns:a="http://schemas.openxmlformats.org/drawingml/2006/main" noGrp="1"/>
          </p:cNvSpPr>
          <p:nvPr/>
        </p:nvSpPr>
        <p:spPr>
          <a:xfrm xmlns:a="http://schemas.openxmlformats.org/drawingml/2006/main">
            <a:off x="1143000" y="4238625"/>
            <a:ext cx="3810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81D9C2"/>
                </a:solidFill>
                <a:latin typeface="Nimbus Sans"/>
                <a:ea typeface="Nimbus Sans"/>
                <a:cs typeface="Nimbus Sans"/>
              </a:defRPr>
            </a:defPPr>
          </a:lstStyle>
          <a:p xmlns:a="http://schemas.openxmlformats.org/drawingml/2006/main">
            <a:pPr algn="l">
              <a:buNone/>
              <a:defRPr sz="2925" b="1">
                <a:solidFill>
                  <a:srgbClr val="81D9C2"/>
                </a:solidFill>
                <a:latin typeface="Nimbus Sans"/>
                <a:ea typeface="Nimbus Sans"/>
                <a:cs typeface="Nimbus Sans"/>
              </a:defRPr>
            </a:pPr>
            <a:r>
              <a:rPr sz="2925" b="1">
                <a:solidFill>
                  <a:srgbClr val="81D9C2"/>
                </a:solidFill>
                <a:latin typeface="Nimbus Sans"/>
                <a:ea typeface="Nimbus Sans"/>
                <a:cs typeface="Nimbus Sans"/>
              </a:rPr>
              <a:t>AI evaluation</a:t>
            </a:r>
          </a:p>
        </p:txBody>
      </p:sp>
      <p:sp>
        <p:nvSpPr>
          <p:cNvPr id="7" name="">
            <a:extLst xmlns:a="http://schemas.openxmlformats.org/drawingml/2006/main">
              <a:ext uri="{FF2B5EF4-FFF2-40B4-BE49-F238E27FC236}">
                <a16:creationId xmlns:a16="http://schemas.microsoft.com/office/drawing/2014/main" id="{7BC6E027-263A-4D07-A512-0175F75AF1AF}"/>
              </a:ext>
            </a:extLst>
          </p:cNvPr>
          <p:cNvSpPr>
            <a:spLocks xmlns:a="http://schemas.openxmlformats.org/drawingml/2006/main" noGrp="1"/>
          </p:cNvSpPr>
          <p:nvPr/>
        </p:nvSpPr>
        <p:spPr>
          <a:xfrm xmlns:a="http://schemas.openxmlformats.org/drawingml/2006/main">
            <a:off x="5238750" y="4238625"/>
            <a:ext cx="1190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F6F3EA"/>
                </a:solidFill>
                <a:latin typeface="Nimbus Sans"/>
                <a:ea typeface="Nimbus Sans"/>
                <a:cs typeface="Nimbus Sans"/>
              </a:defRPr>
            </a:defPPr>
          </a:lstStyle>
          <a:p xmlns:a="http://schemas.openxmlformats.org/drawingml/2006/main">
            <a:pPr algn="l">
              <a:buNone/>
              <a:defRPr sz="2925" b="0">
                <a:solidFill>
                  <a:srgbClr val="F6F3EA"/>
                </a:solidFill>
                <a:latin typeface="Nimbus Sans"/>
                <a:ea typeface="Nimbus Sans"/>
                <a:cs typeface="Nimbus Sans"/>
              </a:defRPr>
            </a:pPr>
            <a:r>
              <a:rPr sz="2925" b="0">
                <a:solidFill>
                  <a:srgbClr val="F6F3EA"/>
                </a:solidFill>
                <a:latin typeface="Nimbus Sans"/>
                <a:ea typeface="Nimbus Sans"/>
                <a:cs typeface="Nimbus Sans"/>
              </a:rPr>
              <a:t>Matched-budget single-assessor and triadic comparisons.</a:t>
            </a:r>
          </a:p>
        </p:txBody>
      </p:sp>
      <p:sp>
        <p:nvSpPr>
          <p:cNvPr id="8" name="">
            <a:extLst xmlns:a="http://schemas.openxmlformats.org/drawingml/2006/main">
              <a:ext uri="{FF2B5EF4-FFF2-40B4-BE49-F238E27FC236}">
                <a16:creationId xmlns:a16="http://schemas.microsoft.com/office/drawing/2014/main" id="{B35FE0F5-55A2-4508-8BD9-E735AC634328}"/>
              </a:ext>
            </a:extLst>
          </p:cNvPr>
          <p:cNvSpPr>
            <a:spLocks xmlns:a="http://schemas.openxmlformats.org/drawingml/2006/main" noGrp="1"/>
          </p:cNvSpPr>
          <p:nvPr/>
        </p:nvSpPr>
        <p:spPr>
          <a:xfrm xmlns:a="http://schemas.openxmlformats.org/drawingml/2006/main">
            <a:off x="1143000" y="5095875"/>
            <a:ext cx="16002000" cy="0"/>
          </a:xfrm>
          <a:prstGeom xmlns:a="http://schemas.openxmlformats.org/drawingml/2006/main" prst="line">
            <a:avLst/>
          </a:prstGeom>
          <a:noFill xmlns:a="http://schemas.openxmlformats.org/drawingml/2006/main"/>
          <a:ln xmlns:a="http://schemas.openxmlformats.org/drawingml/2006/main" w="19050">
            <a:solidFill>
              <a:srgbClr val="49696C"/>
            </a:solidFill>
            <a:prstDash val="solid"/>
          </a:ln>
        </p:spPr>
      </p:sp>
      <p:sp>
        <p:nvSpPr>
          <p:cNvPr id="9" name="">
            <a:extLst xmlns:a="http://schemas.openxmlformats.org/drawingml/2006/main">
              <a:ext uri="{FF2B5EF4-FFF2-40B4-BE49-F238E27FC236}">
                <a16:creationId xmlns:a16="http://schemas.microsoft.com/office/drawing/2014/main" id="{B41B91F9-7E20-4733-977D-CF80B1F779D2}"/>
              </a:ext>
            </a:extLst>
          </p:cNvPr>
          <p:cNvSpPr>
            <a:spLocks xmlns:a="http://schemas.openxmlformats.org/drawingml/2006/main" noGrp="1"/>
          </p:cNvSpPr>
          <p:nvPr/>
        </p:nvSpPr>
        <p:spPr>
          <a:xfrm xmlns:a="http://schemas.openxmlformats.org/drawingml/2006/main">
            <a:off x="1143000" y="5334000"/>
            <a:ext cx="3810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81D9C2"/>
                </a:solidFill>
                <a:latin typeface="Nimbus Sans"/>
                <a:ea typeface="Nimbus Sans"/>
                <a:cs typeface="Nimbus Sans"/>
              </a:defRPr>
            </a:defPPr>
          </a:lstStyle>
          <a:p xmlns:a="http://schemas.openxmlformats.org/drawingml/2006/main">
            <a:pPr algn="l">
              <a:buNone/>
              <a:defRPr sz="2925" b="1">
                <a:solidFill>
                  <a:srgbClr val="81D9C2"/>
                </a:solidFill>
                <a:latin typeface="Nimbus Sans"/>
                <a:ea typeface="Nimbus Sans"/>
                <a:cs typeface="Nimbus Sans"/>
              </a:defRPr>
            </a:pPr>
            <a:r>
              <a:rPr sz="2925" b="1">
                <a:solidFill>
                  <a:srgbClr val="81D9C2"/>
                </a:solidFill>
                <a:latin typeface="Nimbus Sans"/>
                <a:ea typeface="Nimbus Sans"/>
                <a:cs typeface="Nimbus Sans"/>
              </a:rPr>
              <a:t>Human interaction</a:t>
            </a:r>
          </a:p>
        </p:txBody>
      </p:sp>
      <p:sp>
        <p:nvSpPr>
          <p:cNvPr id="10" name="">
            <a:extLst xmlns:a="http://schemas.openxmlformats.org/drawingml/2006/main">
              <a:ext uri="{FF2B5EF4-FFF2-40B4-BE49-F238E27FC236}">
                <a16:creationId xmlns:a16="http://schemas.microsoft.com/office/drawing/2014/main" id="{A48A23DC-57EB-4D2A-9485-F450AD565532}"/>
              </a:ext>
            </a:extLst>
          </p:cNvPr>
          <p:cNvSpPr>
            <a:spLocks xmlns:a="http://schemas.openxmlformats.org/drawingml/2006/main" noGrp="1"/>
          </p:cNvSpPr>
          <p:nvPr/>
        </p:nvSpPr>
        <p:spPr>
          <a:xfrm xmlns:a="http://schemas.openxmlformats.org/drawingml/2006/main">
            <a:off x="5238750" y="5334000"/>
            <a:ext cx="1190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F6F3EA"/>
                </a:solidFill>
                <a:latin typeface="Nimbus Sans"/>
                <a:ea typeface="Nimbus Sans"/>
                <a:cs typeface="Nimbus Sans"/>
              </a:defRPr>
            </a:defPPr>
          </a:lstStyle>
          <a:p xmlns:a="http://schemas.openxmlformats.org/drawingml/2006/main">
            <a:pPr algn="l">
              <a:buNone/>
              <a:defRPr sz="2925" b="0">
                <a:solidFill>
                  <a:srgbClr val="F6F3EA"/>
                </a:solidFill>
                <a:latin typeface="Nimbus Sans"/>
                <a:ea typeface="Nimbus Sans"/>
                <a:cs typeface="Nimbus Sans"/>
              </a:defRPr>
            </a:pPr>
            <a:r>
              <a:rPr sz="2925" b="0">
                <a:solidFill>
                  <a:srgbClr val="F6F3EA"/>
                </a:solidFill>
                <a:latin typeface="Nimbus Sans"/>
                <a:ea typeface="Nimbus Sans"/>
                <a:cs typeface="Nimbus Sans"/>
              </a:rPr>
              <a:t>Evidence comprehension and effective correction.</a:t>
            </a:r>
          </a:p>
        </p:txBody>
      </p:sp>
      <p:sp>
        <p:nvSpPr>
          <p:cNvPr id="11" name="">
            <a:extLst xmlns:a="http://schemas.openxmlformats.org/drawingml/2006/main">
              <a:ext uri="{FF2B5EF4-FFF2-40B4-BE49-F238E27FC236}">
                <a16:creationId xmlns:a16="http://schemas.microsoft.com/office/drawing/2014/main" id="{F3312990-A7DC-4C92-A568-785E8ED6E70E}"/>
              </a:ext>
            </a:extLst>
          </p:cNvPr>
          <p:cNvSpPr>
            <a:spLocks xmlns:a="http://schemas.openxmlformats.org/drawingml/2006/main" noGrp="1"/>
          </p:cNvSpPr>
          <p:nvPr/>
        </p:nvSpPr>
        <p:spPr>
          <a:xfrm xmlns:a="http://schemas.openxmlformats.org/drawingml/2006/main">
            <a:off x="1143000" y="6191250"/>
            <a:ext cx="16002000" cy="0"/>
          </a:xfrm>
          <a:prstGeom xmlns:a="http://schemas.openxmlformats.org/drawingml/2006/main" prst="line">
            <a:avLst/>
          </a:prstGeom>
          <a:noFill xmlns:a="http://schemas.openxmlformats.org/drawingml/2006/main"/>
          <a:ln xmlns:a="http://schemas.openxmlformats.org/drawingml/2006/main" w="19050">
            <a:solidFill>
              <a:srgbClr val="49696C"/>
            </a:solidFill>
            <a:prstDash val="solid"/>
          </a:ln>
        </p:spPr>
      </p:sp>
      <p:sp>
        <p:nvSpPr>
          <p:cNvPr id="12" name="">
            <a:extLst xmlns:a="http://schemas.openxmlformats.org/drawingml/2006/main">
              <a:ext uri="{FF2B5EF4-FFF2-40B4-BE49-F238E27FC236}">
                <a16:creationId xmlns:a16="http://schemas.microsoft.com/office/drawing/2014/main" id="{BCC7877A-ECD5-4277-AD1A-FE7FF11FA7C6}"/>
              </a:ext>
            </a:extLst>
          </p:cNvPr>
          <p:cNvSpPr>
            <a:spLocks xmlns:a="http://schemas.openxmlformats.org/drawingml/2006/main" noGrp="1"/>
          </p:cNvSpPr>
          <p:nvPr/>
        </p:nvSpPr>
        <p:spPr>
          <a:xfrm xmlns:a="http://schemas.openxmlformats.org/drawingml/2006/main">
            <a:off x="1143000" y="6429375"/>
            <a:ext cx="3810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81D9C2"/>
                </a:solidFill>
                <a:latin typeface="Nimbus Sans"/>
                <a:ea typeface="Nimbus Sans"/>
                <a:cs typeface="Nimbus Sans"/>
              </a:defRPr>
            </a:defPPr>
          </a:lstStyle>
          <a:p xmlns:a="http://schemas.openxmlformats.org/drawingml/2006/main">
            <a:pPr algn="l">
              <a:buNone/>
              <a:defRPr sz="2925" b="1">
                <a:solidFill>
                  <a:srgbClr val="81D9C2"/>
                </a:solidFill>
                <a:latin typeface="Nimbus Sans"/>
                <a:ea typeface="Nimbus Sans"/>
                <a:cs typeface="Nimbus Sans"/>
              </a:defRPr>
            </a:pPr>
            <a:r>
              <a:rPr sz="2925" b="1">
                <a:solidFill>
                  <a:srgbClr val="81D9C2"/>
                </a:solidFill>
                <a:latin typeface="Nimbus Sans"/>
                <a:ea typeface="Nimbus Sans"/>
                <a:cs typeface="Nimbus Sans"/>
              </a:rPr>
              <a:t>Software engineering</a:t>
            </a:r>
          </a:p>
        </p:txBody>
      </p:sp>
      <p:sp>
        <p:nvSpPr>
          <p:cNvPr id="13" name="">
            <a:extLst xmlns:a="http://schemas.openxmlformats.org/drawingml/2006/main">
              <a:ext uri="{FF2B5EF4-FFF2-40B4-BE49-F238E27FC236}">
                <a16:creationId xmlns:a16="http://schemas.microsoft.com/office/drawing/2014/main" id="{B90ECF0A-63A3-4AFF-969B-51F3FE131C71}"/>
              </a:ext>
            </a:extLst>
          </p:cNvPr>
          <p:cNvSpPr>
            <a:spLocks xmlns:a="http://schemas.openxmlformats.org/drawingml/2006/main" noGrp="1"/>
          </p:cNvSpPr>
          <p:nvPr/>
        </p:nvSpPr>
        <p:spPr>
          <a:xfrm xmlns:a="http://schemas.openxmlformats.org/drawingml/2006/main">
            <a:off x="5238750" y="6429375"/>
            <a:ext cx="1190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F6F3EA"/>
                </a:solidFill>
                <a:latin typeface="Nimbus Sans"/>
                <a:ea typeface="Nimbus Sans"/>
                <a:cs typeface="Nimbus Sans"/>
              </a:defRPr>
            </a:defPPr>
          </a:lstStyle>
          <a:p xmlns:a="http://schemas.openxmlformats.org/drawingml/2006/main">
            <a:pPr algn="l">
              <a:buNone/>
              <a:defRPr sz="2925" b="0">
                <a:solidFill>
                  <a:srgbClr val="F6F3EA"/>
                </a:solidFill>
                <a:latin typeface="Nimbus Sans"/>
                <a:ea typeface="Nimbus Sans"/>
                <a:cs typeface="Nimbus Sans"/>
              </a:defRPr>
            </a:pPr>
            <a:r>
              <a:rPr sz="2925" b="0">
                <a:solidFill>
                  <a:srgbClr val="F6F3EA"/>
                </a:solidFill>
                <a:latin typeface="Nimbus Sans"/>
                <a:ea typeface="Nimbus Sans"/>
                <a:cs typeface="Nimbus Sans"/>
              </a:rPr>
              <a:t>A reproducible installation and task-to-export journey.</a:t>
            </a:r>
          </a:p>
        </p:txBody>
      </p:sp>
      <p:sp>
        <p:nvSpPr>
          <p:cNvPr id="14" name="">
            <a:extLst xmlns:a="http://schemas.openxmlformats.org/drawingml/2006/main">
              <a:ext uri="{FF2B5EF4-FFF2-40B4-BE49-F238E27FC236}">
                <a16:creationId xmlns:a16="http://schemas.microsoft.com/office/drawing/2014/main" id="{FFFFB555-DB96-4595-B9D1-2EDB286B424A}"/>
              </a:ext>
            </a:extLst>
          </p:cNvPr>
          <p:cNvSpPr>
            <a:spLocks xmlns:a="http://schemas.openxmlformats.org/drawingml/2006/main" noGrp="1"/>
          </p:cNvSpPr>
          <p:nvPr/>
        </p:nvSpPr>
        <p:spPr>
          <a:xfrm xmlns:a="http://schemas.openxmlformats.org/drawingml/2006/main">
            <a:off x="1143000" y="8143875"/>
            <a:ext cx="1600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81D9C2"/>
                </a:solidFill>
                <a:latin typeface="Nimbus Sans"/>
                <a:ea typeface="Nimbus Sans"/>
                <a:cs typeface="Nimbus Sans"/>
              </a:defRPr>
            </a:defPPr>
          </a:lstStyle>
          <a:p xmlns:a="http://schemas.openxmlformats.org/drawingml/2006/main">
            <a:pPr algn="l">
              <a:buNone/>
              <a:defRPr sz="3975" b="1">
                <a:solidFill>
                  <a:srgbClr val="81D9C2"/>
                </a:solidFill>
                <a:latin typeface="Nimbus Sans"/>
                <a:ea typeface="Nimbus Sans"/>
                <a:cs typeface="Nimbus Sans"/>
              </a:defRPr>
            </a:pPr>
            <a:r>
              <a:rPr sz="3975" b="1">
                <a:solidFill>
                  <a:srgbClr val="81D9C2"/>
                </a:solidFill>
                <a:latin typeface="Nimbus Sans"/>
                <a:ea typeface="Nimbus Sans"/>
                <a:cs typeface="Nimbus Sans"/>
              </a:rPr>
              <a:t>info@ultraverbaluxmentis.org</a:t>
            </a:r>
          </a:p>
        </p:txBody>
      </p:sp>
      <p:sp>
        <p:nvSpPr>
          <p:cNvPr id="15" name="">
            <a:extLst xmlns:a="http://schemas.openxmlformats.org/drawingml/2006/main">
              <a:ext uri="{FF2B5EF4-FFF2-40B4-BE49-F238E27FC236}">
                <a16:creationId xmlns:a16="http://schemas.microsoft.com/office/drawing/2014/main" id="{452F6B1E-9110-4F38-B86E-CF4D5A5CDA59}"/>
              </a:ext>
            </a:extLst>
          </p:cNvPr>
          <p:cNvSpPr>
            <a:spLocks xmlns:a="http://schemas.openxmlformats.org/drawingml/2006/main" noGrp="1"/>
          </p:cNvSpPr>
          <p:nvPr/>
        </p:nvSpPr>
        <p:spPr>
          <a:xfrm xmlns:a="http://schemas.openxmlformats.org/drawingml/2006/main">
            <a:off x="1143000" y="9048750"/>
            <a:ext cx="1581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BDD0D0"/>
                </a:solidFill>
                <a:latin typeface="Nimbus Sans"/>
                <a:ea typeface="Nimbus Sans"/>
                <a:cs typeface="Nimbus Sans"/>
              </a:defRPr>
            </a:defPPr>
          </a:lstStyle>
          <a:p xmlns:a="http://schemas.openxmlformats.org/drawingml/2006/main">
            <a:pPr algn="l">
              <a:buNone/>
              <a:defRPr sz="2175" b="0">
                <a:solidFill>
                  <a:srgbClr val="BDD0D0"/>
                </a:solidFill>
                <a:latin typeface="Nimbus Sans"/>
                <a:ea typeface="Nimbus Sans"/>
                <a:cs typeface="Nimbus Sans"/>
              </a:defRPr>
            </a:pPr>
            <a:r>
              <a:rPr sz="2175" b="0">
                <a:solidFill>
                  <a:srgbClr val="BDD0D0"/>
                </a:solidFill>
                <a:latin typeface="Nimbus Sans"/>
                <a:ea typeface="Nimbus Sans"/>
                <a:cs typeface="Nimbus Sans"/>
              </a:rPr>
              <a:t>A simpler approach or a negative result is a useful contribution.</a:t>
            </a:r>
          </a:p>
        </p:txBody>
      </p:sp>
    </p:spTree>
    <p:extLst>
      <p:ext uri="{BB962C8B-B14F-4D97-AF65-F5344CB8AC3E}">
        <p14:creationId xmlns:p14="http://schemas.microsoft.com/office/powerpoint/2010/main" val="14170224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2026-10-18T21:10:49.1590000Z</dcterms:created>
  <dcterms:modified xsi:type="dcterms:W3CDTF">2026-10-18T21:10:49.1590000Z</dcterms:modified>
</coreProperties>
</file>